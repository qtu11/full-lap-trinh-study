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6858000" cx="12192000"/>
  <p:notesSz cx="6858000" cy="9144000"/>
  <p:embeddedFontLst>
    <p:embeddedFont>
      <p:font typeface="Montserrat"/>
      <p:regular r:id="rId47"/>
      <p:bold r:id="rId48"/>
      <p:italic r:id="rId49"/>
      <p:boldItalic r:id="rId50"/>
    </p:embeddedFont>
    <p:embeddedFont>
      <p:font typeface="Be Vietnam Pro"/>
      <p:regular r:id="rId51"/>
      <p:bold r:id="rId52"/>
      <p:italic r:id="rId53"/>
      <p:boldItalic r:id="rId54"/>
    </p:embeddedFont>
    <p:embeddedFont>
      <p:font typeface="Arial Black"/>
      <p:regular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56" roundtripDataSignature="AMtx7mjF42zuw57HzhOSvNPx5j9im19t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A9F97C-25F6-4710-8AAD-0FDC6027060E}">
  <a:tblStyle styleId="{A7A9F97C-25F6-4710-8AAD-0FDC6027060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eVietnamPro-regular.fntdata"/><Relationship Id="rId50" Type="http://schemas.openxmlformats.org/officeDocument/2006/relationships/font" Target="fonts/Montserrat-boldItalic.fntdata"/><Relationship Id="rId53" Type="http://schemas.openxmlformats.org/officeDocument/2006/relationships/font" Target="fonts/BeVietnamPro-italic.fntdata"/><Relationship Id="rId52" Type="http://schemas.openxmlformats.org/officeDocument/2006/relationships/font" Target="fonts/BeVietnamPro-bold.fntdata"/><Relationship Id="rId11" Type="http://schemas.openxmlformats.org/officeDocument/2006/relationships/slide" Target="slides/slide6.xml"/><Relationship Id="rId55" Type="http://schemas.openxmlformats.org/officeDocument/2006/relationships/font" Target="fonts/ArialBlack-regular.fntdata"/><Relationship Id="rId10" Type="http://schemas.openxmlformats.org/officeDocument/2006/relationships/slide" Target="slides/slide5.xml"/><Relationship Id="rId54" Type="http://schemas.openxmlformats.org/officeDocument/2006/relationships/font" Target="fonts/BeVietnamPro-bold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9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9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0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0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7" name="Google Shape;307;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0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5" name="Google Shape;33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0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5" name="Google Shape;355;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0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7" name="Google Shape;377;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0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9" name="Google Shape;399;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0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0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5c7f0fab5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15c7f0fab5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15c7f0fab5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5c7f0fab53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15c7f0fab53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g15c7f0fab53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5c7f0fab53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8" name="Google Shape;528;g15c7f0fab53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9" name="Google Shape;529;g15c7f0fab53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15c7f0fab53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g15c7f0fab53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15c7f0fab53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5c7f0fab53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15c7f0fab53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g15c7f0fab53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5c7f0fab53_0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3" name="Google Shape;593;g15c7f0fab53_0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g15c7f0fab53_0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5c7f0fab53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15c7f0fab53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15c7f0fab53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15c7f0fab53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5" name="Google Shape;625;g15c7f0fab53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g15c7f0fab53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 name="Google Shape;64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3" name="Google Shape;6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0" name="Google Shape;70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3" name="Google Shape;7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9" name="Google Shape;809;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1" name="Google Shape;83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1" name="Shape 851"/>
        <p:cNvGrpSpPr/>
        <p:nvPr/>
      </p:nvGrpSpPr>
      <p:grpSpPr>
        <a:xfrm>
          <a:off x="0" y="0"/>
          <a:ext cx="0" cy="0"/>
          <a:chOff x="0" y="0"/>
          <a:chExt cx="0" cy="0"/>
        </a:xfrm>
      </p:grpSpPr>
      <p:sp>
        <p:nvSpPr>
          <p:cNvPr id="852" name="Google Shape;85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3" name="Google Shape;8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4" name="Google Shape;91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5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5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9"/>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 name="Shape 22"/>
        <p:cNvGrpSpPr/>
        <p:nvPr/>
      </p:nvGrpSpPr>
      <p:grpSpPr>
        <a:xfrm>
          <a:off x="0" y="0"/>
          <a:ext cx="0" cy="0"/>
          <a:chOff x="0" y="0"/>
          <a:chExt cx="0" cy="0"/>
        </a:xfrm>
      </p:grpSpPr>
      <p:sp>
        <p:nvSpPr>
          <p:cNvPr id="23" name="Google Shape;23;p7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7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1"/>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6" name="Shape 26"/>
        <p:cNvGrpSpPr/>
        <p:nvPr/>
      </p:nvGrpSpPr>
      <p:grpSpPr>
        <a:xfrm>
          <a:off x="0" y="0"/>
          <a:ext cx="0" cy="0"/>
          <a:chOff x="0" y="0"/>
          <a:chExt cx="0" cy="0"/>
        </a:xfrm>
      </p:grpSpPr>
      <p:sp>
        <p:nvSpPr>
          <p:cNvPr id="27" name="Google Shape;27;p6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6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3"/>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31" name="Shape 31"/>
        <p:cNvGrpSpPr/>
        <p:nvPr/>
      </p:nvGrpSpPr>
      <p:grpSpPr>
        <a:xfrm>
          <a:off x="0" y="0"/>
          <a:ext cx="0" cy="0"/>
          <a:chOff x="0" y="0"/>
          <a:chExt cx="0" cy="0"/>
        </a:xfrm>
      </p:grpSpPr>
      <p:sp>
        <p:nvSpPr>
          <p:cNvPr id="32" name="Google Shape;32;p6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4"/>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4"/>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4"/>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65"/>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5"/>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5"/>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5"/>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1" name="Shape 41"/>
        <p:cNvGrpSpPr/>
        <p:nvPr/>
      </p:nvGrpSpPr>
      <p:grpSpPr>
        <a:xfrm>
          <a:off x="0" y="0"/>
          <a:ext cx="0" cy="0"/>
          <a:chOff x="0" y="0"/>
          <a:chExt cx="0" cy="0"/>
        </a:xfrm>
      </p:grpSpPr>
      <p:sp>
        <p:nvSpPr>
          <p:cNvPr id="42" name="Google Shape;42;p6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6"/>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6"/>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6"/>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67"/>
          <p:cNvSpPr txBox="1"/>
          <p:nvPr>
            <p:ph type="title"/>
          </p:nvPr>
        </p:nvSpPr>
        <p:spPr>
          <a:xfrm>
            <a:off x="831851" y="1709740"/>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7"/>
          <p:cNvSpPr txBox="1"/>
          <p:nvPr>
            <p:ph idx="1" type="body"/>
          </p:nvPr>
        </p:nvSpPr>
        <p:spPr>
          <a:xfrm>
            <a:off x="831851" y="458946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50" name="Google Shape;50;p67"/>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7"/>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7"/>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6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6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68"/>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68"/>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8"/>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9"/>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9"/>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69"/>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69"/>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69"/>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6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9"/>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70"/>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0"/>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0"/>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0"/>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7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2"/>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7" name="Google Shape;77;p7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 name="Google Shape;78;p7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2"/>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7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73"/>
          <p:cNvSpPr/>
          <p:nvPr>
            <p:ph idx="2" type="pic"/>
          </p:nvPr>
        </p:nvSpPr>
        <p:spPr>
          <a:xfrm>
            <a:off x="5183188" y="987427"/>
            <a:ext cx="6172200" cy="4873625"/>
          </a:xfrm>
          <a:prstGeom prst="rect">
            <a:avLst/>
          </a:prstGeom>
          <a:noFill/>
          <a:ln>
            <a:noFill/>
          </a:ln>
        </p:spPr>
      </p:sp>
      <p:sp>
        <p:nvSpPr>
          <p:cNvPr id="84" name="Google Shape;84;p7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7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3"/>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7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7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74"/>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4"/>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74"/>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75"/>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75"/>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75"/>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75"/>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75"/>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58"/>
          <p:cNvPicPr preferRelativeResize="0"/>
          <p:nvPr/>
        </p:nvPicPr>
        <p:blipFill rotWithShape="1">
          <a:blip r:embed="rId1">
            <a:alphaModFix/>
          </a:blip>
          <a:srcRect b="0" l="0" r="0" t="0"/>
          <a:stretch/>
        </p:blipFill>
        <p:spPr>
          <a:xfrm>
            <a:off x="0" y="0"/>
            <a:ext cx="12192000" cy="8255000"/>
          </a:xfrm>
          <a:prstGeom prst="rect">
            <a:avLst/>
          </a:prstGeom>
          <a:noFill/>
          <a:ln>
            <a:noFill/>
          </a:ln>
        </p:spPr>
      </p:pic>
      <p:sp>
        <p:nvSpPr>
          <p:cNvPr id="11" name="Google Shape;11;p5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58"/>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8"/>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 name="Google Shape;15;p58"/>
          <p:cNvSpPr txBox="1"/>
          <p:nvPr>
            <p:ph idx="12" type="sldNum"/>
          </p:nvPr>
        </p:nvSpPr>
        <p:spPr>
          <a:xfrm>
            <a:off x="9328231" y="6436582"/>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8.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3.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1.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8.png"/><Relationship Id="rId4" Type="http://schemas.openxmlformats.org/officeDocument/2006/relationships/image" Target="../media/image35.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2"/>
          <p:cNvGrpSpPr/>
          <p:nvPr/>
        </p:nvGrpSpPr>
        <p:grpSpPr>
          <a:xfrm>
            <a:off x="1383311" y="1853225"/>
            <a:ext cx="1685487" cy="448546"/>
            <a:chOff x="1941540" y="4044910"/>
            <a:chExt cx="1685705" cy="448604"/>
          </a:xfrm>
        </p:grpSpPr>
        <p:sp>
          <p:nvSpPr>
            <p:cNvPr id="105" name="Google Shape;105;p2"/>
            <p:cNvSpPr/>
            <p:nvPr/>
          </p:nvSpPr>
          <p:spPr>
            <a:xfrm>
              <a:off x="1999200" y="4044910"/>
              <a:ext cx="1556886" cy="448604"/>
            </a:xfrm>
            <a:prstGeom prst="roundRect">
              <a:avLst>
                <a:gd fmla="val 50000" name="adj"/>
              </a:avLst>
            </a:prstGeom>
            <a:solidFill>
              <a:schemeClr val="lt2"/>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6" name="Google Shape;106;p2"/>
            <p:cNvSpPr/>
            <p:nvPr/>
          </p:nvSpPr>
          <p:spPr>
            <a:xfrm>
              <a:off x="2046987" y="4075642"/>
              <a:ext cx="1486800" cy="387140"/>
            </a:xfrm>
            <a:prstGeom prst="roundRect">
              <a:avLst>
                <a:gd fmla="val 50000"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07" name="Google Shape;107;p2"/>
            <p:cNvSpPr txBox="1"/>
            <p:nvPr/>
          </p:nvSpPr>
          <p:spPr>
            <a:xfrm>
              <a:off x="1941540" y="4075642"/>
              <a:ext cx="1685705" cy="400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1" lang="en-US" sz="2000" u="none" cap="none" strike="noStrike">
                  <a:solidFill>
                    <a:schemeClr val="lt1"/>
                  </a:solidFill>
                  <a:latin typeface="Arial"/>
                  <a:ea typeface="Arial"/>
                  <a:cs typeface="Arial"/>
                  <a:sym typeface="Arial"/>
                </a:rPr>
                <a:t>MÔN HỌC</a:t>
              </a:r>
              <a:endParaRPr b="1" i="1" sz="2000" u="none" cap="none" strike="noStrike">
                <a:solidFill>
                  <a:schemeClr val="lt1"/>
                </a:solidFill>
                <a:latin typeface="Arial"/>
                <a:ea typeface="Arial"/>
                <a:cs typeface="Arial"/>
                <a:sym typeface="Arial"/>
              </a:endParaRPr>
            </a:p>
          </p:txBody>
        </p:sp>
      </p:grpSp>
      <p:sp>
        <p:nvSpPr>
          <p:cNvPr id="108" name="Google Shape;108;p2"/>
          <p:cNvSpPr txBox="1"/>
          <p:nvPr/>
        </p:nvSpPr>
        <p:spPr>
          <a:xfrm>
            <a:off x="1450714" y="2444405"/>
            <a:ext cx="9290572"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FF0000"/>
                </a:solidFill>
                <a:latin typeface="Montserrat"/>
                <a:ea typeface="Montserrat"/>
                <a:cs typeface="Montserrat"/>
                <a:sym typeface="Montserrat"/>
              </a:rPr>
              <a:t>CÔNG NGHỆ PHẦN MỀM</a:t>
            </a:r>
            <a:endParaRPr b="0" i="0" sz="1400" u="none" cap="none" strike="noStrike">
              <a:solidFill>
                <a:srgbClr val="000000"/>
              </a:solidFill>
              <a:latin typeface="Montserrat"/>
              <a:ea typeface="Montserrat"/>
              <a:cs typeface="Montserrat"/>
              <a:sym typeface="Montserrat"/>
            </a:endParaRPr>
          </a:p>
        </p:txBody>
      </p:sp>
      <p:sp>
        <p:nvSpPr>
          <p:cNvPr id="109" name="Google Shape;109;p2"/>
          <p:cNvSpPr txBox="1"/>
          <p:nvPr/>
        </p:nvSpPr>
        <p:spPr>
          <a:xfrm>
            <a:off x="4419482" y="3434311"/>
            <a:ext cx="6843255" cy="3692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Montserrat"/>
                <a:ea typeface="Montserrat"/>
                <a:cs typeface="Montserrat"/>
                <a:sym typeface="Montserrat"/>
              </a:rPr>
              <a:t>GIẢNG VIÊN: PHAN THANH HY</a:t>
            </a:r>
            <a:endParaRPr b="0" i="0" sz="1100" u="none" cap="none" strike="noStrike">
              <a:solidFill>
                <a:srgbClr val="000000"/>
              </a:solidFill>
              <a:latin typeface="Montserrat"/>
              <a:ea typeface="Montserrat"/>
              <a:cs typeface="Montserrat"/>
              <a:sym typeface="Montserrat"/>
            </a:endParaRPr>
          </a:p>
        </p:txBody>
      </p:sp>
      <p:pic>
        <p:nvPicPr>
          <p:cNvPr id="110" name="Google Shape;110;p2"/>
          <p:cNvPicPr preferRelativeResize="0"/>
          <p:nvPr/>
        </p:nvPicPr>
        <p:blipFill rotWithShape="1">
          <a:blip r:embed="rId3">
            <a:alphaModFix/>
          </a:blip>
          <a:srcRect b="0" l="0" r="0" t="0"/>
          <a:stretch/>
        </p:blipFill>
        <p:spPr>
          <a:xfrm>
            <a:off x="1729471" y="5366777"/>
            <a:ext cx="2841019" cy="1077129"/>
          </a:xfrm>
          <a:prstGeom prst="rect">
            <a:avLst/>
          </a:prstGeom>
          <a:noFill/>
          <a:ln>
            <a:noFill/>
          </a:ln>
        </p:spPr>
      </p:pic>
      <p:pic>
        <p:nvPicPr>
          <p:cNvPr descr="图片包含 植物, 鲜花&#10;&#10;描述已自动生成" id="111" name="Google Shape;111;p2"/>
          <p:cNvPicPr preferRelativeResize="0"/>
          <p:nvPr/>
        </p:nvPicPr>
        <p:blipFill rotWithShape="1">
          <a:blip r:embed="rId4">
            <a:alphaModFix/>
          </a:blip>
          <a:srcRect b="0" l="0" r="0" t="0"/>
          <a:stretch/>
        </p:blipFill>
        <p:spPr>
          <a:xfrm>
            <a:off x="0" y="4556229"/>
            <a:ext cx="2226055" cy="1847037"/>
          </a:xfrm>
          <a:prstGeom prst="rect">
            <a:avLst/>
          </a:prstGeom>
          <a:noFill/>
          <a:ln>
            <a:noFill/>
          </a:ln>
        </p:spPr>
      </p:pic>
      <p:pic>
        <p:nvPicPr>
          <p:cNvPr id="112" name="Google Shape;112;p2"/>
          <p:cNvPicPr preferRelativeResize="0"/>
          <p:nvPr/>
        </p:nvPicPr>
        <p:blipFill rotWithShape="1">
          <a:blip r:embed="rId5">
            <a:alphaModFix/>
          </a:blip>
          <a:srcRect b="0" l="0" r="0" t="0"/>
          <a:stretch/>
        </p:blipFill>
        <p:spPr>
          <a:xfrm>
            <a:off x="7628392" y="2849516"/>
            <a:ext cx="4958172" cy="4958172"/>
          </a:xfrm>
          <a:prstGeom prst="rect">
            <a:avLst/>
          </a:prstGeom>
          <a:noFill/>
          <a:ln>
            <a:noFill/>
          </a:ln>
        </p:spPr>
      </p:pic>
      <p:sp>
        <p:nvSpPr>
          <p:cNvPr id="113" name="Google Shape;113;p2"/>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96"/>
          <p:cNvSpPr txBox="1"/>
          <p:nvPr/>
        </p:nvSpPr>
        <p:spPr>
          <a:xfrm>
            <a:off x="4438836" y="307602"/>
            <a:ext cx="3314326"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F5496"/>
                </a:solidFill>
                <a:latin typeface="Montserrat"/>
                <a:ea typeface="Montserrat"/>
                <a:cs typeface="Montserrat"/>
                <a:sym typeface="Montserrat"/>
              </a:rPr>
              <a:t>THÀNH VIÊN</a:t>
            </a:r>
            <a:endParaRPr b="0" i="0" sz="1050" u="none" cap="none" strike="noStrike">
              <a:solidFill>
                <a:srgbClr val="2F5496"/>
              </a:solidFill>
              <a:latin typeface="Montserrat"/>
              <a:ea typeface="Montserrat"/>
              <a:cs typeface="Montserrat"/>
              <a:sym typeface="Montserrat"/>
            </a:endParaRPr>
          </a:p>
        </p:txBody>
      </p:sp>
      <p:sp>
        <p:nvSpPr>
          <p:cNvPr id="119" name="Google Shape;119;p96"/>
          <p:cNvSpPr/>
          <p:nvPr/>
        </p:nvSpPr>
        <p:spPr>
          <a:xfrm>
            <a:off x="4567031" y="1770140"/>
            <a:ext cx="3057937" cy="3057937"/>
          </a:xfrm>
          <a:prstGeom prst="ellipse">
            <a:avLst/>
          </a:prstGeom>
          <a:blipFill rotWithShape="1">
            <a:blip r:embed="rId3">
              <a:alphaModFix/>
            </a:blip>
            <a:stretch>
              <a:fillRect b="-34289" l="-55702" r="-15900" t="-37313"/>
            </a:stretch>
          </a:blipFill>
          <a:ln cap="flat" cmpd="sng" w="25400">
            <a:solidFill>
              <a:srgbClr val="053B5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highlight>
                <a:srgbClr val="053B5C"/>
              </a:highlight>
              <a:latin typeface="Arial"/>
              <a:ea typeface="Arial"/>
              <a:cs typeface="Arial"/>
              <a:sym typeface="Arial"/>
            </a:endParaRPr>
          </a:p>
        </p:txBody>
      </p:sp>
      <p:sp>
        <p:nvSpPr>
          <p:cNvPr id="120" name="Google Shape;120;p96"/>
          <p:cNvSpPr/>
          <p:nvPr/>
        </p:nvSpPr>
        <p:spPr>
          <a:xfrm>
            <a:off x="8432339" y="1770140"/>
            <a:ext cx="3057937" cy="3057937"/>
          </a:xfrm>
          <a:prstGeom prst="ellipse">
            <a:avLst/>
          </a:prstGeom>
          <a:blipFill rotWithShape="1">
            <a:blip r:embed="rId4">
              <a:alphaModFix/>
            </a:blip>
            <a:stretch>
              <a:fillRect b="-15271" l="-4034" r="-4344" t="-29381"/>
            </a:stretch>
          </a:blipFill>
          <a:ln cap="flat" cmpd="sng" w="25400">
            <a:solidFill>
              <a:srgbClr val="053B5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highlight>
                <a:srgbClr val="053B5C"/>
              </a:highlight>
              <a:latin typeface="Arial"/>
              <a:ea typeface="Arial"/>
              <a:cs typeface="Arial"/>
              <a:sym typeface="Arial"/>
            </a:endParaRPr>
          </a:p>
        </p:txBody>
      </p:sp>
      <p:sp>
        <p:nvSpPr>
          <p:cNvPr id="121" name="Google Shape;121;p96"/>
          <p:cNvSpPr/>
          <p:nvPr/>
        </p:nvSpPr>
        <p:spPr>
          <a:xfrm>
            <a:off x="701724" y="1770140"/>
            <a:ext cx="3057937" cy="3057937"/>
          </a:xfrm>
          <a:prstGeom prst="ellipse">
            <a:avLst/>
          </a:prstGeom>
          <a:blipFill rotWithShape="1">
            <a:blip r:embed="rId5">
              <a:alphaModFix/>
            </a:blip>
            <a:stretch>
              <a:fillRect b="-45178" l="17978" r="19196" t="11905"/>
            </a:stretch>
          </a:blipFill>
          <a:ln cap="flat" cmpd="sng" w="25400">
            <a:solidFill>
              <a:srgbClr val="053B5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highlight>
                <a:srgbClr val="053B5C"/>
              </a:highlight>
              <a:latin typeface="Arial"/>
              <a:ea typeface="Arial"/>
              <a:cs typeface="Arial"/>
              <a:sym typeface="Arial"/>
            </a:endParaRPr>
          </a:p>
        </p:txBody>
      </p:sp>
      <p:sp>
        <p:nvSpPr>
          <p:cNvPr id="122" name="Google Shape;122;p96"/>
          <p:cNvSpPr txBox="1"/>
          <p:nvPr/>
        </p:nvSpPr>
        <p:spPr>
          <a:xfrm>
            <a:off x="445335" y="5020427"/>
            <a:ext cx="3314326"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2F5496"/>
                </a:solidFill>
                <a:latin typeface="Montserrat"/>
                <a:ea typeface="Montserrat"/>
                <a:cs typeface="Montserrat"/>
                <a:sym typeface="Montserrat"/>
              </a:rPr>
              <a:t>Trình Công Huy</a:t>
            </a:r>
            <a:endParaRPr b="0" i="0" sz="800" u="none" cap="none" strike="noStrike">
              <a:solidFill>
                <a:srgbClr val="2F5496"/>
              </a:solidFill>
              <a:latin typeface="Montserrat"/>
              <a:ea typeface="Montserrat"/>
              <a:cs typeface="Montserrat"/>
              <a:sym typeface="Montserrat"/>
            </a:endParaRPr>
          </a:p>
        </p:txBody>
      </p:sp>
      <p:sp>
        <p:nvSpPr>
          <p:cNvPr id="123" name="Google Shape;123;p96"/>
          <p:cNvSpPr txBox="1"/>
          <p:nvPr/>
        </p:nvSpPr>
        <p:spPr>
          <a:xfrm>
            <a:off x="4310642" y="5020427"/>
            <a:ext cx="3314326"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2F5496"/>
                </a:solidFill>
                <a:latin typeface="Montserrat"/>
                <a:ea typeface="Montserrat"/>
                <a:cs typeface="Montserrat"/>
                <a:sym typeface="Montserrat"/>
              </a:rPr>
              <a:t>Lương Xuân Nhất</a:t>
            </a:r>
            <a:endParaRPr b="0" i="0" sz="800" u="none" cap="none" strike="noStrike">
              <a:solidFill>
                <a:srgbClr val="2F5496"/>
              </a:solidFill>
              <a:latin typeface="Montserrat"/>
              <a:ea typeface="Montserrat"/>
              <a:cs typeface="Montserrat"/>
              <a:sym typeface="Montserrat"/>
            </a:endParaRPr>
          </a:p>
        </p:txBody>
      </p:sp>
      <p:sp>
        <p:nvSpPr>
          <p:cNvPr id="124" name="Google Shape;124;p96"/>
          <p:cNvSpPr txBox="1"/>
          <p:nvPr/>
        </p:nvSpPr>
        <p:spPr>
          <a:xfrm>
            <a:off x="8175949" y="5020427"/>
            <a:ext cx="3314326"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2F5496"/>
                </a:solidFill>
                <a:latin typeface="Montserrat"/>
                <a:ea typeface="Montserrat"/>
                <a:cs typeface="Montserrat"/>
                <a:sym typeface="Montserrat"/>
              </a:rPr>
              <a:t>Nguyễn Quang Khải</a:t>
            </a:r>
            <a:endParaRPr b="0" i="0" sz="800" u="none" cap="none" strike="noStrike">
              <a:solidFill>
                <a:srgbClr val="2F5496"/>
              </a:solidFill>
              <a:latin typeface="Montserrat"/>
              <a:ea typeface="Montserrat"/>
              <a:cs typeface="Montserrat"/>
              <a:sym typeface="Montserrat"/>
            </a:endParaRPr>
          </a:p>
        </p:txBody>
      </p:sp>
      <p:sp>
        <p:nvSpPr>
          <p:cNvPr id="125" name="Google Shape;125;p96"/>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2</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97"/>
          <p:cNvSpPr txBox="1"/>
          <p:nvPr/>
        </p:nvSpPr>
        <p:spPr>
          <a:xfrm>
            <a:off x="2277718" y="2527699"/>
            <a:ext cx="7353295" cy="7386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US" sz="4800" u="none" cap="none" strike="noStrike">
                <a:solidFill>
                  <a:srgbClr val="2F5496"/>
                </a:solidFill>
                <a:latin typeface="Montserrat"/>
                <a:ea typeface="Montserrat"/>
                <a:cs typeface="Montserrat"/>
                <a:sym typeface="Montserrat"/>
              </a:rPr>
              <a:t>KIỂM THỬ PHẦN MỀM </a:t>
            </a:r>
            <a:endParaRPr b="0" i="0" sz="4000" u="none" cap="none" strike="noStrike">
              <a:solidFill>
                <a:srgbClr val="2F5496"/>
              </a:solidFill>
              <a:latin typeface="Montserrat"/>
              <a:ea typeface="Montserrat"/>
              <a:cs typeface="Montserrat"/>
              <a:sym typeface="Montserrat"/>
            </a:endParaRPr>
          </a:p>
        </p:txBody>
      </p:sp>
      <p:grpSp>
        <p:nvGrpSpPr>
          <p:cNvPr id="131" name="Google Shape;131;p97"/>
          <p:cNvGrpSpPr/>
          <p:nvPr/>
        </p:nvGrpSpPr>
        <p:grpSpPr>
          <a:xfrm>
            <a:off x="1999423" y="2224691"/>
            <a:ext cx="7224089" cy="1442847"/>
            <a:chOff x="1999424" y="2286000"/>
            <a:chExt cx="6071150" cy="1212574"/>
          </a:xfrm>
        </p:grpSpPr>
        <p:cxnSp>
          <p:nvCxnSpPr>
            <p:cNvPr id="132" name="Google Shape;132;p97"/>
            <p:cNvCxnSpPr/>
            <p:nvPr/>
          </p:nvCxnSpPr>
          <p:spPr>
            <a:xfrm>
              <a:off x="1999424" y="2286000"/>
              <a:ext cx="6071150" cy="0"/>
            </a:xfrm>
            <a:prstGeom prst="straightConnector1">
              <a:avLst/>
            </a:prstGeom>
            <a:noFill/>
            <a:ln cap="flat" cmpd="sng" w="38100">
              <a:solidFill>
                <a:srgbClr val="3E6EC2"/>
              </a:solidFill>
              <a:prstDash val="solid"/>
              <a:round/>
              <a:headEnd len="sm" w="sm" type="none"/>
              <a:tailEnd len="sm" w="sm" type="none"/>
            </a:ln>
          </p:spPr>
        </p:cxnSp>
        <p:cxnSp>
          <p:nvCxnSpPr>
            <p:cNvPr id="133" name="Google Shape;133;p97"/>
            <p:cNvCxnSpPr/>
            <p:nvPr/>
          </p:nvCxnSpPr>
          <p:spPr>
            <a:xfrm>
              <a:off x="2011021" y="2286000"/>
              <a:ext cx="0" cy="1212574"/>
            </a:xfrm>
            <a:prstGeom prst="straightConnector1">
              <a:avLst/>
            </a:prstGeom>
            <a:noFill/>
            <a:ln cap="flat" cmpd="sng" w="38100">
              <a:solidFill>
                <a:srgbClr val="3E6EC2"/>
              </a:solidFill>
              <a:prstDash val="solid"/>
              <a:round/>
              <a:headEnd len="sm" w="sm" type="none"/>
              <a:tailEnd len="sm" w="sm" type="none"/>
            </a:ln>
          </p:spPr>
        </p:cxnSp>
        <p:cxnSp>
          <p:nvCxnSpPr>
            <p:cNvPr id="134" name="Google Shape;134;p97"/>
            <p:cNvCxnSpPr/>
            <p:nvPr/>
          </p:nvCxnSpPr>
          <p:spPr>
            <a:xfrm>
              <a:off x="2001082" y="3488635"/>
              <a:ext cx="3033917" cy="0"/>
            </a:xfrm>
            <a:prstGeom prst="straightConnector1">
              <a:avLst/>
            </a:prstGeom>
            <a:noFill/>
            <a:ln cap="flat" cmpd="sng" w="38100">
              <a:solidFill>
                <a:srgbClr val="3E6EC2"/>
              </a:solidFill>
              <a:prstDash val="solid"/>
              <a:round/>
              <a:headEnd len="sm" w="sm" type="none"/>
              <a:tailEnd len="sm" w="sm" type="none"/>
            </a:ln>
          </p:spPr>
        </p:cxnSp>
      </p:grpSp>
      <p:sp>
        <p:nvSpPr>
          <p:cNvPr id="135" name="Google Shape;135;p97"/>
          <p:cNvSpPr txBox="1"/>
          <p:nvPr/>
        </p:nvSpPr>
        <p:spPr>
          <a:xfrm>
            <a:off x="5815217" y="3360805"/>
            <a:ext cx="5753098" cy="46166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2F5496"/>
                </a:solidFill>
                <a:latin typeface="Montserrat"/>
                <a:ea typeface="Montserrat"/>
                <a:cs typeface="Montserrat"/>
                <a:sym typeface="Montserrat"/>
              </a:rPr>
              <a:t>Software Testing </a:t>
            </a:r>
            <a:endParaRPr b="0" i="0" sz="3000" u="none" cap="none" strike="noStrike">
              <a:solidFill>
                <a:srgbClr val="2F5496"/>
              </a:solidFill>
              <a:latin typeface="Montserrat"/>
              <a:ea typeface="Montserrat"/>
              <a:cs typeface="Montserrat"/>
              <a:sym typeface="Montserrat"/>
            </a:endParaRPr>
          </a:p>
        </p:txBody>
      </p:sp>
      <p:grpSp>
        <p:nvGrpSpPr>
          <p:cNvPr id="136" name="Google Shape;136;p97"/>
          <p:cNvGrpSpPr/>
          <p:nvPr/>
        </p:nvGrpSpPr>
        <p:grpSpPr>
          <a:xfrm>
            <a:off x="1211776" y="4451263"/>
            <a:ext cx="9206882" cy="1821190"/>
            <a:chOff x="0" y="2694255"/>
            <a:chExt cx="9206882" cy="1821190"/>
          </a:xfrm>
        </p:grpSpPr>
        <p:sp>
          <p:nvSpPr>
            <p:cNvPr id="137" name="Google Shape;137;p97"/>
            <p:cNvSpPr/>
            <p:nvPr/>
          </p:nvSpPr>
          <p:spPr>
            <a:xfrm>
              <a:off x="0" y="2694255"/>
              <a:ext cx="8051800" cy="1633993"/>
            </a:xfrm>
            <a:custGeom>
              <a:rect b="b" l="l" r="r" t="t"/>
              <a:pathLst>
                <a:path extrusionOk="0" h="19389" w="21600">
                  <a:moveTo>
                    <a:pt x="0" y="4549"/>
                  </a:moveTo>
                  <a:cubicBezTo>
                    <a:pt x="3163" y="1410"/>
                    <a:pt x="6795" y="-1261"/>
                    <a:pt x="9676" y="631"/>
                  </a:cubicBezTo>
                  <a:cubicBezTo>
                    <a:pt x="12556" y="2523"/>
                    <a:pt x="15638" y="12436"/>
                    <a:pt x="17285" y="15902"/>
                  </a:cubicBezTo>
                  <a:cubicBezTo>
                    <a:pt x="18931" y="19368"/>
                    <a:pt x="20850" y="20339"/>
                    <a:pt x="21600" y="18413"/>
                  </a:cubicBezTo>
                </a:path>
              </a:pathLst>
            </a:custGeom>
            <a:noFill/>
            <a:ln cap="flat" cmpd="sng" w="19050">
              <a:solidFill>
                <a:srgbClr val="B8B8B8"/>
              </a:solidFill>
              <a:prstDash val="dash"/>
              <a:round/>
              <a:headEnd len="sm" w="sm" type="none"/>
              <a:tailEnd len="sm" w="sm" type="none"/>
            </a:ln>
          </p:spPr>
          <p:txBody>
            <a:bodyPr anchorCtr="0" anchor="ctr" bIns="45700" lIns="60950" spcFirstLastPara="1" rIns="60950" wrap="square" tIns="45700">
              <a:noAutofit/>
            </a:bodyPr>
            <a:lstStyle/>
            <a:p>
              <a:pPr indent="0" lvl="0" marL="0" marR="0" rtl="0" algn="ctr">
                <a:lnSpc>
                  <a:spcPct val="100000"/>
                </a:lnSpc>
                <a:spcBef>
                  <a:spcPts val="0"/>
                </a:spcBef>
                <a:spcAft>
                  <a:spcPts val="0"/>
                </a:spcAft>
                <a:buClr>
                  <a:srgbClr val="000000"/>
                </a:buClr>
                <a:buSzPts val="2133"/>
                <a:buFont typeface="Arial"/>
                <a:buNone/>
              </a:pPr>
              <a:r>
                <a:t/>
              </a:r>
              <a:endParaRPr b="0" i="0" sz="2133" u="none" cap="none" strike="noStrike">
                <a:solidFill>
                  <a:srgbClr val="000000"/>
                </a:solidFill>
                <a:latin typeface="Arial"/>
                <a:ea typeface="Arial"/>
                <a:cs typeface="Arial"/>
                <a:sym typeface="Arial"/>
              </a:endParaRPr>
            </a:p>
          </p:txBody>
        </p:sp>
        <p:grpSp>
          <p:nvGrpSpPr>
            <p:cNvPr id="138" name="Google Shape;138;p97"/>
            <p:cNvGrpSpPr/>
            <p:nvPr/>
          </p:nvGrpSpPr>
          <p:grpSpPr>
            <a:xfrm rot="-120000">
              <a:off x="7920424" y="3629664"/>
              <a:ext cx="1271771" cy="863852"/>
              <a:chOff x="0" y="0"/>
              <a:chExt cx="5816309" cy="3950737"/>
            </a:xfrm>
          </p:grpSpPr>
          <p:sp>
            <p:nvSpPr>
              <p:cNvPr id="139" name="Google Shape;139;p97"/>
              <p:cNvSpPr/>
              <p:nvPr/>
            </p:nvSpPr>
            <p:spPr>
              <a:xfrm rot="-6789218">
                <a:off x="1416097" y="1759785"/>
                <a:ext cx="1257680" cy="860615"/>
              </a:xfrm>
              <a:custGeom>
                <a:rect b="b" l="l" r="r" t="t"/>
                <a:pathLst>
                  <a:path extrusionOk="0" h="21594" w="19503">
                    <a:moveTo>
                      <a:pt x="9757" y="21594"/>
                    </a:moveTo>
                    <a:cubicBezTo>
                      <a:pt x="14265" y="21590"/>
                      <a:pt x="20555" y="15037"/>
                      <a:pt x="19354" y="2453"/>
                    </a:cubicBezTo>
                    <a:cubicBezTo>
                      <a:pt x="16264" y="171"/>
                      <a:pt x="13282" y="-3"/>
                      <a:pt x="9750" y="0"/>
                    </a:cubicBezTo>
                    <a:cubicBezTo>
                      <a:pt x="6219" y="3"/>
                      <a:pt x="3237" y="181"/>
                      <a:pt x="148" y="2468"/>
                    </a:cubicBezTo>
                    <a:cubicBezTo>
                      <a:pt x="-1045" y="15054"/>
                      <a:pt x="5249" y="21597"/>
                      <a:pt x="9757" y="21594"/>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0" name="Google Shape;140;p97"/>
              <p:cNvSpPr/>
              <p:nvPr/>
            </p:nvSpPr>
            <p:spPr>
              <a:xfrm rot="-6789218">
                <a:off x="1517227" y="1819528"/>
                <a:ext cx="1246971" cy="633687"/>
              </a:xfrm>
              <a:custGeom>
                <a:rect b="b" l="l" r="r" t="t"/>
                <a:pathLst>
                  <a:path extrusionOk="0" h="21592" w="21600">
                    <a:moveTo>
                      <a:pt x="10805" y="21592"/>
                    </a:moveTo>
                    <a:cubicBezTo>
                      <a:pt x="15097" y="21587"/>
                      <a:pt x="20838" y="15115"/>
                      <a:pt x="21600" y="2611"/>
                    </a:cubicBezTo>
                    <a:cubicBezTo>
                      <a:pt x="18182" y="549"/>
                      <a:pt x="14724" y="-4"/>
                      <a:pt x="10800" y="0"/>
                    </a:cubicBezTo>
                    <a:cubicBezTo>
                      <a:pt x="6875" y="3"/>
                      <a:pt x="3418" y="563"/>
                      <a:pt x="0" y="2631"/>
                    </a:cubicBezTo>
                    <a:cubicBezTo>
                      <a:pt x="769" y="15134"/>
                      <a:pt x="6512" y="21596"/>
                      <a:pt x="10805" y="21592"/>
                    </a:cubicBezTo>
                    <a:close/>
                  </a:path>
                </a:pathLst>
              </a:custGeom>
              <a:solidFill>
                <a:srgbClr val="A2A4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1" name="Google Shape;141;p97"/>
              <p:cNvSpPr/>
              <p:nvPr/>
            </p:nvSpPr>
            <p:spPr>
              <a:xfrm rot="-6789218">
                <a:off x="168845" y="1861999"/>
                <a:ext cx="1723941" cy="1505004"/>
              </a:xfrm>
              <a:custGeom>
                <a:rect b="b" l="l" r="r" t="t"/>
                <a:pathLst>
                  <a:path extrusionOk="0" h="21600" w="21598">
                    <a:moveTo>
                      <a:pt x="3418" y="21600"/>
                    </a:moveTo>
                    <a:cubicBezTo>
                      <a:pt x="5783" y="20472"/>
                      <a:pt x="8094" y="20379"/>
                      <a:pt x="10805" y="20377"/>
                    </a:cubicBezTo>
                    <a:cubicBezTo>
                      <a:pt x="13513" y="20376"/>
                      <a:pt x="15822" y="20466"/>
                      <a:pt x="18184" y="21587"/>
                    </a:cubicBezTo>
                    <a:cubicBezTo>
                      <a:pt x="19938" y="18831"/>
                      <a:pt x="20242" y="17119"/>
                      <a:pt x="20688" y="14773"/>
                    </a:cubicBezTo>
                    <a:cubicBezTo>
                      <a:pt x="21600" y="9976"/>
                      <a:pt x="21598" y="5522"/>
                      <a:pt x="21598" y="5522"/>
                    </a:cubicBezTo>
                    <a:cubicBezTo>
                      <a:pt x="21598" y="5522"/>
                      <a:pt x="18535" y="6826"/>
                      <a:pt x="18224" y="8266"/>
                    </a:cubicBezTo>
                    <a:cubicBezTo>
                      <a:pt x="17974" y="4320"/>
                      <a:pt x="18774" y="1521"/>
                      <a:pt x="18774" y="1521"/>
                    </a:cubicBezTo>
                    <a:cubicBezTo>
                      <a:pt x="18774" y="1521"/>
                      <a:pt x="14209" y="4203"/>
                      <a:pt x="13951" y="8014"/>
                    </a:cubicBezTo>
                    <a:cubicBezTo>
                      <a:pt x="13429" y="2924"/>
                      <a:pt x="10790" y="0"/>
                      <a:pt x="10790" y="0"/>
                    </a:cubicBezTo>
                    <a:cubicBezTo>
                      <a:pt x="10790" y="0"/>
                      <a:pt x="8003" y="3425"/>
                      <a:pt x="7569" y="8451"/>
                    </a:cubicBezTo>
                    <a:cubicBezTo>
                      <a:pt x="7266" y="5393"/>
                      <a:pt x="3575" y="3351"/>
                      <a:pt x="3575" y="3351"/>
                    </a:cubicBezTo>
                    <a:cubicBezTo>
                      <a:pt x="3575" y="3351"/>
                      <a:pt x="4139" y="5638"/>
                      <a:pt x="3852" y="8991"/>
                    </a:cubicBezTo>
                    <a:cubicBezTo>
                      <a:pt x="3536" y="7206"/>
                      <a:pt x="0" y="6067"/>
                      <a:pt x="0" y="6067"/>
                    </a:cubicBezTo>
                    <a:cubicBezTo>
                      <a:pt x="0" y="6067"/>
                      <a:pt x="392" y="10133"/>
                      <a:pt x="1188" y="14455"/>
                    </a:cubicBezTo>
                    <a:cubicBezTo>
                      <a:pt x="1636" y="16885"/>
                      <a:pt x="2178" y="19333"/>
                      <a:pt x="3418" y="21600"/>
                    </a:cubicBez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2" name="Google Shape;142;p97"/>
              <p:cNvSpPr/>
              <p:nvPr/>
            </p:nvSpPr>
            <p:spPr>
              <a:xfrm rot="-6789218">
                <a:off x="665101" y="2063664"/>
                <a:ext cx="1242693" cy="843488"/>
              </a:xfrm>
              <a:custGeom>
                <a:rect b="b" l="l" r="r" t="t"/>
                <a:pathLst>
                  <a:path extrusionOk="0" h="21600" w="21600">
                    <a:moveTo>
                      <a:pt x="10387" y="20514"/>
                    </a:moveTo>
                    <a:cubicBezTo>
                      <a:pt x="13238" y="20512"/>
                      <a:pt x="15770" y="20603"/>
                      <a:pt x="18258" y="21526"/>
                    </a:cubicBezTo>
                    <a:cubicBezTo>
                      <a:pt x="20563" y="17171"/>
                      <a:pt x="21600" y="5150"/>
                      <a:pt x="21600" y="5150"/>
                    </a:cubicBezTo>
                    <a:cubicBezTo>
                      <a:pt x="21600" y="5150"/>
                      <a:pt x="17663" y="7185"/>
                      <a:pt x="17362" y="9231"/>
                    </a:cubicBezTo>
                    <a:cubicBezTo>
                      <a:pt x="16949" y="5709"/>
                      <a:pt x="17086" y="2618"/>
                      <a:pt x="17086" y="2618"/>
                    </a:cubicBezTo>
                    <a:cubicBezTo>
                      <a:pt x="17086" y="2618"/>
                      <a:pt x="13656" y="5212"/>
                      <a:pt x="13226" y="8093"/>
                    </a:cubicBezTo>
                    <a:cubicBezTo>
                      <a:pt x="12733" y="3736"/>
                      <a:pt x="10292" y="0"/>
                      <a:pt x="10292" y="0"/>
                    </a:cubicBezTo>
                    <a:cubicBezTo>
                      <a:pt x="10292" y="0"/>
                      <a:pt x="7736" y="3548"/>
                      <a:pt x="7159" y="8878"/>
                    </a:cubicBezTo>
                    <a:cubicBezTo>
                      <a:pt x="6718" y="5649"/>
                      <a:pt x="4277" y="3805"/>
                      <a:pt x="4130" y="3705"/>
                    </a:cubicBezTo>
                    <a:cubicBezTo>
                      <a:pt x="4130" y="3705"/>
                      <a:pt x="3603" y="6205"/>
                      <a:pt x="3172" y="8864"/>
                    </a:cubicBezTo>
                    <a:cubicBezTo>
                      <a:pt x="2873" y="7080"/>
                      <a:pt x="0" y="5166"/>
                      <a:pt x="0" y="5166"/>
                    </a:cubicBezTo>
                    <a:cubicBezTo>
                      <a:pt x="0" y="5166"/>
                      <a:pt x="266" y="17844"/>
                      <a:pt x="2355" y="21599"/>
                    </a:cubicBezTo>
                    <a:cubicBezTo>
                      <a:pt x="2354" y="21600"/>
                      <a:pt x="2354" y="21600"/>
                      <a:pt x="2352" y="21600"/>
                    </a:cubicBezTo>
                    <a:cubicBezTo>
                      <a:pt x="4892" y="20616"/>
                      <a:pt x="7473" y="20516"/>
                      <a:pt x="10387" y="20514"/>
                    </a:cubicBez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3" name="Google Shape;143;p97"/>
              <p:cNvSpPr/>
              <p:nvPr/>
            </p:nvSpPr>
            <p:spPr>
              <a:xfrm rot="-6789218">
                <a:off x="1678475" y="1888590"/>
                <a:ext cx="1120776" cy="404637"/>
              </a:xfrm>
              <a:custGeom>
                <a:rect b="b" l="l" r="r" t="t"/>
                <a:pathLst>
                  <a:path extrusionOk="0" h="21592" w="21600">
                    <a:moveTo>
                      <a:pt x="10803" y="21592"/>
                    </a:moveTo>
                    <a:cubicBezTo>
                      <a:pt x="14564" y="21585"/>
                      <a:pt x="19322" y="15319"/>
                      <a:pt x="21600" y="3124"/>
                    </a:cubicBezTo>
                    <a:cubicBezTo>
                      <a:pt x="18188" y="685"/>
                      <a:pt x="14700" y="-4"/>
                      <a:pt x="10800" y="0"/>
                    </a:cubicBezTo>
                    <a:cubicBezTo>
                      <a:pt x="6899" y="7"/>
                      <a:pt x="3411" y="705"/>
                      <a:pt x="0" y="3153"/>
                    </a:cubicBezTo>
                    <a:cubicBezTo>
                      <a:pt x="2283" y="15342"/>
                      <a:pt x="7042" y="21596"/>
                      <a:pt x="10803" y="21592"/>
                    </a:cubicBezTo>
                    <a:close/>
                  </a:path>
                </a:pathLst>
              </a:custGeom>
              <a:solidFill>
                <a:srgbClr val="B4B7B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4" name="Google Shape;144;p97"/>
              <p:cNvSpPr/>
              <p:nvPr/>
            </p:nvSpPr>
            <p:spPr>
              <a:xfrm rot="-6789218">
                <a:off x="3090579" y="-388747"/>
                <a:ext cx="1533654" cy="3605158"/>
              </a:xfrm>
              <a:custGeom>
                <a:rect b="b" l="l" r="r" t="t"/>
                <a:pathLst>
                  <a:path extrusionOk="0" h="21599" w="21586">
                    <a:moveTo>
                      <a:pt x="10806" y="21599"/>
                    </a:moveTo>
                    <a:cubicBezTo>
                      <a:pt x="10806" y="21599"/>
                      <a:pt x="21595" y="18075"/>
                      <a:pt x="21586" y="9733"/>
                    </a:cubicBezTo>
                    <a:cubicBezTo>
                      <a:pt x="21580" y="5087"/>
                      <a:pt x="20216" y="2213"/>
                      <a:pt x="18849" y="462"/>
                    </a:cubicBezTo>
                    <a:cubicBezTo>
                      <a:pt x="16931" y="170"/>
                      <a:pt x="14100" y="-1"/>
                      <a:pt x="10782" y="0"/>
                    </a:cubicBezTo>
                    <a:cubicBezTo>
                      <a:pt x="7464" y="0"/>
                      <a:pt x="4633" y="172"/>
                      <a:pt x="2716" y="465"/>
                    </a:cubicBezTo>
                    <a:cubicBezTo>
                      <a:pt x="1353" y="2217"/>
                      <a:pt x="-5" y="5091"/>
                      <a:pt x="0" y="9738"/>
                    </a:cubicBezTo>
                    <a:cubicBezTo>
                      <a:pt x="10" y="18080"/>
                      <a:pt x="10806" y="21599"/>
                      <a:pt x="10806" y="21599"/>
                    </a:cubicBezTo>
                    <a:close/>
                  </a:path>
                </a:pathLst>
              </a:custGeom>
              <a:solidFill>
                <a:srgbClr val="D8DAD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5" name="Google Shape;145;p97"/>
              <p:cNvSpPr/>
              <p:nvPr/>
            </p:nvSpPr>
            <p:spPr>
              <a:xfrm rot="-6789218">
                <a:off x="4851167" y="537579"/>
                <a:ext cx="808499" cy="526646"/>
              </a:xfrm>
              <a:custGeom>
                <a:rect b="b" l="l" r="r" t="t"/>
                <a:pathLst>
                  <a:path extrusionOk="0" h="21597" w="21600">
                    <a:moveTo>
                      <a:pt x="10806" y="21597"/>
                    </a:moveTo>
                    <a:cubicBezTo>
                      <a:pt x="10806" y="21597"/>
                      <a:pt x="16308" y="15125"/>
                      <a:pt x="21600" y="949"/>
                    </a:cubicBezTo>
                    <a:cubicBezTo>
                      <a:pt x="18114" y="324"/>
                      <a:pt x="14502" y="-3"/>
                      <a:pt x="10800" y="0"/>
                    </a:cubicBezTo>
                    <a:cubicBezTo>
                      <a:pt x="7097" y="2"/>
                      <a:pt x="3486" y="336"/>
                      <a:pt x="0" y="965"/>
                    </a:cubicBezTo>
                    <a:cubicBezTo>
                      <a:pt x="5301" y="15133"/>
                      <a:pt x="10806" y="21597"/>
                      <a:pt x="10806" y="21597"/>
                    </a:cubicBez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6" name="Google Shape;146;p97"/>
              <p:cNvSpPr/>
              <p:nvPr/>
            </p:nvSpPr>
            <p:spPr>
              <a:xfrm rot="-6789218">
                <a:off x="2858358" y="922324"/>
                <a:ext cx="1533583" cy="1181739"/>
              </a:xfrm>
              <a:custGeom>
                <a:rect b="b" l="l" r="r" t="t"/>
                <a:pathLst>
                  <a:path extrusionOk="0" h="21598" w="21597">
                    <a:moveTo>
                      <a:pt x="549" y="21598"/>
                    </a:moveTo>
                    <a:cubicBezTo>
                      <a:pt x="3720" y="20677"/>
                      <a:pt x="7179" y="20169"/>
                      <a:pt x="10801" y="20167"/>
                    </a:cubicBezTo>
                    <a:cubicBezTo>
                      <a:pt x="14423" y="20165"/>
                      <a:pt x="17883" y="20668"/>
                      <a:pt x="21055" y="21585"/>
                    </a:cubicBezTo>
                    <a:cubicBezTo>
                      <a:pt x="21399" y="18660"/>
                      <a:pt x="21598" y="15473"/>
                      <a:pt x="21597" y="12015"/>
                    </a:cubicBezTo>
                    <a:cubicBezTo>
                      <a:pt x="21595" y="8111"/>
                      <a:pt x="21490" y="4619"/>
                      <a:pt x="21311" y="1495"/>
                    </a:cubicBezTo>
                    <a:cubicBezTo>
                      <a:pt x="18067" y="530"/>
                      <a:pt x="14516" y="-2"/>
                      <a:pt x="10794" y="0"/>
                    </a:cubicBezTo>
                    <a:cubicBezTo>
                      <a:pt x="7071" y="3"/>
                      <a:pt x="3520" y="539"/>
                      <a:pt x="278" y="1509"/>
                    </a:cubicBezTo>
                    <a:cubicBezTo>
                      <a:pt x="101" y="4633"/>
                      <a:pt x="-2" y="8125"/>
                      <a:pt x="0" y="12028"/>
                    </a:cubicBezTo>
                    <a:cubicBezTo>
                      <a:pt x="1" y="15487"/>
                      <a:pt x="202" y="18673"/>
                      <a:pt x="549" y="21598"/>
                    </a:cubicBezTo>
                    <a:close/>
                  </a:path>
                </a:pathLst>
              </a:custGeom>
              <a:solidFill>
                <a:srgbClr val="EBEBED"/>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7" name="Google Shape;147;p97"/>
              <p:cNvSpPr/>
              <p:nvPr/>
            </p:nvSpPr>
            <p:spPr>
              <a:xfrm rot="-6789218">
                <a:off x="3624029" y="-36692"/>
                <a:ext cx="767862" cy="3605158"/>
              </a:xfrm>
              <a:custGeom>
                <a:rect b="b" l="l" r="r" t="t"/>
                <a:pathLst>
                  <a:path extrusionOk="0" h="21600" w="21589">
                    <a:moveTo>
                      <a:pt x="21589" y="21600"/>
                    </a:moveTo>
                    <a:lnTo>
                      <a:pt x="21589" y="21600"/>
                    </a:lnTo>
                    <a:lnTo>
                      <a:pt x="21540" y="0"/>
                    </a:lnTo>
                    <a:cubicBezTo>
                      <a:pt x="14911" y="1"/>
                      <a:pt x="9255" y="173"/>
                      <a:pt x="5425" y="465"/>
                    </a:cubicBezTo>
                    <a:cubicBezTo>
                      <a:pt x="2702" y="2218"/>
                      <a:pt x="-11" y="5091"/>
                      <a:pt x="0" y="9738"/>
                    </a:cubicBezTo>
                    <a:cubicBezTo>
                      <a:pt x="19" y="18081"/>
                      <a:pt x="21589" y="21600"/>
                      <a:pt x="21589" y="21600"/>
                    </a:cubicBezTo>
                    <a:close/>
                  </a:path>
                </a:pathLst>
              </a:custGeom>
              <a:solidFill>
                <a:srgbClr val="1D252C">
                  <a:alpha val="8627"/>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8" name="Google Shape;148;p97"/>
              <p:cNvSpPr/>
              <p:nvPr/>
            </p:nvSpPr>
            <p:spPr>
              <a:xfrm rot="-6789218">
                <a:off x="3557676" y="377017"/>
                <a:ext cx="1135749" cy="1830409"/>
              </a:xfrm>
              <a:custGeom>
                <a:rect b="b" l="l" r="r" t="t"/>
                <a:pathLst>
                  <a:path extrusionOk="0" h="21600" w="21600">
                    <a:moveTo>
                      <a:pt x="12005" y="17497"/>
                    </a:moveTo>
                    <a:cubicBezTo>
                      <a:pt x="12005" y="17385"/>
                      <a:pt x="11859" y="17294"/>
                      <a:pt x="11678" y="17294"/>
                    </a:cubicBezTo>
                    <a:cubicBezTo>
                      <a:pt x="11497" y="17294"/>
                      <a:pt x="11351" y="17385"/>
                      <a:pt x="11351" y="17497"/>
                    </a:cubicBezTo>
                    <a:cubicBezTo>
                      <a:pt x="11351" y="17610"/>
                      <a:pt x="11497" y="17701"/>
                      <a:pt x="11678" y="17701"/>
                    </a:cubicBezTo>
                    <a:cubicBezTo>
                      <a:pt x="11859" y="17700"/>
                      <a:pt x="12005" y="17609"/>
                      <a:pt x="12005" y="17497"/>
                    </a:cubicBezTo>
                    <a:close/>
                    <a:moveTo>
                      <a:pt x="11681" y="21600"/>
                    </a:moveTo>
                    <a:cubicBezTo>
                      <a:pt x="11862" y="21600"/>
                      <a:pt x="12008" y="21509"/>
                      <a:pt x="12008" y="21396"/>
                    </a:cubicBezTo>
                    <a:cubicBezTo>
                      <a:pt x="12008" y="21284"/>
                      <a:pt x="11862" y="21193"/>
                      <a:pt x="11681" y="21193"/>
                    </a:cubicBezTo>
                    <a:cubicBezTo>
                      <a:pt x="11500" y="21193"/>
                      <a:pt x="11354" y="21284"/>
                      <a:pt x="11354" y="21397"/>
                    </a:cubicBezTo>
                    <a:cubicBezTo>
                      <a:pt x="11354" y="21509"/>
                      <a:pt x="11501" y="21600"/>
                      <a:pt x="11681" y="21600"/>
                    </a:cubicBezTo>
                    <a:close/>
                    <a:moveTo>
                      <a:pt x="655" y="10482"/>
                    </a:moveTo>
                    <a:cubicBezTo>
                      <a:pt x="654" y="10370"/>
                      <a:pt x="508" y="10279"/>
                      <a:pt x="327" y="10279"/>
                    </a:cubicBezTo>
                    <a:cubicBezTo>
                      <a:pt x="146" y="10279"/>
                      <a:pt x="0" y="10370"/>
                      <a:pt x="0" y="10482"/>
                    </a:cubicBezTo>
                    <a:cubicBezTo>
                      <a:pt x="0" y="10595"/>
                      <a:pt x="147" y="10685"/>
                      <a:pt x="327" y="10685"/>
                    </a:cubicBezTo>
                    <a:cubicBezTo>
                      <a:pt x="508" y="10685"/>
                      <a:pt x="655" y="10594"/>
                      <a:pt x="655" y="10482"/>
                    </a:cubicBezTo>
                    <a:close/>
                    <a:moveTo>
                      <a:pt x="11996" y="5692"/>
                    </a:moveTo>
                    <a:cubicBezTo>
                      <a:pt x="11996" y="5579"/>
                      <a:pt x="11849" y="5488"/>
                      <a:pt x="11669" y="5489"/>
                    </a:cubicBezTo>
                    <a:cubicBezTo>
                      <a:pt x="11488" y="5489"/>
                      <a:pt x="11341" y="5580"/>
                      <a:pt x="11342" y="5692"/>
                    </a:cubicBezTo>
                    <a:cubicBezTo>
                      <a:pt x="11342" y="5804"/>
                      <a:pt x="11488" y="5895"/>
                      <a:pt x="11669" y="5895"/>
                    </a:cubicBezTo>
                    <a:cubicBezTo>
                      <a:pt x="11850" y="5895"/>
                      <a:pt x="11996" y="5804"/>
                      <a:pt x="11996" y="5692"/>
                    </a:cubicBezTo>
                    <a:close/>
                    <a:moveTo>
                      <a:pt x="11991" y="203"/>
                    </a:moveTo>
                    <a:cubicBezTo>
                      <a:pt x="11992" y="91"/>
                      <a:pt x="11845" y="0"/>
                      <a:pt x="11664" y="0"/>
                    </a:cubicBezTo>
                    <a:cubicBezTo>
                      <a:pt x="11484" y="0"/>
                      <a:pt x="11337" y="91"/>
                      <a:pt x="11338" y="204"/>
                    </a:cubicBezTo>
                    <a:cubicBezTo>
                      <a:pt x="11338" y="316"/>
                      <a:pt x="11484" y="407"/>
                      <a:pt x="11665" y="407"/>
                    </a:cubicBezTo>
                    <a:cubicBezTo>
                      <a:pt x="11846" y="407"/>
                      <a:pt x="11992" y="316"/>
                      <a:pt x="11991" y="203"/>
                    </a:cubicBezTo>
                    <a:close/>
                    <a:moveTo>
                      <a:pt x="21600" y="10476"/>
                    </a:moveTo>
                    <a:cubicBezTo>
                      <a:pt x="21600" y="10364"/>
                      <a:pt x="21453" y="10272"/>
                      <a:pt x="21273" y="10273"/>
                    </a:cubicBezTo>
                    <a:cubicBezTo>
                      <a:pt x="21092" y="10273"/>
                      <a:pt x="20946" y="10364"/>
                      <a:pt x="20946" y="10476"/>
                    </a:cubicBezTo>
                    <a:cubicBezTo>
                      <a:pt x="20946" y="10588"/>
                      <a:pt x="21092" y="10679"/>
                      <a:pt x="21273" y="10679"/>
                    </a:cubicBezTo>
                    <a:cubicBezTo>
                      <a:pt x="21454" y="10679"/>
                      <a:pt x="21600" y="10588"/>
                      <a:pt x="21600" y="10476"/>
                    </a:cubicBezTo>
                    <a:close/>
                  </a:path>
                </a:pathLst>
              </a:custGeom>
              <a:solidFill>
                <a:srgbClr val="C6C8C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49" name="Google Shape;149;p97"/>
              <p:cNvSpPr/>
              <p:nvPr/>
            </p:nvSpPr>
            <p:spPr>
              <a:xfrm rot="-6789218">
                <a:off x="2425518" y="1691081"/>
                <a:ext cx="1259862" cy="94198"/>
              </a:xfrm>
              <a:custGeom>
                <a:rect b="b" l="l" r="r" t="t"/>
                <a:pathLst>
                  <a:path extrusionOk="0" h="21600" w="21600">
                    <a:moveTo>
                      <a:pt x="6995" y="3934"/>
                    </a:moveTo>
                    <a:cubicBezTo>
                      <a:pt x="6995" y="1765"/>
                      <a:pt x="6863" y="0"/>
                      <a:pt x="6700" y="0"/>
                    </a:cubicBezTo>
                    <a:cubicBezTo>
                      <a:pt x="6538" y="8"/>
                      <a:pt x="6405" y="1765"/>
                      <a:pt x="6405" y="3942"/>
                    </a:cubicBezTo>
                    <a:cubicBezTo>
                      <a:pt x="6405" y="6115"/>
                      <a:pt x="6538" y="7880"/>
                      <a:pt x="6701" y="7876"/>
                    </a:cubicBezTo>
                    <a:cubicBezTo>
                      <a:pt x="6864" y="7880"/>
                      <a:pt x="6995" y="6111"/>
                      <a:pt x="6995" y="3934"/>
                    </a:cubicBezTo>
                    <a:close/>
                    <a:moveTo>
                      <a:pt x="14702" y="4118"/>
                    </a:moveTo>
                    <a:cubicBezTo>
                      <a:pt x="14702" y="1944"/>
                      <a:pt x="14570" y="183"/>
                      <a:pt x="14407" y="183"/>
                    </a:cubicBezTo>
                    <a:cubicBezTo>
                      <a:pt x="14245" y="183"/>
                      <a:pt x="14112" y="1948"/>
                      <a:pt x="14112" y="4121"/>
                    </a:cubicBezTo>
                    <a:cubicBezTo>
                      <a:pt x="14112" y="6299"/>
                      <a:pt x="14245" y="8059"/>
                      <a:pt x="14407" y="8056"/>
                    </a:cubicBezTo>
                    <a:cubicBezTo>
                      <a:pt x="14570" y="8059"/>
                      <a:pt x="14702" y="6295"/>
                      <a:pt x="14702" y="4118"/>
                    </a:cubicBezTo>
                    <a:close/>
                    <a:moveTo>
                      <a:pt x="295" y="18670"/>
                    </a:moveTo>
                    <a:cubicBezTo>
                      <a:pt x="458" y="18670"/>
                      <a:pt x="590" y="16906"/>
                      <a:pt x="590" y="14728"/>
                    </a:cubicBezTo>
                    <a:cubicBezTo>
                      <a:pt x="590" y="12555"/>
                      <a:pt x="458" y="10790"/>
                      <a:pt x="295" y="10794"/>
                    </a:cubicBezTo>
                    <a:cubicBezTo>
                      <a:pt x="132" y="10798"/>
                      <a:pt x="0" y="12559"/>
                      <a:pt x="0" y="14732"/>
                    </a:cubicBezTo>
                    <a:cubicBezTo>
                      <a:pt x="1" y="16906"/>
                      <a:pt x="133" y="18670"/>
                      <a:pt x="295" y="18670"/>
                    </a:cubicBezTo>
                    <a:close/>
                    <a:moveTo>
                      <a:pt x="21600" y="17662"/>
                    </a:moveTo>
                    <a:cubicBezTo>
                      <a:pt x="21600" y="15489"/>
                      <a:pt x="21468" y="13724"/>
                      <a:pt x="21305" y="13728"/>
                    </a:cubicBezTo>
                    <a:cubicBezTo>
                      <a:pt x="21142" y="13724"/>
                      <a:pt x="21010" y="15489"/>
                      <a:pt x="21010" y="17666"/>
                    </a:cubicBezTo>
                    <a:cubicBezTo>
                      <a:pt x="21010" y="19839"/>
                      <a:pt x="21142" y="21600"/>
                      <a:pt x="21305" y="21600"/>
                    </a:cubicBezTo>
                    <a:cubicBezTo>
                      <a:pt x="21468" y="21600"/>
                      <a:pt x="21600" y="19835"/>
                      <a:pt x="21600" y="17662"/>
                    </a:cubicBezTo>
                    <a:close/>
                  </a:path>
                </a:pathLst>
              </a:custGeom>
              <a:solidFill>
                <a:srgbClr val="B4B7B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0" name="Google Shape;150;p97"/>
              <p:cNvSpPr/>
              <p:nvPr/>
            </p:nvSpPr>
            <p:spPr>
              <a:xfrm rot="-6789218">
                <a:off x="3889493" y="967655"/>
                <a:ext cx="592472" cy="593011"/>
              </a:xfrm>
              <a:custGeom>
                <a:rect b="b" l="l" r="r" t="t"/>
                <a:pathLst>
                  <a:path extrusionOk="0" h="21594" w="21595">
                    <a:moveTo>
                      <a:pt x="0" y="10801"/>
                    </a:moveTo>
                    <a:cubicBezTo>
                      <a:pt x="-3" y="4838"/>
                      <a:pt x="4829" y="2"/>
                      <a:pt x="10792" y="0"/>
                    </a:cubicBezTo>
                    <a:cubicBezTo>
                      <a:pt x="16755" y="-4"/>
                      <a:pt x="21592" y="4828"/>
                      <a:pt x="21595" y="10791"/>
                    </a:cubicBezTo>
                    <a:cubicBezTo>
                      <a:pt x="21597" y="16753"/>
                      <a:pt x="16765" y="21591"/>
                      <a:pt x="10802" y="21594"/>
                    </a:cubicBezTo>
                    <a:cubicBezTo>
                      <a:pt x="4839" y="21596"/>
                      <a:pt x="4" y="16764"/>
                      <a:pt x="0" y="10801"/>
                    </a:cubicBez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1" name="Google Shape;151;p97"/>
              <p:cNvSpPr/>
              <p:nvPr/>
            </p:nvSpPr>
            <p:spPr>
              <a:xfrm rot="-6789218">
                <a:off x="4496490" y="1112636"/>
                <a:ext cx="34223" cy="34255"/>
              </a:xfrm>
              <a:custGeom>
                <a:rect b="b" l="l" r="r" t="t"/>
                <a:pathLst>
                  <a:path extrusionOk="0" h="21590" w="21600">
                    <a:moveTo>
                      <a:pt x="0" y="10810"/>
                    </a:moveTo>
                    <a:cubicBezTo>
                      <a:pt x="0" y="4840"/>
                      <a:pt x="4829" y="0"/>
                      <a:pt x="10800" y="0"/>
                    </a:cubicBezTo>
                    <a:cubicBezTo>
                      <a:pt x="16760" y="0"/>
                      <a:pt x="21600" y="4829"/>
                      <a:pt x="21600" y="10790"/>
                    </a:cubicBezTo>
                    <a:cubicBezTo>
                      <a:pt x="21600" y="16760"/>
                      <a:pt x="16771" y="21590"/>
                      <a:pt x="10810" y="21590"/>
                    </a:cubicBezTo>
                    <a:cubicBezTo>
                      <a:pt x="4840" y="21600"/>
                      <a:pt x="10" y="16771"/>
                      <a:pt x="0" y="10810"/>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2" name="Google Shape;152;p97"/>
              <p:cNvSpPr/>
              <p:nvPr/>
            </p:nvSpPr>
            <p:spPr>
              <a:xfrm rot="-6789218">
                <a:off x="4211185" y="881055"/>
                <a:ext cx="34222" cy="34254"/>
              </a:xfrm>
              <a:custGeom>
                <a:rect b="b" l="l" r="r" t="t"/>
                <a:pathLst>
                  <a:path extrusionOk="0" h="18915" w="18911">
                    <a:moveTo>
                      <a:pt x="4735" y="17645"/>
                    </a:moveTo>
                    <a:cubicBezTo>
                      <a:pt x="216" y="15040"/>
                      <a:pt x="-1343" y="9262"/>
                      <a:pt x="1261" y="4740"/>
                    </a:cubicBezTo>
                    <a:cubicBezTo>
                      <a:pt x="3883" y="209"/>
                      <a:pt x="9659" y="-1341"/>
                      <a:pt x="14169" y="1264"/>
                    </a:cubicBezTo>
                    <a:cubicBezTo>
                      <a:pt x="18698" y="3869"/>
                      <a:pt x="20257" y="9665"/>
                      <a:pt x="17644" y="14178"/>
                    </a:cubicBezTo>
                    <a:cubicBezTo>
                      <a:pt x="15040" y="18709"/>
                      <a:pt x="9255" y="20259"/>
                      <a:pt x="4735" y="17645"/>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3" name="Google Shape;153;p97"/>
              <p:cNvSpPr/>
              <p:nvPr/>
            </p:nvSpPr>
            <p:spPr>
              <a:xfrm rot="-6789218">
                <a:off x="3880495" y="1022472"/>
                <a:ext cx="34223" cy="34254"/>
              </a:xfrm>
              <a:custGeom>
                <a:rect b="b" l="l" r="r" t="t"/>
                <a:pathLst>
                  <a:path extrusionOk="0" h="18914" w="18913">
                    <a:moveTo>
                      <a:pt x="14194" y="17641"/>
                    </a:moveTo>
                    <a:cubicBezTo>
                      <a:pt x="9674" y="20256"/>
                      <a:pt x="3889" y="18714"/>
                      <a:pt x="1267" y="14191"/>
                    </a:cubicBezTo>
                    <a:cubicBezTo>
                      <a:pt x="-1346" y="9667"/>
                      <a:pt x="213" y="3877"/>
                      <a:pt x="4732" y="1271"/>
                    </a:cubicBezTo>
                    <a:cubicBezTo>
                      <a:pt x="9243" y="-1344"/>
                      <a:pt x="15028" y="207"/>
                      <a:pt x="17632" y="4730"/>
                    </a:cubicBezTo>
                    <a:cubicBezTo>
                      <a:pt x="20254" y="9254"/>
                      <a:pt x="18723" y="15026"/>
                      <a:pt x="14194" y="17641"/>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4" name="Google Shape;154;p97"/>
              <p:cNvSpPr/>
              <p:nvPr/>
            </p:nvSpPr>
            <p:spPr>
              <a:xfrm rot="-6789218">
                <a:off x="3835108" y="1395472"/>
                <a:ext cx="34223" cy="34254"/>
              </a:xfrm>
              <a:custGeom>
                <a:rect b="b" l="l" r="r" t="t"/>
                <a:pathLst>
                  <a:path extrusionOk="0" h="21600" w="21590">
                    <a:moveTo>
                      <a:pt x="21590" y="10800"/>
                    </a:moveTo>
                    <a:cubicBezTo>
                      <a:pt x="21600" y="16760"/>
                      <a:pt x="16773" y="21600"/>
                      <a:pt x="10805" y="21600"/>
                    </a:cubicBezTo>
                    <a:cubicBezTo>
                      <a:pt x="4848" y="21600"/>
                      <a:pt x="0" y="16760"/>
                      <a:pt x="0" y="10810"/>
                    </a:cubicBezTo>
                    <a:cubicBezTo>
                      <a:pt x="0" y="4840"/>
                      <a:pt x="4837" y="10"/>
                      <a:pt x="10805" y="0"/>
                    </a:cubicBezTo>
                    <a:cubicBezTo>
                      <a:pt x="16752" y="0"/>
                      <a:pt x="21590" y="4829"/>
                      <a:pt x="21590" y="10800"/>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5" name="Google Shape;155;p97"/>
              <p:cNvSpPr/>
              <p:nvPr/>
            </p:nvSpPr>
            <p:spPr>
              <a:xfrm rot="-6789218">
                <a:off x="4129432" y="1604587"/>
                <a:ext cx="34223" cy="34255"/>
              </a:xfrm>
              <a:custGeom>
                <a:rect b="b" l="l" r="r" t="t"/>
                <a:pathLst>
                  <a:path extrusionOk="0" h="18910" w="18919">
                    <a:moveTo>
                      <a:pt x="14189" y="1276"/>
                    </a:moveTo>
                    <a:cubicBezTo>
                      <a:pt x="18712" y="3880"/>
                      <a:pt x="20263" y="9656"/>
                      <a:pt x="17648" y="14176"/>
                    </a:cubicBezTo>
                    <a:cubicBezTo>
                      <a:pt x="15051" y="18705"/>
                      <a:pt x="9270" y="20254"/>
                      <a:pt x="4737" y="17641"/>
                    </a:cubicBezTo>
                    <a:cubicBezTo>
                      <a:pt x="205" y="15037"/>
                      <a:pt x="-1337" y="9261"/>
                      <a:pt x="1260" y="4742"/>
                    </a:cubicBezTo>
                    <a:cubicBezTo>
                      <a:pt x="3884" y="203"/>
                      <a:pt x="9665" y="-1346"/>
                      <a:pt x="14189" y="1276"/>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6" name="Google Shape;156;p97"/>
              <p:cNvSpPr/>
              <p:nvPr/>
            </p:nvSpPr>
            <p:spPr>
              <a:xfrm rot="-6789218">
                <a:off x="4460120" y="1463171"/>
                <a:ext cx="34223" cy="34254"/>
              </a:xfrm>
              <a:custGeom>
                <a:rect b="b" l="l" r="r" t="t"/>
                <a:pathLst>
                  <a:path extrusionOk="0" h="18912" w="18921">
                    <a:moveTo>
                      <a:pt x="4732" y="1276"/>
                    </a:moveTo>
                    <a:cubicBezTo>
                      <a:pt x="9256" y="-1347"/>
                      <a:pt x="15028" y="203"/>
                      <a:pt x="17652" y="4734"/>
                    </a:cubicBezTo>
                    <a:cubicBezTo>
                      <a:pt x="20258" y="9247"/>
                      <a:pt x="18726" y="15034"/>
                      <a:pt x="14202" y="17639"/>
                    </a:cubicBezTo>
                    <a:cubicBezTo>
                      <a:pt x="9669" y="20253"/>
                      <a:pt x="3888" y="18712"/>
                      <a:pt x="1273" y="14181"/>
                    </a:cubicBezTo>
                    <a:cubicBezTo>
                      <a:pt x="-1342" y="9659"/>
                      <a:pt x="200" y="3881"/>
                      <a:pt x="4732" y="1276"/>
                    </a:cubicBezTo>
                    <a:close/>
                  </a:path>
                </a:pathLst>
              </a:custGeom>
              <a:solidFill>
                <a:srgbClr val="92939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7" name="Google Shape;157;p97"/>
              <p:cNvSpPr/>
              <p:nvPr/>
            </p:nvSpPr>
            <p:spPr>
              <a:xfrm rot="-6789218">
                <a:off x="1847435" y="864803"/>
                <a:ext cx="265228" cy="2706134"/>
              </a:xfrm>
              <a:custGeom>
                <a:rect b="b" l="l" r="r" t="t"/>
                <a:pathLst>
                  <a:path extrusionOk="0" h="21600" w="21538">
                    <a:moveTo>
                      <a:pt x="0" y="13519"/>
                    </a:moveTo>
                    <a:cubicBezTo>
                      <a:pt x="-28" y="7642"/>
                      <a:pt x="4754" y="0"/>
                      <a:pt x="10703" y="0"/>
                    </a:cubicBezTo>
                    <a:cubicBezTo>
                      <a:pt x="16651" y="0"/>
                      <a:pt x="21509" y="7641"/>
                      <a:pt x="21538" y="13518"/>
                    </a:cubicBezTo>
                    <a:cubicBezTo>
                      <a:pt x="21572" y="20332"/>
                      <a:pt x="18836" y="21599"/>
                      <a:pt x="10808" y="21600"/>
                    </a:cubicBezTo>
                    <a:cubicBezTo>
                      <a:pt x="2782" y="21600"/>
                      <a:pt x="33" y="20333"/>
                      <a:pt x="0" y="13519"/>
                    </a:cubicBez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sp>
            <p:nvSpPr>
              <p:cNvPr id="158" name="Google Shape;158;p97"/>
              <p:cNvSpPr/>
              <p:nvPr/>
            </p:nvSpPr>
            <p:spPr>
              <a:xfrm rot="-6789218">
                <a:off x="665265" y="948785"/>
                <a:ext cx="2844804" cy="2431985"/>
              </a:xfrm>
              <a:custGeom>
                <a:rect b="b" l="l" r="r" t="t"/>
                <a:pathLst>
                  <a:path extrusionOk="0" h="21600" w="21278">
                    <a:moveTo>
                      <a:pt x="5021" y="21598"/>
                    </a:moveTo>
                    <a:cubicBezTo>
                      <a:pt x="5148" y="19302"/>
                      <a:pt x="5366" y="17402"/>
                      <a:pt x="5626" y="15832"/>
                    </a:cubicBezTo>
                    <a:cubicBezTo>
                      <a:pt x="4011" y="14324"/>
                      <a:pt x="3139" y="12403"/>
                      <a:pt x="2542" y="9928"/>
                    </a:cubicBezTo>
                    <a:cubicBezTo>
                      <a:pt x="1570" y="5893"/>
                      <a:pt x="1764" y="11"/>
                      <a:pt x="1222" y="11"/>
                    </a:cubicBezTo>
                    <a:cubicBezTo>
                      <a:pt x="679" y="11"/>
                      <a:pt x="-163" y="3412"/>
                      <a:pt x="28" y="10036"/>
                    </a:cubicBezTo>
                    <a:cubicBezTo>
                      <a:pt x="210" y="16372"/>
                      <a:pt x="2753" y="20456"/>
                      <a:pt x="5021" y="21598"/>
                    </a:cubicBezTo>
                    <a:close/>
                    <a:moveTo>
                      <a:pt x="15643" y="15841"/>
                    </a:moveTo>
                    <a:cubicBezTo>
                      <a:pt x="15903" y="17410"/>
                      <a:pt x="16122" y="19308"/>
                      <a:pt x="16250" y="21600"/>
                    </a:cubicBezTo>
                    <a:cubicBezTo>
                      <a:pt x="18522" y="20468"/>
                      <a:pt x="21074" y="16376"/>
                      <a:pt x="21252" y="10024"/>
                    </a:cubicBezTo>
                    <a:cubicBezTo>
                      <a:pt x="21437" y="3400"/>
                      <a:pt x="20592" y="0"/>
                      <a:pt x="20050" y="0"/>
                    </a:cubicBezTo>
                    <a:cubicBezTo>
                      <a:pt x="19507" y="1"/>
                      <a:pt x="19706" y="5883"/>
                      <a:pt x="18737" y="9919"/>
                    </a:cubicBezTo>
                    <a:cubicBezTo>
                      <a:pt x="18141" y="12403"/>
                      <a:pt x="17267" y="14329"/>
                      <a:pt x="15643" y="15841"/>
                    </a:cubicBez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chemeClr val="dk1"/>
                  </a:solidFill>
                  <a:latin typeface="Arial"/>
                  <a:ea typeface="Arial"/>
                  <a:cs typeface="Arial"/>
                  <a:sym typeface="Arial"/>
                </a:endParaRPr>
              </a:p>
            </p:txBody>
          </p:sp>
        </p:grpSp>
      </p:grpSp>
      <p:sp>
        <p:nvSpPr>
          <p:cNvPr id="159" name="Google Shape;159;p97"/>
          <p:cNvSpPr/>
          <p:nvPr/>
        </p:nvSpPr>
        <p:spPr>
          <a:xfrm>
            <a:off x="7470453" y="5518860"/>
            <a:ext cx="647472" cy="647472"/>
          </a:xfrm>
          <a:prstGeom prst="ellipse">
            <a:avLst/>
          </a:prstGeom>
          <a:solidFill>
            <a:srgbClr val="00B0F0"/>
          </a:solid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IV</a:t>
            </a:r>
            <a:endParaRPr b="0" i="0" sz="2133" u="none" cap="none" strike="noStrike">
              <a:solidFill>
                <a:srgbClr val="FFFFFF"/>
              </a:solidFill>
              <a:latin typeface="Arial"/>
              <a:ea typeface="Arial"/>
              <a:cs typeface="Arial"/>
              <a:sym typeface="Arial"/>
            </a:endParaRPr>
          </a:p>
        </p:txBody>
      </p:sp>
      <p:sp>
        <p:nvSpPr>
          <p:cNvPr id="160" name="Google Shape;160;p97"/>
          <p:cNvSpPr/>
          <p:nvPr/>
        </p:nvSpPr>
        <p:spPr>
          <a:xfrm>
            <a:off x="2228111" y="4211819"/>
            <a:ext cx="647471" cy="647472"/>
          </a:xfrm>
          <a:prstGeom prst="ellipse">
            <a:avLst/>
          </a:prstGeom>
          <a:solidFill>
            <a:srgbClr val="00B0F0"/>
          </a:solid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I</a:t>
            </a:r>
            <a:endParaRPr b="0" i="0" sz="2133" u="none" cap="none" strike="noStrike">
              <a:solidFill>
                <a:srgbClr val="FFFFFF"/>
              </a:solidFill>
              <a:latin typeface="Arial"/>
              <a:ea typeface="Arial"/>
              <a:cs typeface="Arial"/>
              <a:sym typeface="Arial"/>
            </a:endParaRPr>
          </a:p>
        </p:txBody>
      </p:sp>
      <p:sp>
        <p:nvSpPr>
          <p:cNvPr id="161" name="Google Shape;161;p97"/>
          <p:cNvSpPr/>
          <p:nvPr/>
        </p:nvSpPr>
        <p:spPr>
          <a:xfrm>
            <a:off x="4216510" y="4154742"/>
            <a:ext cx="647472" cy="647471"/>
          </a:xfrm>
          <a:prstGeom prst="ellipse">
            <a:avLst/>
          </a:prstGeom>
          <a:solidFill>
            <a:srgbClr val="00B0F0"/>
          </a:solid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II</a:t>
            </a:r>
            <a:endParaRPr b="0" i="0" sz="2133" u="none" cap="none" strike="noStrike">
              <a:solidFill>
                <a:srgbClr val="FFFFFF"/>
              </a:solidFill>
              <a:latin typeface="Arial"/>
              <a:ea typeface="Arial"/>
              <a:cs typeface="Arial"/>
              <a:sym typeface="Arial"/>
            </a:endParaRPr>
          </a:p>
        </p:txBody>
      </p:sp>
      <p:sp>
        <p:nvSpPr>
          <p:cNvPr id="162" name="Google Shape;162;p97"/>
          <p:cNvSpPr/>
          <p:nvPr/>
        </p:nvSpPr>
        <p:spPr>
          <a:xfrm>
            <a:off x="1502400" y="4802213"/>
            <a:ext cx="2098891" cy="7554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rgbClr val="262626"/>
                </a:solidFill>
                <a:latin typeface="Arial"/>
                <a:ea typeface="Arial"/>
                <a:cs typeface="Arial"/>
                <a:sym typeface="Arial"/>
              </a:rPr>
              <a:t>?</a:t>
            </a:r>
            <a:endParaRPr b="0" i="0" sz="1200" u="none" cap="none" strike="noStrike">
              <a:solidFill>
                <a:srgbClr val="262626"/>
              </a:solidFill>
              <a:latin typeface="Arial"/>
              <a:ea typeface="Arial"/>
              <a:cs typeface="Arial"/>
              <a:sym typeface="Arial"/>
            </a:endParaRPr>
          </a:p>
        </p:txBody>
      </p:sp>
      <p:sp>
        <p:nvSpPr>
          <p:cNvPr id="163" name="Google Shape;163;p97"/>
          <p:cNvSpPr/>
          <p:nvPr/>
        </p:nvSpPr>
        <p:spPr>
          <a:xfrm>
            <a:off x="3490800" y="4788638"/>
            <a:ext cx="2098891" cy="7554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rgbClr val="262626"/>
                </a:solidFill>
                <a:latin typeface="Arial"/>
                <a:ea typeface="Arial"/>
                <a:cs typeface="Arial"/>
                <a:sym typeface="Arial"/>
              </a:rPr>
              <a:t>?</a:t>
            </a:r>
            <a:endParaRPr b="0" i="0" sz="1200" u="none" cap="none" strike="noStrike">
              <a:solidFill>
                <a:srgbClr val="262626"/>
              </a:solidFill>
              <a:latin typeface="Arial"/>
              <a:ea typeface="Arial"/>
              <a:cs typeface="Arial"/>
              <a:sym typeface="Arial"/>
            </a:endParaRPr>
          </a:p>
        </p:txBody>
      </p:sp>
      <p:sp>
        <p:nvSpPr>
          <p:cNvPr id="164" name="Google Shape;164;p97"/>
          <p:cNvSpPr/>
          <p:nvPr/>
        </p:nvSpPr>
        <p:spPr>
          <a:xfrm>
            <a:off x="6760180" y="5049656"/>
            <a:ext cx="2098891" cy="7554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rgbClr val="262626"/>
                </a:solidFill>
                <a:latin typeface="Arial"/>
                <a:ea typeface="Arial"/>
                <a:cs typeface="Arial"/>
                <a:sym typeface="Arial"/>
              </a:rPr>
              <a:t>?</a:t>
            </a:r>
            <a:endParaRPr b="0" i="0" sz="1200" u="none" cap="none" strike="noStrike">
              <a:solidFill>
                <a:srgbClr val="262626"/>
              </a:solidFill>
              <a:latin typeface="Arial"/>
              <a:ea typeface="Arial"/>
              <a:cs typeface="Arial"/>
              <a:sym typeface="Arial"/>
            </a:endParaRPr>
          </a:p>
        </p:txBody>
      </p:sp>
      <p:sp>
        <p:nvSpPr>
          <p:cNvPr id="165" name="Google Shape;165;p97"/>
          <p:cNvSpPr/>
          <p:nvPr/>
        </p:nvSpPr>
        <p:spPr>
          <a:xfrm>
            <a:off x="9861016" y="4902660"/>
            <a:ext cx="1102774" cy="418193"/>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rgbClr val="262626"/>
                </a:solidFill>
                <a:latin typeface="Arial"/>
                <a:ea typeface="Arial"/>
                <a:cs typeface="Arial"/>
                <a:sym typeface="Arial"/>
              </a:rPr>
              <a:t>Kahoot!</a:t>
            </a:r>
            <a:endParaRPr b="0" i="0" sz="1200" u="none" cap="none" strike="noStrike">
              <a:solidFill>
                <a:srgbClr val="262626"/>
              </a:solidFill>
              <a:latin typeface="Arial"/>
              <a:ea typeface="Arial"/>
              <a:cs typeface="Arial"/>
              <a:sym typeface="Arial"/>
            </a:endParaRPr>
          </a:p>
        </p:txBody>
      </p:sp>
      <p:sp>
        <p:nvSpPr>
          <p:cNvPr id="166" name="Google Shape;166;p97"/>
          <p:cNvSpPr/>
          <p:nvPr/>
        </p:nvSpPr>
        <p:spPr>
          <a:xfrm>
            <a:off x="5953463" y="4711744"/>
            <a:ext cx="647472" cy="647471"/>
          </a:xfrm>
          <a:prstGeom prst="ellipse">
            <a:avLst/>
          </a:prstGeom>
          <a:solidFill>
            <a:srgbClr val="00B0F0"/>
          </a:solidFill>
          <a:ln>
            <a:noFill/>
          </a:ln>
        </p:spPr>
        <p:txBody>
          <a:bodyPr anchorCtr="0" anchor="ctr" bIns="60950" lIns="60950" spcFirstLastPara="1" rIns="60950" wrap="square" tIns="60950">
            <a:noAutofit/>
          </a:bodyPr>
          <a:lstStyle/>
          <a:p>
            <a:pPr indent="0" lvl="0" marL="0" marR="0" rtl="0" algn="ctr">
              <a:lnSpc>
                <a:spcPct val="100000"/>
              </a:lnSpc>
              <a:spcBef>
                <a:spcPts val="0"/>
              </a:spcBef>
              <a:spcAft>
                <a:spcPts val="0"/>
              </a:spcAft>
              <a:buClr>
                <a:srgbClr val="000000"/>
              </a:buClr>
              <a:buSzPts val="2133"/>
              <a:buFont typeface="Arial"/>
              <a:buNone/>
            </a:pPr>
            <a:r>
              <a:rPr b="0" i="0" lang="en-US" sz="2133" u="none" cap="none" strike="noStrike">
                <a:solidFill>
                  <a:srgbClr val="FFFFFF"/>
                </a:solidFill>
                <a:latin typeface="Arial"/>
                <a:ea typeface="Arial"/>
                <a:cs typeface="Arial"/>
                <a:sym typeface="Arial"/>
              </a:rPr>
              <a:t>III</a:t>
            </a:r>
            <a:endParaRPr b="0" i="0" sz="2133" u="none" cap="none" strike="noStrike">
              <a:solidFill>
                <a:srgbClr val="FFFFFF"/>
              </a:solidFill>
              <a:latin typeface="Arial"/>
              <a:ea typeface="Arial"/>
              <a:cs typeface="Arial"/>
              <a:sym typeface="Arial"/>
            </a:endParaRPr>
          </a:p>
        </p:txBody>
      </p:sp>
      <p:sp>
        <p:nvSpPr>
          <p:cNvPr id="167" name="Google Shape;167;p97"/>
          <p:cNvSpPr/>
          <p:nvPr/>
        </p:nvSpPr>
        <p:spPr>
          <a:xfrm>
            <a:off x="5227206" y="5303284"/>
            <a:ext cx="2098891" cy="7554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000000"/>
              </a:buClr>
              <a:buSzPts val="1800"/>
              <a:buFont typeface="Arial"/>
              <a:buNone/>
            </a:pPr>
            <a:r>
              <a:rPr b="1" i="0" lang="en-US" sz="1800" u="none" cap="none" strike="noStrike">
                <a:solidFill>
                  <a:srgbClr val="262626"/>
                </a:solidFill>
                <a:latin typeface="Arial"/>
                <a:ea typeface="Arial"/>
                <a:cs typeface="Arial"/>
                <a:sym typeface="Arial"/>
              </a:rPr>
              <a:t>?</a:t>
            </a:r>
            <a:endParaRPr b="0" i="0" sz="1200" u="none" cap="none" strike="noStrike">
              <a:solidFill>
                <a:srgbClr val="262626"/>
              </a:solidFill>
              <a:latin typeface="Arial"/>
              <a:ea typeface="Arial"/>
              <a:cs typeface="Arial"/>
              <a:sym typeface="Arial"/>
            </a:endParaRPr>
          </a:p>
        </p:txBody>
      </p:sp>
      <p:sp>
        <p:nvSpPr>
          <p:cNvPr id="168" name="Google Shape;168;p97"/>
          <p:cNvSpPr txBox="1"/>
          <p:nvPr/>
        </p:nvSpPr>
        <p:spPr>
          <a:xfrm>
            <a:off x="6394591" y="538898"/>
            <a:ext cx="6271990"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1F3864"/>
                </a:solidFill>
                <a:latin typeface="Montserrat"/>
                <a:ea typeface="Montserrat"/>
                <a:cs typeface="Montserrat"/>
                <a:sym typeface="Montserrat"/>
              </a:rPr>
              <a:t>MÔN CÔNG NGHỆ PHẦN MỀM</a:t>
            </a:r>
            <a:endParaRPr b="0" i="0" sz="900" u="none" cap="none" strike="noStrike">
              <a:solidFill>
                <a:srgbClr val="1F3864"/>
              </a:solidFill>
              <a:latin typeface="Montserrat"/>
              <a:ea typeface="Montserrat"/>
              <a:cs typeface="Montserrat"/>
              <a:sym typeface="Montserrat"/>
            </a:endParaRPr>
          </a:p>
        </p:txBody>
      </p:sp>
      <p:sp>
        <p:nvSpPr>
          <p:cNvPr id="169" name="Google Shape;169;p97"/>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3</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1250"/>
                                        <p:tgtEl>
                                          <p:spTgt spid="136"/>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750"/>
                                        <p:tgtEl>
                                          <p:spTgt spid="162"/>
                                        </p:tgtEl>
                                      </p:cBhvr>
                                    </p:animEffect>
                                  </p:childTnLst>
                                </p:cTn>
                              </p:par>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750"/>
                                        <p:tgtEl>
                                          <p:spTgt spid="163"/>
                                        </p:tgtEl>
                                      </p:cBhvr>
                                    </p:animEffect>
                                  </p:childTnLst>
                                </p:cTn>
                              </p:par>
                              <p:par>
                                <p:cTn fill="hold" nodeType="with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750"/>
                                        <p:tgtEl>
                                          <p:spTgt spid="164"/>
                                        </p:tgtEl>
                                      </p:cBhvr>
                                    </p:animEffec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750"/>
                                        <p:tgtEl>
                                          <p:spTgt spid="165"/>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75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Notes by Freepik Stories #svg #png #illustration#work #document #record  #annotations #memo #notes #outl… | Illustration, Flat illustration,  Powerpoint slide designs" id="174" name="Google Shape;174;p3"/>
          <p:cNvPicPr preferRelativeResize="0"/>
          <p:nvPr/>
        </p:nvPicPr>
        <p:blipFill rotWithShape="1">
          <a:blip r:embed="rId3">
            <a:alphaModFix/>
          </a:blip>
          <a:srcRect b="0" l="0" r="0" t="0"/>
          <a:stretch/>
        </p:blipFill>
        <p:spPr>
          <a:xfrm>
            <a:off x="7171929" y="350431"/>
            <a:ext cx="6034172" cy="6392341"/>
          </a:xfrm>
          <a:prstGeom prst="rect">
            <a:avLst/>
          </a:prstGeom>
          <a:noFill/>
          <a:ln>
            <a:noFill/>
          </a:ln>
        </p:spPr>
      </p:pic>
      <p:grpSp>
        <p:nvGrpSpPr>
          <p:cNvPr id="175" name="Google Shape;175;p3"/>
          <p:cNvGrpSpPr/>
          <p:nvPr/>
        </p:nvGrpSpPr>
        <p:grpSpPr>
          <a:xfrm>
            <a:off x="601047" y="1269745"/>
            <a:ext cx="4893365" cy="1060659"/>
            <a:chOff x="642754" y="1800088"/>
            <a:chExt cx="4981462" cy="1060658"/>
          </a:xfrm>
        </p:grpSpPr>
        <p:grpSp>
          <p:nvGrpSpPr>
            <p:cNvPr id="176" name="Google Shape;176;p3"/>
            <p:cNvGrpSpPr/>
            <p:nvPr/>
          </p:nvGrpSpPr>
          <p:grpSpPr>
            <a:xfrm>
              <a:off x="642754" y="1871705"/>
              <a:ext cx="4981462" cy="989041"/>
              <a:chOff x="508001" y="1871705"/>
              <a:chExt cx="4981462" cy="989041"/>
            </a:xfrm>
          </p:grpSpPr>
          <p:sp>
            <p:nvSpPr>
              <p:cNvPr id="177" name="Google Shape;177;p3"/>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78" name="Google Shape;178;p3"/>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179" name="Google Shape;179;p3"/>
            <p:cNvGrpSpPr/>
            <p:nvPr/>
          </p:nvGrpSpPr>
          <p:grpSpPr>
            <a:xfrm>
              <a:off x="842194" y="1800088"/>
              <a:ext cx="894759" cy="905639"/>
              <a:chOff x="707441" y="1800088"/>
              <a:chExt cx="894759" cy="905639"/>
            </a:xfrm>
          </p:grpSpPr>
          <p:sp>
            <p:nvSpPr>
              <p:cNvPr id="180" name="Google Shape;180;p3"/>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181" name="Google Shape;181;p3"/>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182" name="Google Shape;182;p3"/>
            <p:cNvSpPr txBox="1"/>
            <p:nvPr/>
          </p:nvSpPr>
          <p:spPr>
            <a:xfrm>
              <a:off x="2797442" y="2252591"/>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TỔNG QUAN</a:t>
              </a:r>
              <a:endParaRPr b="1" i="0" sz="2400" u="none" cap="none" strike="noStrike">
                <a:solidFill>
                  <a:srgbClr val="2F5496"/>
                </a:solidFill>
                <a:latin typeface="Be Vietnam Pro"/>
                <a:ea typeface="Be Vietnam Pro"/>
                <a:cs typeface="Be Vietnam Pro"/>
                <a:sym typeface="Be Vietnam Pro"/>
              </a:endParaRPr>
            </a:p>
          </p:txBody>
        </p:sp>
      </p:grpSp>
      <p:grpSp>
        <p:nvGrpSpPr>
          <p:cNvPr id="183" name="Google Shape;183;p3"/>
          <p:cNvGrpSpPr/>
          <p:nvPr/>
        </p:nvGrpSpPr>
        <p:grpSpPr>
          <a:xfrm>
            <a:off x="1356210" y="2485943"/>
            <a:ext cx="5177940" cy="1060659"/>
            <a:chOff x="642754" y="2975872"/>
            <a:chExt cx="4981462" cy="1060658"/>
          </a:xfrm>
        </p:grpSpPr>
        <p:grpSp>
          <p:nvGrpSpPr>
            <p:cNvPr id="184" name="Google Shape;184;p3"/>
            <p:cNvGrpSpPr/>
            <p:nvPr/>
          </p:nvGrpSpPr>
          <p:grpSpPr>
            <a:xfrm>
              <a:off x="642754" y="3047489"/>
              <a:ext cx="4981462" cy="989041"/>
              <a:chOff x="508001" y="3047489"/>
              <a:chExt cx="4981462" cy="989041"/>
            </a:xfrm>
          </p:grpSpPr>
          <p:sp>
            <p:nvSpPr>
              <p:cNvPr id="185" name="Google Shape;185;p3"/>
              <p:cNvSpPr/>
              <p:nvPr/>
            </p:nvSpPr>
            <p:spPr>
              <a:xfrm>
                <a:off x="508001" y="3047489"/>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86" name="Google Shape;186;p3"/>
              <p:cNvSpPr/>
              <p:nvPr/>
            </p:nvSpPr>
            <p:spPr>
              <a:xfrm>
                <a:off x="5358014" y="304748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187" name="Google Shape;187;p3"/>
            <p:cNvGrpSpPr/>
            <p:nvPr/>
          </p:nvGrpSpPr>
          <p:grpSpPr>
            <a:xfrm>
              <a:off x="842194" y="2975872"/>
              <a:ext cx="894759" cy="905639"/>
              <a:chOff x="707441" y="2975872"/>
              <a:chExt cx="894759" cy="905639"/>
            </a:xfrm>
          </p:grpSpPr>
          <p:sp>
            <p:nvSpPr>
              <p:cNvPr id="188" name="Google Shape;188;p3"/>
              <p:cNvSpPr/>
              <p:nvPr/>
            </p:nvSpPr>
            <p:spPr>
              <a:xfrm>
                <a:off x="778151" y="297587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a:t>
                </a:r>
                <a:endParaRPr b="1" i="0" sz="3200" u="none" cap="none" strike="noStrike">
                  <a:solidFill>
                    <a:schemeClr val="dk1"/>
                  </a:solidFill>
                  <a:latin typeface="Calibri"/>
                  <a:ea typeface="Calibri"/>
                  <a:cs typeface="Calibri"/>
                  <a:sym typeface="Calibri"/>
                </a:endParaRPr>
              </a:p>
            </p:txBody>
          </p:sp>
          <p:sp>
            <p:nvSpPr>
              <p:cNvPr id="189" name="Google Shape;189;p3"/>
              <p:cNvSpPr/>
              <p:nvPr/>
            </p:nvSpPr>
            <p:spPr>
              <a:xfrm>
                <a:off x="707441" y="297587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1391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190" name="Google Shape;190;p3"/>
            <p:cNvSpPr txBox="1"/>
            <p:nvPr/>
          </p:nvSpPr>
          <p:spPr>
            <a:xfrm>
              <a:off x="2797442" y="3428375"/>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YÊU CẦU</a:t>
              </a:r>
              <a:endParaRPr b="1" i="0" sz="2400" u="none" cap="none" strike="noStrike">
                <a:solidFill>
                  <a:srgbClr val="2F5496"/>
                </a:solidFill>
                <a:latin typeface="Be Vietnam Pro"/>
                <a:ea typeface="Be Vietnam Pro"/>
                <a:cs typeface="Be Vietnam Pro"/>
                <a:sym typeface="Be Vietnam Pro"/>
              </a:endParaRPr>
            </a:p>
          </p:txBody>
        </p:sp>
      </p:grpSp>
      <p:grpSp>
        <p:nvGrpSpPr>
          <p:cNvPr id="191" name="Google Shape;191;p3"/>
          <p:cNvGrpSpPr/>
          <p:nvPr/>
        </p:nvGrpSpPr>
        <p:grpSpPr>
          <a:xfrm>
            <a:off x="2079504" y="3741368"/>
            <a:ext cx="6034172" cy="1060659"/>
            <a:chOff x="642754" y="4151657"/>
            <a:chExt cx="5540174" cy="1060658"/>
          </a:xfrm>
        </p:grpSpPr>
        <p:grpSp>
          <p:nvGrpSpPr>
            <p:cNvPr id="192" name="Google Shape;192;p3"/>
            <p:cNvGrpSpPr/>
            <p:nvPr/>
          </p:nvGrpSpPr>
          <p:grpSpPr>
            <a:xfrm>
              <a:off x="642754" y="4223274"/>
              <a:ext cx="5289581" cy="989041"/>
              <a:chOff x="508001" y="4223274"/>
              <a:chExt cx="5289581" cy="989041"/>
            </a:xfrm>
          </p:grpSpPr>
          <p:sp>
            <p:nvSpPr>
              <p:cNvPr id="193" name="Google Shape;193;p3"/>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94" name="Google Shape;194;p3"/>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195" name="Google Shape;195;p3"/>
            <p:cNvGrpSpPr/>
            <p:nvPr/>
          </p:nvGrpSpPr>
          <p:grpSpPr>
            <a:xfrm>
              <a:off x="842194" y="4151657"/>
              <a:ext cx="894759" cy="905639"/>
              <a:chOff x="707441" y="4151657"/>
              <a:chExt cx="894759" cy="905639"/>
            </a:xfrm>
          </p:grpSpPr>
          <p:sp>
            <p:nvSpPr>
              <p:cNvPr id="196" name="Google Shape;196;p3"/>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197" name="Google Shape;197;p3"/>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198" name="Google Shape;198;p3"/>
            <p:cNvSpPr txBox="1"/>
            <p:nvPr/>
          </p:nvSpPr>
          <p:spPr>
            <a:xfrm>
              <a:off x="1939112" y="4465013"/>
              <a:ext cx="4243816" cy="531146"/>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grpSp>
        <p:nvGrpSpPr>
          <p:cNvPr id="199" name="Google Shape;199;p3"/>
          <p:cNvGrpSpPr/>
          <p:nvPr/>
        </p:nvGrpSpPr>
        <p:grpSpPr>
          <a:xfrm>
            <a:off x="3173704" y="5017506"/>
            <a:ext cx="6086497" cy="1115170"/>
            <a:chOff x="642754" y="5327442"/>
            <a:chExt cx="5557932" cy="1115169"/>
          </a:xfrm>
        </p:grpSpPr>
        <p:grpSp>
          <p:nvGrpSpPr>
            <p:cNvPr id="200" name="Google Shape;200;p3"/>
            <p:cNvGrpSpPr/>
            <p:nvPr/>
          </p:nvGrpSpPr>
          <p:grpSpPr>
            <a:xfrm>
              <a:off x="642754" y="5399059"/>
              <a:ext cx="5557932" cy="989041"/>
              <a:chOff x="508001" y="5399059"/>
              <a:chExt cx="5557932" cy="989041"/>
            </a:xfrm>
          </p:grpSpPr>
          <p:sp>
            <p:nvSpPr>
              <p:cNvPr id="201" name="Google Shape;201;p3"/>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02" name="Google Shape;202;p3"/>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203" name="Google Shape;203;p3"/>
            <p:cNvGrpSpPr/>
            <p:nvPr/>
          </p:nvGrpSpPr>
          <p:grpSpPr>
            <a:xfrm>
              <a:off x="842194" y="5327442"/>
              <a:ext cx="894759" cy="905639"/>
              <a:chOff x="707441" y="5327442"/>
              <a:chExt cx="894759" cy="905639"/>
            </a:xfrm>
          </p:grpSpPr>
          <p:sp>
            <p:nvSpPr>
              <p:cNvPr id="204" name="Google Shape;204;p3"/>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205" name="Google Shape;205;p3"/>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206" name="Google Shape;206;p3"/>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 CHIẾN LƯỢC &amp;</a:t>
              </a:r>
              <a:endParaRPr b="0" i="0" sz="1400" u="none" cap="none" strike="noStrike">
                <a:solidFill>
                  <a:srgbClr val="000000"/>
                </a:solidFill>
                <a:latin typeface="Be Vietnam Pro"/>
                <a:ea typeface="Be Vietnam Pro"/>
                <a:cs typeface="Be Vietnam Pro"/>
                <a:sym typeface="Be Vietnam Pro"/>
              </a:endParaRPr>
            </a:p>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
        <p:nvSpPr>
          <p:cNvPr id="207" name="Google Shape;207;p3"/>
          <p:cNvSpPr txBox="1"/>
          <p:nvPr/>
        </p:nvSpPr>
        <p:spPr>
          <a:xfrm>
            <a:off x="4438837" y="295273"/>
            <a:ext cx="3314326" cy="58473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F5496"/>
                </a:solidFill>
                <a:latin typeface="Montserrat"/>
                <a:ea typeface="Montserrat"/>
                <a:cs typeface="Montserrat"/>
                <a:sym typeface="Montserrat"/>
              </a:rPr>
              <a:t>MỤC LỤC</a:t>
            </a:r>
            <a:endParaRPr b="0" i="0" sz="1050" u="none" cap="none" strike="noStrike">
              <a:solidFill>
                <a:srgbClr val="2F5496"/>
              </a:solidFill>
              <a:latin typeface="Montserrat"/>
              <a:ea typeface="Montserrat"/>
              <a:cs typeface="Montserrat"/>
              <a:sym typeface="Montserrat"/>
            </a:endParaRPr>
          </a:p>
        </p:txBody>
      </p:sp>
      <p:sp>
        <p:nvSpPr>
          <p:cNvPr id="208" name="Google Shape;208;p3"/>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4</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125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1250"/>
                                        <p:tgtEl>
                                          <p:spTgt spid="1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1250"/>
                                        <p:tgtEl>
                                          <p:spTgt spid="1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1250"/>
                                        <p:tgtEl>
                                          <p:spTgt spid="19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p:nvPr/>
        </p:nvSpPr>
        <p:spPr>
          <a:xfrm>
            <a:off x="-2403664" y="1334921"/>
            <a:ext cx="4807328" cy="4807332"/>
          </a:xfrm>
          <a:prstGeom prst="ellipse">
            <a:avLst/>
          </a:prstGeom>
          <a:solidFill>
            <a:srgbClr val="0070C0"/>
          </a:solidFill>
          <a:ln>
            <a:noFill/>
          </a:ln>
        </p:spPr>
        <p:txBody>
          <a:bodyPr anchorCtr="0" anchor="t" bIns="22850" lIns="45700" spcFirstLastPara="1" rIns="45700"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214" name="Google Shape;214;p7"/>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215" name="Google Shape;215;p7"/>
          <p:cNvGrpSpPr/>
          <p:nvPr/>
        </p:nvGrpSpPr>
        <p:grpSpPr>
          <a:xfrm>
            <a:off x="8634714" y="211205"/>
            <a:ext cx="3429618" cy="730238"/>
            <a:chOff x="642754" y="1800088"/>
            <a:chExt cx="4981462" cy="1060658"/>
          </a:xfrm>
        </p:grpSpPr>
        <p:grpSp>
          <p:nvGrpSpPr>
            <p:cNvPr id="216" name="Google Shape;216;p7"/>
            <p:cNvGrpSpPr/>
            <p:nvPr/>
          </p:nvGrpSpPr>
          <p:grpSpPr>
            <a:xfrm>
              <a:off x="642754" y="1871705"/>
              <a:ext cx="4981462" cy="989041"/>
              <a:chOff x="508001" y="1871705"/>
              <a:chExt cx="4981462" cy="989041"/>
            </a:xfrm>
          </p:grpSpPr>
          <p:sp>
            <p:nvSpPr>
              <p:cNvPr id="217" name="Google Shape;217;p7"/>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18" name="Google Shape;218;p7"/>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219" name="Google Shape;219;p7"/>
            <p:cNvGrpSpPr/>
            <p:nvPr/>
          </p:nvGrpSpPr>
          <p:grpSpPr>
            <a:xfrm>
              <a:off x="842194" y="1800088"/>
              <a:ext cx="894759" cy="905639"/>
              <a:chOff x="707441" y="1800088"/>
              <a:chExt cx="894759" cy="905639"/>
            </a:xfrm>
          </p:grpSpPr>
          <p:sp>
            <p:nvSpPr>
              <p:cNvPr id="220" name="Google Shape;220;p7"/>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221" name="Google Shape;221;p7"/>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222" name="Google Shape;222;p7"/>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223" name="Google Shape;223;p7"/>
          <p:cNvSpPr/>
          <p:nvPr/>
        </p:nvSpPr>
        <p:spPr>
          <a:xfrm>
            <a:off x="2924526" y="14352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1</a:t>
            </a:r>
            <a:endParaRPr b="1" i="0" sz="2400" u="none" cap="none" strike="noStrike">
              <a:solidFill>
                <a:schemeClr val="lt1"/>
              </a:solidFill>
              <a:latin typeface="Arial"/>
              <a:ea typeface="Arial"/>
              <a:cs typeface="Arial"/>
              <a:sym typeface="Arial"/>
            </a:endParaRPr>
          </a:p>
        </p:txBody>
      </p:sp>
      <p:sp>
        <p:nvSpPr>
          <p:cNvPr id="224" name="Google Shape;224;p7"/>
          <p:cNvSpPr/>
          <p:nvPr/>
        </p:nvSpPr>
        <p:spPr>
          <a:xfrm>
            <a:off x="3682132" y="2382256"/>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2</a:t>
            </a:r>
            <a:endParaRPr b="1" i="0" sz="2400" u="none" cap="none" strike="noStrike">
              <a:solidFill>
                <a:schemeClr val="lt1"/>
              </a:solidFill>
              <a:latin typeface="Arial"/>
              <a:ea typeface="Arial"/>
              <a:cs typeface="Arial"/>
              <a:sym typeface="Arial"/>
            </a:endParaRPr>
          </a:p>
        </p:txBody>
      </p:sp>
      <p:sp>
        <p:nvSpPr>
          <p:cNvPr id="225" name="Google Shape;225;p7"/>
          <p:cNvSpPr/>
          <p:nvPr/>
        </p:nvSpPr>
        <p:spPr>
          <a:xfrm>
            <a:off x="3990061" y="3375554"/>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3</a:t>
            </a:r>
            <a:endParaRPr b="1" i="0" sz="2400" u="none" cap="none" strike="noStrike">
              <a:solidFill>
                <a:schemeClr val="lt1"/>
              </a:solidFill>
              <a:latin typeface="Arial"/>
              <a:ea typeface="Arial"/>
              <a:cs typeface="Arial"/>
              <a:sym typeface="Arial"/>
            </a:endParaRPr>
          </a:p>
        </p:txBody>
      </p:sp>
      <p:sp>
        <p:nvSpPr>
          <p:cNvPr id="226" name="Google Shape;226;p7"/>
          <p:cNvSpPr/>
          <p:nvPr/>
        </p:nvSpPr>
        <p:spPr>
          <a:xfrm>
            <a:off x="3664191" y="4368852"/>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4</a:t>
            </a:r>
            <a:endParaRPr b="1" i="0" sz="2400" u="none" cap="none" strike="noStrike">
              <a:solidFill>
                <a:schemeClr val="lt1"/>
              </a:solidFill>
              <a:latin typeface="Arial"/>
              <a:ea typeface="Arial"/>
              <a:cs typeface="Arial"/>
              <a:sym typeface="Arial"/>
            </a:endParaRPr>
          </a:p>
        </p:txBody>
      </p:sp>
      <p:sp>
        <p:nvSpPr>
          <p:cNvPr id="227" name="Google Shape;227;p7"/>
          <p:cNvSpPr/>
          <p:nvPr/>
        </p:nvSpPr>
        <p:spPr>
          <a:xfrm>
            <a:off x="2929734" y="5315850"/>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5</a:t>
            </a:r>
            <a:endParaRPr b="1" i="0" sz="2400" u="none" cap="none" strike="noStrike">
              <a:solidFill>
                <a:schemeClr val="lt1"/>
              </a:solidFill>
              <a:latin typeface="Arial"/>
              <a:ea typeface="Arial"/>
              <a:cs typeface="Arial"/>
              <a:sym typeface="Arial"/>
            </a:endParaRPr>
          </a:p>
        </p:txBody>
      </p:sp>
      <p:cxnSp>
        <p:nvCxnSpPr>
          <p:cNvPr id="228" name="Google Shape;228;p7"/>
          <p:cNvCxnSpPr>
            <a:stCxn id="223" idx="6"/>
          </p:cNvCxnSpPr>
          <p:nvPr/>
        </p:nvCxnSpPr>
        <p:spPr>
          <a:xfrm flipH="1" rot="10800000">
            <a:off x="3682132" y="1805661"/>
            <a:ext cx="2290500" cy="8400"/>
          </a:xfrm>
          <a:prstGeom prst="straightConnector1">
            <a:avLst/>
          </a:prstGeom>
          <a:noFill/>
          <a:ln cap="flat" cmpd="sng" w="9525">
            <a:solidFill>
              <a:srgbClr val="3E6EC2"/>
            </a:solidFill>
            <a:prstDash val="dashDot"/>
            <a:round/>
            <a:headEnd len="sm" w="sm" type="none"/>
            <a:tailEnd len="sm" w="sm" type="none"/>
          </a:ln>
        </p:spPr>
      </p:cxnSp>
      <p:cxnSp>
        <p:nvCxnSpPr>
          <p:cNvPr id="229" name="Google Shape;229;p7"/>
          <p:cNvCxnSpPr>
            <a:stCxn id="224" idx="6"/>
          </p:cNvCxnSpPr>
          <p:nvPr/>
        </p:nvCxnSpPr>
        <p:spPr>
          <a:xfrm flipH="1" rot="10800000">
            <a:off x="4439738" y="2743059"/>
            <a:ext cx="1567500" cy="18000"/>
          </a:xfrm>
          <a:prstGeom prst="straightConnector1">
            <a:avLst/>
          </a:prstGeom>
          <a:noFill/>
          <a:ln cap="flat" cmpd="sng" w="9525">
            <a:solidFill>
              <a:srgbClr val="3E6EC2"/>
            </a:solidFill>
            <a:prstDash val="dashDot"/>
            <a:round/>
            <a:headEnd len="sm" w="sm" type="none"/>
            <a:tailEnd len="sm" w="sm" type="none"/>
          </a:ln>
        </p:spPr>
      </p:cxnSp>
      <p:cxnSp>
        <p:nvCxnSpPr>
          <p:cNvPr id="230" name="Google Shape;230;p7"/>
          <p:cNvCxnSpPr>
            <a:stCxn id="226" idx="6"/>
          </p:cNvCxnSpPr>
          <p:nvPr/>
        </p:nvCxnSpPr>
        <p:spPr>
          <a:xfrm>
            <a:off x="4421797" y="4747655"/>
            <a:ext cx="1674300" cy="21000"/>
          </a:xfrm>
          <a:prstGeom prst="straightConnector1">
            <a:avLst/>
          </a:prstGeom>
          <a:noFill/>
          <a:ln cap="flat" cmpd="sng" w="9525">
            <a:solidFill>
              <a:srgbClr val="3E6EC2"/>
            </a:solidFill>
            <a:prstDash val="dashDot"/>
            <a:round/>
            <a:headEnd len="sm" w="sm" type="none"/>
            <a:tailEnd len="sm" w="sm" type="none"/>
          </a:ln>
        </p:spPr>
      </p:cxnSp>
      <p:cxnSp>
        <p:nvCxnSpPr>
          <p:cNvPr id="231" name="Google Shape;231;p7"/>
          <p:cNvCxnSpPr>
            <a:stCxn id="227" idx="6"/>
          </p:cNvCxnSpPr>
          <p:nvPr/>
        </p:nvCxnSpPr>
        <p:spPr>
          <a:xfrm>
            <a:off x="3687340" y="5694653"/>
            <a:ext cx="2408700" cy="23100"/>
          </a:xfrm>
          <a:prstGeom prst="straightConnector1">
            <a:avLst/>
          </a:prstGeom>
          <a:noFill/>
          <a:ln cap="flat" cmpd="sng" w="9525">
            <a:solidFill>
              <a:srgbClr val="3E6EC2"/>
            </a:solidFill>
            <a:prstDash val="dashDot"/>
            <a:round/>
            <a:headEnd len="sm" w="sm" type="none"/>
            <a:tailEnd len="sm" w="sm" type="none"/>
          </a:ln>
        </p:spPr>
      </p:cxnSp>
      <p:cxnSp>
        <p:nvCxnSpPr>
          <p:cNvPr id="232" name="Google Shape;232;p7"/>
          <p:cNvCxnSpPr>
            <a:stCxn id="225" idx="6"/>
          </p:cNvCxnSpPr>
          <p:nvPr/>
        </p:nvCxnSpPr>
        <p:spPr>
          <a:xfrm flipH="1" rot="10800000">
            <a:off x="4747667" y="3748957"/>
            <a:ext cx="1325400" cy="5400"/>
          </a:xfrm>
          <a:prstGeom prst="straightConnector1">
            <a:avLst/>
          </a:prstGeom>
          <a:noFill/>
          <a:ln cap="flat" cmpd="sng" w="9525">
            <a:solidFill>
              <a:srgbClr val="3E6EC2"/>
            </a:solidFill>
            <a:prstDash val="dashDot"/>
            <a:round/>
            <a:headEnd len="sm" w="sm" type="none"/>
            <a:tailEnd len="sm" w="sm" type="none"/>
          </a:ln>
        </p:spPr>
      </p:cxnSp>
      <p:cxnSp>
        <p:nvCxnSpPr>
          <p:cNvPr id="233" name="Google Shape;233;p7"/>
          <p:cNvCxnSpPr>
            <a:stCxn id="213" idx="6"/>
            <a:endCxn id="223" idx="2"/>
          </p:cNvCxnSpPr>
          <p:nvPr/>
        </p:nvCxnSpPr>
        <p:spPr>
          <a:xfrm flipH="1" rot="10800000">
            <a:off x="2403664" y="1814087"/>
            <a:ext cx="520800" cy="1924500"/>
          </a:xfrm>
          <a:prstGeom prst="straightConnector1">
            <a:avLst/>
          </a:prstGeom>
          <a:noFill/>
          <a:ln cap="flat" cmpd="sng" w="9525">
            <a:solidFill>
              <a:srgbClr val="3E6EC2"/>
            </a:solidFill>
            <a:prstDash val="solid"/>
            <a:round/>
            <a:headEnd len="sm" w="sm" type="none"/>
            <a:tailEnd len="sm" w="sm" type="none"/>
          </a:ln>
        </p:spPr>
      </p:cxnSp>
      <p:cxnSp>
        <p:nvCxnSpPr>
          <p:cNvPr id="234" name="Google Shape;234;p7"/>
          <p:cNvCxnSpPr>
            <a:stCxn id="213" idx="6"/>
            <a:endCxn id="224" idx="2"/>
          </p:cNvCxnSpPr>
          <p:nvPr/>
        </p:nvCxnSpPr>
        <p:spPr>
          <a:xfrm flipH="1" rot="10800000">
            <a:off x="2403664" y="2761187"/>
            <a:ext cx="1278600" cy="977400"/>
          </a:xfrm>
          <a:prstGeom prst="straightConnector1">
            <a:avLst/>
          </a:prstGeom>
          <a:noFill/>
          <a:ln cap="flat" cmpd="sng" w="9525">
            <a:solidFill>
              <a:srgbClr val="3E6EC2"/>
            </a:solidFill>
            <a:prstDash val="solid"/>
            <a:round/>
            <a:headEnd len="sm" w="sm" type="none"/>
            <a:tailEnd len="sm" w="sm" type="none"/>
          </a:ln>
        </p:spPr>
      </p:cxnSp>
      <p:cxnSp>
        <p:nvCxnSpPr>
          <p:cNvPr id="235" name="Google Shape;235;p7"/>
          <p:cNvCxnSpPr>
            <a:stCxn id="213" idx="6"/>
            <a:endCxn id="225" idx="2"/>
          </p:cNvCxnSpPr>
          <p:nvPr/>
        </p:nvCxnSpPr>
        <p:spPr>
          <a:xfrm>
            <a:off x="2403664" y="3738587"/>
            <a:ext cx="1586400" cy="15900"/>
          </a:xfrm>
          <a:prstGeom prst="straightConnector1">
            <a:avLst/>
          </a:prstGeom>
          <a:noFill/>
          <a:ln cap="flat" cmpd="sng" w="9525">
            <a:solidFill>
              <a:srgbClr val="3E6EC2"/>
            </a:solidFill>
            <a:prstDash val="solid"/>
            <a:round/>
            <a:headEnd len="sm" w="sm" type="none"/>
            <a:tailEnd len="sm" w="sm" type="none"/>
          </a:ln>
        </p:spPr>
      </p:cxnSp>
      <p:cxnSp>
        <p:nvCxnSpPr>
          <p:cNvPr id="236" name="Google Shape;236;p7"/>
          <p:cNvCxnSpPr>
            <a:stCxn id="213" idx="6"/>
            <a:endCxn id="226" idx="2"/>
          </p:cNvCxnSpPr>
          <p:nvPr/>
        </p:nvCxnSpPr>
        <p:spPr>
          <a:xfrm>
            <a:off x="2403664" y="3738587"/>
            <a:ext cx="1260600" cy="1009200"/>
          </a:xfrm>
          <a:prstGeom prst="straightConnector1">
            <a:avLst/>
          </a:prstGeom>
          <a:noFill/>
          <a:ln cap="flat" cmpd="sng" w="9525">
            <a:solidFill>
              <a:srgbClr val="3E6EC2"/>
            </a:solidFill>
            <a:prstDash val="solid"/>
            <a:round/>
            <a:headEnd len="sm" w="sm" type="none"/>
            <a:tailEnd len="sm" w="sm" type="none"/>
          </a:ln>
        </p:spPr>
      </p:cxnSp>
      <p:cxnSp>
        <p:nvCxnSpPr>
          <p:cNvPr id="237" name="Google Shape;237;p7"/>
          <p:cNvCxnSpPr>
            <a:stCxn id="213" idx="6"/>
            <a:endCxn id="227" idx="1"/>
          </p:cNvCxnSpPr>
          <p:nvPr/>
        </p:nvCxnSpPr>
        <p:spPr>
          <a:xfrm>
            <a:off x="2403664" y="3738587"/>
            <a:ext cx="636900" cy="1688100"/>
          </a:xfrm>
          <a:prstGeom prst="straightConnector1">
            <a:avLst/>
          </a:prstGeom>
          <a:noFill/>
          <a:ln cap="flat" cmpd="sng" w="9525">
            <a:solidFill>
              <a:srgbClr val="3E6EC2"/>
            </a:solidFill>
            <a:prstDash val="solid"/>
            <a:round/>
            <a:headEnd len="sm" w="sm" type="none"/>
            <a:tailEnd len="sm" w="sm" type="none"/>
          </a:ln>
        </p:spPr>
      </p:cxnSp>
      <p:sp>
        <p:nvSpPr>
          <p:cNvPr id="238" name="Google Shape;238;p7"/>
          <p:cNvSpPr txBox="1"/>
          <p:nvPr/>
        </p:nvSpPr>
        <p:spPr>
          <a:xfrm>
            <a:off x="6214215" y="16209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Khái niệm, mục đích</a:t>
            </a:r>
            <a:endParaRPr b="1" i="0" sz="1800" u="none" cap="none" strike="noStrike">
              <a:solidFill>
                <a:srgbClr val="2F5496"/>
              </a:solidFill>
              <a:latin typeface="Be Vietnam Pro"/>
              <a:ea typeface="Be Vietnam Pro"/>
              <a:cs typeface="Be Vietnam Pro"/>
              <a:sym typeface="Be Vietnam Pro"/>
            </a:endParaRPr>
          </a:p>
        </p:txBody>
      </p:sp>
      <p:sp>
        <p:nvSpPr>
          <p:cNvPr id="239" name="Google Shape;239;p7"/>
          <p:cNvSpPr txBox="1"/>
          <p:nvPr/>
        </p:nvSpPr>
        <p:spPr>
          <a:xfrm>
            <a:off x="6214214" y="2558534"/>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bắt đầu kiểm thử</a:t>
            </a:r>
            <a:endParaRPr b="1" i="0" sz="2400" u="none" cap="none" strike="noStrike">
              <a:solidFill>
                <a:srgbClr val="2F5496"/>
              </a:solidFill>
              <a:latin typeface="Be Vietnam Pro"/>
              <a:ea typeface="Be Vietnam Pro"/>
              <a:cs typeface="Be Vietnam Pro"/>
              <a:sym typeface="Be Vietnam Pro"/>
            </a:endParaRPr>
          </a:p>
        </p:txBody>
      </p:sp>
      <p:sp>
        <p:nvSpPr>
          <p:cNvPr id="240" name="Google Shape;240;p7"/>
          <p:cNvSpPr txBox="1"/>
          <p:nvPr/>
        </p:nvSpPr>
        <p:spPr>
          <a:xfrm>
            <a:off x="6214214" y="3553921"/>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kết thúc kiểm thử</a:t>
            </a:r>
            <a:endParaRPr b="1" i="0" sz="1800" u="none" cap="none" strike="noStrike">
              <a:solidFill>
                <a:srgbClr val="2F5496"/>
              </a:solidFill>
              <a:latin typeface="Be Vietnam Pro"/>
              <a:ea typeface="Be Vietnam Pro"/>
              <a:cs typeface="Be Vietnam Pro"/>
              <a:sym typeface="Be Vietnam Pro"/>
            </a:endParaRPr>
          </a:p>
        </p:txBody>
      </p:sp>
      <p:sp>
        <p:nvSpPr>
          <p:cNvPr id="241" name="Google Shape;241;p7"/>
          <p:cNvSpPr txBox="1"/>
          <p:nvPr/>
        </p:nvSpPr>
        <p:spPr>
          <a:xfrm>
            <a:off x="6214214" y="4573546"/>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Ai sẽ là người kiểm thử</a:t>
            </a:r>
            <a:endParaRPr b="1" i="0" sz="1800" u="none" cap="none" strike="noStrike">
              <a:solidFill>
                <a:srgbClr val="2F5496"/>
              </a:solidFill>
              <a:latin typeface="Be Vietnam Pro"/>
              <a:ea typeface="Be Vietnam Pro"/>
              <a:cs typeface="Be Vietnam Pro"/>
              <a:sym typeface="Be Vietnam Pro"/>
            </a:endParaRPr>
          </a:p>
        </p:txBody>
      </p:sp>
      <p:sp>
        <p:nvSpPr>
          <p:cNvPr id="242" name="Google Shape;242;p7"/>
          <p:cNvSpPr txBox="1"/>
          <p:nvPr/>
        </p:nvSpPr>
        <p:spPr>
          <a:xfrm>
            <a:off x="6214213" y="5509987"/>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Lợi ích</a:t>
            </a:r>
            <a:endParaRPr b="1" i="0" sz="1800" u="none" cap="none" strike="noStrike">
              <a:solidFill>
                <a:srgbClr val="2F5496"/>
              </a:solidFill>
              <a:latin typeface="Be Vietnam Pro"/>
              <a:ea typeface="Be Vietnam Pro"/>
              <a:cs typeface="Be Vietnam Pro"/>
              <a:sym typeface="Be Vietnam Pro"/>
            </a:endParaRPr>
          </a:p>
        </p:txBody>
      </p:sp>
      <p:sp>
        <p:nvSpPr>
          <p:cNvPr id="243" name="Google Shape;243;p7"/>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5</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750"/>
                                        <p:tgtEl>
                                          <p:spTgt spid="21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750"/>
                                        <p:tgtEl>
                                          <p:spTgt spid="213"/>
                                        </p:tgtEl>
                                        <p:attrNameLst>
                                          <p:attrName>ppt_x</p:attrName>
                                        </p:attrNameLst>
                                      </p:cBhvr>
                                      <p:tavLst>
                                        <p:tav fmla="" tm="0">
                                          <p:val>
                                            <p:strVal val="#ppt_x-1"/>
                                          </p:val>
                                        </p:tav>
                                        <p:tav fmla="" tm="100000">
                                          <p:val>
                                            <p:strVal val="#ppt_x"/>
                                          </p:val>
                                        </p:tav>
                                      </p:tavLst>
                                    </p:anim>
                                  </p:childTnLst>
                                </p:cTn>
                              </p:par>
                            </p:childTnLst>
                          </p:cTn>
                        </p:par>
                        <p:par>
                          <p:cTn fill="hold">
                            <p:stCondLst>
                              <p:cond delay="75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par>
                          <p:cTn fill="hold">
                            <p:stCondLst>
                              <p:cond delay="1250"/>
                            </p:stCondLst>
                            <p:childTnLst>
                              <p:par>
                                <p:cTn fill="hold" nodeType="after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childTnLst>
                          </p:cTn>
                        </p:par>
                        <p:par>
                          <p:cTn fill="hold">
                            <p:stCondLst>
                              <p:cond delay="1750"/>
                            </p:stCondLst>
                            <p:childTnLst>
                              <p:par>
                                <p:cTn fill="hold" nodeType="afterEffect" presetClass="entr" presetID="10" presetSubtype="0">
                                  <p:stCondLst>
                                    <p:cond delay="0"/>
                                  </p:stCondLst>
                                  <p:childTnLst>
                                    <p:set>
                                      <p:cBhvr>
                                        <p:cTn dur="1" fill="hold">
                                          <p:stCondLst>
                                            <p:cond delay="0"/>
                                          </p:stCondLst>
                                        </p:cTn>
                                        <p:tgtEl>
                                          <p:spTgt spid="228"/>
                                        </p:tgtEl>
                                        <p:attrNameLst>
                                          <p:attrName>style.visibility</p:attrName>
                                        </p:attrNameLst>
                                      </p:cBhvr>
                                      <p:to>
                                        <p:strVal val="visible"/>
                                      </p:to>
                                    </p:set>
                                    <p:animEffect filter="fade" transition="in">
                                      <p:cBhvr>
                                        <p:cTn dur="500"/>
                                        <p:tgtEl>
                                          <p:spTgt spid="228"/>
                                        </p:tgtEl>
                                      </p:cBhvr>
                                    </p:animEffect>
                                  </p:childTnLst>
                                </p:cTn>
                              </p:par>
                            </p:childTnLst>
                          </p:cTn>
                        </p:par>
                        <p:par>
                          <p:cTn fill="hold">
                            <p:stCondLst>
                              <p:cond delay="2250"/>
                            </p:stCondLst>
                            <p:childTnLst>
                              <p:par>
                                <p:cTn fill="hold" nodeType="after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par>
                          <p:cTn fill="hold">
                            <p:stCondLst>
                              <p:cond delay="3250"/>
                            </p:stCondLst>
                            <p:childTnLst>
                              <p:par>
                                <p:cTn fill="hold" nodeType="after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229"/>
                                        </p:tgtEl>
                                        <p:attrNameLst>
                                          <p:attrName>style.visibility</p:attrName>
                                        </p:attrNameLst>
                                      </p:cBhvr>
                                      <p:to>
                                        <p:strVal val="visible"/>
                                      </p:to>
                                    </p:set>
                                    <p:animEffect filter="fade" transition="in">
                                      <p:cBhvr>
                                        <p:cTn dur="500"/>
                                        <p:tgtEl>
                                          <p:spTgt spid="229"/>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par>
                          <p:cTn fill="hold">
                            <p:stCondLst>
                              <p:cond delay="5250"/>
                            </p:stCondLst>
                            <p:childTnLst>
                              <p:par>
                                <p:cTn fill="hold" nodeType="after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par>
                          <p:cTn fill="hold">
                            <p:stCondLst>
                              <p:cond delay="575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par>
                          <p:cTn fill="hold">
                            <p:stCondLst>
                              <p:cond delay="6250"/>
                            </p:stCondLst>
                            <p:childTnLst>
                              <p:par>
                                <p:cTn fill="hold" nodeType="after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par>
                          <p:cTn fill="hold">
                            <p:stCondLst>
                              <p:cond delay="6750"/>
                            </p:stCondLst>
                            <p:childTnLst>
                              <p:par>
                                <p:cTn fill="hold" nodeType="after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par>
                          <p:cTn fill="hold">
                            <p:stCondLst>
                              <p:cond delay="7250"/>
                            </p:stCondLst>
                            <p:childTnLst>
                              <p:par>
                                <p:cTn fill="hold" nodeType="after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par>
                          <p:cTn fill="hold">
                            <p:stCondLst>
                              <p:cond delay="7750"/>
                            </p:stCondLst>
                            <p:childTnLst>
                              <p:par>
                                <p:cTn fill="hold" nodeType="after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par>
                          <p:cTn fill="hold">
                            <p:stCondLst>
                              <p:cond delay="825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500"/>
                                        <p:tgtEl>
                                          <p:spTgt spid="241"/>
                                        </p:tgtEl>
                                      </p:cBhvr>
                                    </p:animEffect>
                                  </p:childTnLst>
                                </p:cTn>
                              </p:par>
                            </p:childTnLst>
                          </p:cTn>
                        </p:par>
                        <p:par>
                          <p:cTn fill="hold">
                            <p:stCondLst>
                              <p:cond delay="8750"/>
                            </p:stCondLst>
                            <p:childTnLst>
                              <p:par>
                                <p:cTn fill="hold" nodeType="after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par>
                          <p:cTn fill="hold">
                            <p:stCondLst>
                              <p:cond delay="9250"/>
                            </p:stCondLst>
                            <p:childTnLst>
                              <p:par>
                                <p:cTn fill="hold" nodeType="after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par>
                          <p:cTn fill="hold">
                            <p:stCondLst>
                              <p:cond delay="9750"/>
                            </p:stCondLst>
                            <p:childTnLst>
                              <p:par>
                                <p:cTn fill="hold" nodeType="after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par>
                          <p:cTn fill="hold">
                            <p:stCondLst>
                              <p:cond delay="10250"/>
                            </p:stCondLst>
                            <p:childTnLst>
                              <p:par>
                                <p:cTn fill="hold" nodeType="after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98"/>
          <p:cNvSpPr txBox="1"/>
          <p:nvPr/>
        </p:nvSpPr>
        <p:spPr>
          <a:xfrm>
            <a:off x="819307" y="2999923"/>
            <a:ext cx="326586"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2000" u="none" cap="none" strike="noStrike">
                <a:solidFill>
                  <a:schemeClr val="lt1"/>
                </a:solidFill>
                <a:latin typeface="Be Vietnam Pro"/>
                <a:ea typeface="Be Vietnam Pro"/>
                <a:cs typeface="Be Vietnam Pro"/>
                <a:sym typeface="Be Vietnam Pro"/>
              </a:rPr>
              <a:t>I</a:t>
            </a:r>
            <a:endParaRPr b="0" i="0" sz="2000" u="none" cap="none" strike="noStrike">
              <a:solidFill>
                <a:schemeClr val="lt1"/>
              </a:solidFill>
              <a:latin typeface="Be Vietnam Pro"/>
              <a:ea typeface="Be Vietnam Pro"/>
              <a:cs typeface="Be Vietnam Pro"/>
              <a:sym typeface="Be Vietnam Pro"/>
            </a:endParaRPr>
          </a:p>
        </p:txBody>
      </p:sp>
      <p:grpSp>
        <p:nvGrpSpPr>
          <p:cNvPr id="249" name="Google Shape;249;p98"/>
          <p:cNvGrpSpPr/>
          <p:nvPr/>
        </p:nvGrpSpPr>
        <p:grpSpPr>
          <a:xfrm>
            <a:off x="8634714" y="211205"/>
            <a:ext cx="3429618" cy="730238"/>
            <a:chOff x="642754" y="1800088"/>
            <a:chExt cx="4981462" cy="1060658"/>
          </a:xfrm>
        </p:grpSpPr>
        <p:grpSp>
          <p:nvGrpSpPr>
            <p:cNvPr id="250" name="Google Shape;250;p98"/>
            <p:cNvGrpSpPr/>
            <p:nvPr/>
          </p:nvGrpSpPr>
          <p:grpSpPr>
            <a:xfrm>
              <a:off x="642754" y="1871705"/>
              <a:ext cx="4981462" cy="989041"/>
              <a:chOff x="508001" y="1871705"/>
              <a:chExt cx="4981462" cy="989041"/>
            </a:xfrm>
          </p:grpSpPr>
          <p:sp>
            <p:nvSpPr>
              <p:cNvPr id="251" name="Google Shape;251;p98"/>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52" name="Google Shape;252;p98"/>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253" name="Google Shape;253;p98"/>
            <p:cNvGrpSpPr/>
            <p:nvPr/>
          </p:nvGrpSpPr>
          <p:grpSpPr>
            <a:xfrm>
              <a:off x="842194" y="1800088"/>
              <a:ext cx="894759" cy="905639"/>
              <a:chOff x="707441" y="1800088"/>
              <a:chExt cx="894759" cy="905639"/>
            </a:xfrm>
          </p:grpSpPr>
          <p:sp>
            <p:nvSpPr>
              <p:cNvPr id="254" name="Google Shape;254;p98"/>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255" name="Google Shape;255;p98"/>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256" name="Google Shape;256;p98"/>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257" name="Google Shape;257;p98"/>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1</a:t>
            </a:r>
            <a:endParaRPr b="1" i="0" sz="2400" u="none" cap="none" strike="noStrike">
              <a:solidFill>
                <a:schemeClr val="lt1"/>
              </a:solidFill>
              <a:latin typeface="Arial"/>
              <a:ea typeface="Arial"/>
              <a:cs typeface="Arial"/>
              <a:sym typeface="Arial"/>
            </a:endParaRPr>
          </a:p>
        </p:txBody>
      </p:sp>
      <p:cxnSp>
        <p:nvCxnSpPr>
          <p:cNvPr id="258" name="Google Shape;258;p98"/>
          <p:cNvCxnSpPr>
            <a:stCxn id="257"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259" name="Google Shape;259;p98"/>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Khái niệm, mục đích</a:t>
            </a:r>
            <a:endParaRPr b="1" i="0" sz="1800" u="none" cap="none" strike="noStrike">
              <a:solidFill>
                <a:srgbClr val="2F5496"/>
              </a:solidFill>
              <a:latin typeface="Be Vietnam Pro"/>
              <a:ea typeface="Be Vietnam Pro"/>
              <a:cs typeface="Be Vietnam Pro"/>
              <a:sym typeface="Be Vietnam Pro"/>
            </a:endParaRPr>
          </a:p>
        </p:txBody>
      </p:sp>
      <p:sp>
        <p:nvSpPr>
          <p:cNvPr id="260" name="Google Shape;260;p98"/>
          <p:cNvSpPr txBox="1"/>
          <p:nvPr/>
        </p:nvSpPr>
        <p:spPr>
          <a:xfrm>
            <a:off x="651569" y="2360057"/>
            <a:ext cx="6156960" cy="1231106"/>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Kiểm thử phần mềm </a:t>
            </a:r>
            <a:r>
              <a:rPr b="0" i="0" lang="en-US" sz="2000" u="none" cap="none" strike="noStrike">
                <a:solidFill>
                  <a:schemeClr val="dk1"/>
                </a:solidFill>
                <a:latin typeface="Be Vietnam Pro"/>
                <a:ea typeface="Be Vietnam Pro"/>
                <a:cs typeface="Be Vietnam Pro"/>
                <a:sym typeface="Be Vietnam Pro"/>
              </a:rPr>
              <a:t>là phương pháp kiểm tra xem sản phẩm phần mềm trên thực tế có phù hợp với các yêu cầu đã đặt ra hay không, và đảm bảo rằng nó không có lỗi.</a:t>
            </a:r>
            <a:endParaRPr b="0" i="0" sz="2000" u="none" cap="none" strike="noStrike">
              <a:solidFill>
                <a:schemeClr val="dk1"/>
              </a:solidFill>
              <a:latin typeface="Be Vietnam Pro"/>
              <a:ea typeface="Be Vietnam Pro"/>
              <a:cs typeface="Be Vietnam Pro"/>
              <a:sym typeface="Be Vietnam Pro"/>
            </a:endParaRPr>
          </a:p>
        </p:txBody>
      </p:sp>
      <p:pic>
        <p:nvPicPr>
          <p:cNvPr id="261" name="Google Shape;261;p98"/>
          <p:cNvPicPr preferRelativeResize="0"/>
          <p:nvPr/>
        </p:nvPicPr>
        <p:blipFill rotWithShape="1">
          <a:blip r:embed="rId3">
            <a:alphaModFix/>
          </a:blip>
          <a:srcRect b="0" l="0" r="0" t="0"/>
          <a:stretch/>
        </p:blipFill>
        <p:spPr>
          <a:xfrm>
            <a:off x="6953589" y="2166851"/>
            <a:ext cx="5654909" cy="3541222"/>
          </a:xfrm>
          <a:prstGeom prst="rect">
            <a:avLst/>
          </a:prstGeom>
          <a:noFill/>
          <a:ln>
            <a:noFill/>
          </a:ln>
        </p:spPr>
      </p:pic>
      <p:sp>
        <p:nvSpPr>
          <p:cNvPr id="262" name="Google Shape;262;p98"/>
          <p:cNvSpPr txBox="1"/>
          <p:nvPr/>
        </p:nvSpPr>
        <p:spPr>
          <a:xfrm>
            <a:off x="651569" y="4156772"/>
            <a:ext cx="6156960"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Mục đích chính của kiểm thử phần mềm </a:t>
            </a:r>
            <a:r>
              <a:rPr b="0" i="0" lang="en-US" sz="2000" u="none" cap="none" strike="noStrike">
                <a:solidFill>
                  <a:schemeClr val="dk1"/>
                </a:solidFill>
                <a:latin typeface="Be Vietnam Pro"/>
                <a:ea typeface="Be Vietnam Pro"/>
                <a:cs typeface="Be Vietnam Pro"/>
                <a:sym typeface="Be Vietnam Pro"/>
              </a:rPr>
              <a:t>là phát hiện ra các lỗi phần mềm để từ đó khắc phục và sửa chữa.</a:t>
            </a:r>
            <a:endParaRPr b="0" i="0" sz="2000" u="none" cap="none" strike="noStrike">
              <a:solidFill>
                <a:schemeClr val="dk1"/>
              </a:solidFill>
              <a:latin typeface="Be Vietnam Pro"/>
              <a:ea typeface="Be Vietnam Pro"/>
              <a:cs typeface="Be Vietnam Pro"/>
              <a:sym typeface="Be Vietnam Pro"/>
            </a:endParaRPr>
          </a:p>
        </p:txBody>
      </p:sp>
      <p:sp>
        <p:nvSpPr>
          <p:cNvPr id="263" name="Google Shape;263;p98"/>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6</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750"/>
                                        <p:tgtEl>
                                          <p:spTgt spid="259"/>
                                        </p:tgtEl>
                                      </p:cBhvr>
                                    </p:animEffect>
                                  </p:childTnLst>
                                </p:cTn>
                              </p:par>
                            </p:childTnLst>
                          </p:cTn>
                        </p:par>
                        <p:par>
                          <p:cTn fill="hold">
                            <p:stCondLst>
                              <p:cond delay="1750"/>
                            </p:stCondLst>
                            <p:childTnLst>
                              <p:par>
                                <p:cTn fill="hold" nodeType="afterEffect" presetClass="entr" presetID="10" presetSubtype="0">
                                  <p:stCondLst>
                                    <p:cond delay="50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par>
                          <p:cTn fill="hold">
                            <p:stCondLst>
                              <p:cond delay="2750"/>
                            </p:stCondLst>
                            <p:childTnLst>
                              <p:par>
                                <p:cTn fill="hold" nodeType="afterEffect" presetClass="entr" presetID="10" presetSubtype="0">
                                  <p:stCondLst>
                                    <p:cond delay="50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99"/>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269" name="Google Shape;269;p99"/>
          <p:cNvGrpSpPr/>
          <p:nvPr/>
        </p:nvGrpSpPr>
        <p:grpSpPr>
          <a:xfrm>
            <a:off x="8634714" y="211205"/>
            <a:ext cx="3429618" cy="730238"/>
            <a:chOff x="642754" y="1800088"/>
            <a:chExt cx="4981462" cy="1060658"/>
          </a:xfrm>
        </p:grpSpPr>
        <p:grpSp>
          <p:nvGrpSpPr>
            <p:cNvPr id="270" name="Google Shape;270;p99"/>
            <p:cNvGrpSpPr/>
            <p:nvPr/>
          </p:nvGrpSpPr>
          <p:grpSpPr>
            <a:xfrm>
              <a:off x="642754" y="1871705"/>
              <a:ext cx="4981462" cy="989041"/>
              <a:chOff x="508001" y="1871705"/>
              <a:chExt cx="4981462" cy="989041"/>
            </a:xfrm>
          </p:grpSpPr>
          <p:sp>
            <p:nvSpPr>
              <p:cNvPr id="271" name="Google Shape;271;p99"/>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72" name="Google Shape;272;p99"/>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273" name="Google Shape;273;p99"/>
            <p:cNvGrpSpPr/>
            <p:nvPr/>
          </p:nvGrpSpPr>
          <p:grpSpPr>
            <a:xfrm>
              <a:off x="842194" y="1800088"/>
              <a:ext cx="894759" cy="905639"/>
              <a:chOff x="707441" y="1800088"/>
              <a:chExt cx="894759" cy="905639"/>
            </a:xfrm>
          </p:grpSpPr>
          <p:sp>
            <p:nvSpPr>
              <p:cNvPr id="274" name="Google Shape;274;p99"/>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275" name="Google Shape;275;p99"/>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276" name="Google Shape;276;p99"/>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277" name="Google Shape;277;p99"/>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1</a:t>
            </a:r>
            <a:endParaRPr b="1" i="0" sz="2400" u="none" cap="none" strike="noStrike">
              <a:solidFill>
                <a:schemeClr val="lt1"/>
              </a:solidFill>
              <a:latin typeface="Arial"/>
              <a:ea typeface="Arial"/>
              <a:cs typeface="Arial"/>
              <a:sym typeface="Arial"/>
            </a:endParaRPr>
          </a:p>
        </p:txBody>
      </p:sp>
      <p:cxnSp>
        <p:nvCxnSpPr>
          <p:cNvPr id="278" name="Google Shape;278;p99"/>
          <p:cNvCxnSpPr>
            <a:stCxn id="277"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279" name="Google Shape;279;p99"/>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Khái niệm, mục đích</a:t>
            </a:r>
            <a:endParaRPr b="1" i="0" sz="1800" u="none" cap="none" strike="noStrike">
              <a:solidFill>
                <a:srgbClr val="2F5496"/>
              </a:solidFill>
              <a:latin typeface="Be Vietnam Pro"/>
              <a:ea typeface="Be Vietnam Pro"/>
              <a:cs typeface="Be Vietnam Pro"/>
              <a:sym typeface="Be Vietnam Pro"/>
            </a:endParaRPr>
          </a:p>
        </p:txBody>
      </p:sp>
      <p:sp>
        <p:nvSpPr>
          <p:cNvPr id="280" name="Google Shape;280;p99"/>
          <p:cNvSpPr txBox="1"/>
          <p:nvPr/>
        </p:nvSpPr>
        <p:spPr>
          <a:xfrm>
            <a:off x="5556234" y="2815257"/>
            <a:ext cx="6156960"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Để xác minh xem tất cả các yêu cầu đã được thực hiện đầy đủ chưa?</a:t>
            </a:r>
            <a:endParaRPr b="0" i="0" sz="2000" u="none" cap="none" strike="noStrike">
              <a:solidFill>
                <a:schemeClr val="dk1"/>
              </a:solidFill>
              <a:latin typeface="Be Vietnam Pro"/>
              <a:ea typeface="Be Vietnam Pro"/>
              <a:cs typeface="Be Vietnam Pro"/>
              <a:sym typeface="Be Vietnam Pro"/>
            </a:endParaRPr>
          </a:p>
        </p:txBody>
      </p:sp>
      <p:pic>
        <p:nvPicPr>
          <p:cNvPr id="281" name="Google Shape;281;p99"/>
          <p:cNvPicPr preferRelativeResize="0"/>
          <p:nvPr/>
        </p:nvPicPr>
        <p:blipFill rotWithShape="1">
          <a:blip r:embed="rId3">
            <a:alphaModFix/>
          </a:blip>
          <a:srcRect b="0" l="0" r="0" t="0"/>
          <a:stretch/>
        </p:blipFill>
        <p:spPr>
          <a:xfrm>
            <a:off x="679841" y="1795518"/>
            <a:ext cx="4270375" cy="4107679"/>
          </a:xfrm>
          <a:prstGeom prst="rect">
            <a:avLst/>
          </a:prstGeom>
          <a:noFill/>
          <a:ln>
            <a:noFill/>
          </a:ln>
        </p:spPr>
      </p:pic>
      <p:sp>
        <p:nvSpPr>
          <p:cNvPr id="282" name="Google Shape;282;p99"/>
          <p:cNvSpPr txBox="1"/>
          <p:nvPr/>
        </p:nvSpPr>
        <p:spPr>
          <a:xfrm>
            <a:off x="5556234" y="4969694"/>
            <a:ext cx="6156960"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Để giảm </a:t>
            </a:r>
            <a:r>
              <a:rPr b="1" i="0" lang="en-US" sz="2000" u="none" cap="none" strike="noStrike">
                <a:solidFill>
                  <a:schemeClr val="dk1"/>
                </a:solidFill>
                <a:latin typeface="Be Vietnam Pro"/>
                <a:ea typeface="Be Vietnam Pro"/>
                <a:cs typeface="Be Vietnam Pro"/>
                <a:sym typeface="Be Vietnam Pro"/>
              </a:rPr>
              <a:t>mức độ rủ ro </a:t>
            </a:r>
            <a:r>
              <a:rPr b="0" i="0" lang="en-US" sz="2000" u="none" cap="none" strike="noStrike">
                <a:solidFill>
                  <a:schemeClr val="dk1"/>
                </a:solidFill>
                <a:latin typeface="Be Vietnam Pro"/>
                <a:ea typeface="Be Vietnam Pro"/>
                <a:cs typeface="Be Vietnam Pro"/>
                <a:sym typeface="Be Vietnam Pro"/>
              </a:rPr>
              <a:t>về </a:t>
            </a:r>
            <a:r>
              <a:rPr b="1" i="0" lang="en-US" sz="2000" u="none" cap="none" strike="noStrike">
                <a:solidFill>
                  <a:schemeClr val="dk1"/>
                </a:solidFill>
                <a:latin typeface="Be Vietnam Pro"/>
                <a:ea typeface="Be Vietnam Pro"/>
                <a:cs typeface="Be Vietnam Pro"/>
                <a:sym typeface="Be Vietnam Pro"/>
              </a:rPr>
              <a:t>chất lượng phần mềm</a:t>
            </a:r>
            <a:r>
              <a:rPr b="0" i="0" lang="en-US" sz="2000" u="none" cap="none" strike="noStrike">
                <a:solidFill>
                  <a:schemeClr val="dk1"/>
                </a:solidFill>
                <a:latin typeface="Be Vietnam Pro"/>
                <a:ea typeface="Be Vietnam Pro"/>
                <a:cs typeface="Be Vietnam Pro"/>
                <a:sym typeface="Be Vietnam Pro"/>
              </a:rPr>
              <a:t> không đầy đủ.</a:t>
            </a:r>
            <a:endParaRPr b="0" i="0" sz="2000" u="none" cap="none" strike="noStrike">
              <a:solidFill>
                <a:schemeClr val="dk1"/>
              </a:solidFill>
              <a:latin typeface="Be Vietnam Pro"/>
              <a:ea typeface="Be Vietnam Pro"/>
              <a:cs typeface="Be Vietnam Pro"/>
              <a:sym typeface="Be Vietnam Pro"/>
            </a:endParaRPr>
          </a:p>
        </p:txBody>
      </p:sp>
      <p:sp>
        <p:nvSpPr>
          <p:cNvPr id="283" name="Google Shape;283;p99"/>
          <p:cNvSpPr txBox="1"/>
          <p:nvPr/>
        </p:nvSpPr>
        <p:spPr>
          <a:xfrm>
            <a:off x="5556234" y="3738587"/>
            <a:ext cx="6156960"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Để xác thực xem đối tượng test đã hoàn thành chưa và hoạt động như người dùng và các bên liên quan khác mong đợi chưa?.</a:t>
            </a:r>
            <a:endParaRPr b="0" i="0" sz="2000" u="none" cap="none" strike="noStrike">
              <a:solidFill>
                <a:schemeClr val="dk1"/>
              </a:solidFill>
              <a:latin typeface="Be Vietnam Pro"/>
              <a:ea typeface="Be Vietnam Pro"/>
              <a:cs typeface="Be Vietnam Pro"/>
              <a:sym typeface="Be Vietnam Pro"/>
            </a:endParaRPr>
          </a:p>
        </p:txBody>
      </p:sp>
      <p:sp>
        <p:nvSpPr>
          <p:cNvPr id="284" name="Google Shape;284;p99"/>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7</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750"/>
                                        <p:tgtEl>
                                          <p:spTgt spid="279"/>
                                        </p:tgtEl>
                                      </p:cBhvr>
                                    </p:animEffect>
                                  </p:childTnLst>
                                </p:cTn>
                              </p:par>
                            </p:childTnLst>
                          </p:cTn>
                        </p:par>
                        <p:par>
                          <p:cTn fill="hold">
                            <p:stCondLst>
                              <p:cond delay="1750"/>
                            </p:stCondLst>
                            <p:childTnLst>
                              <p:par>
                                <p:cTn fill="hold" nodeType="afterEffect" presetClass="entr" presetID="10" presetSubtype="0">
                                  <p:stCondLst>
                                    <p:cond delay="75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par>
                          <p:cTn fill="hold">
                            <p:stCondLst>
                              <p:cond delay="2750"/>
                            </p:stCondLst>
                            <p:childTnLst>
                              <p:par>
                                <p:cTn fill="hold" nodeType="afterEffect" presetClass="entr" presetID="10" presetSubtype="0">
                                  <p:stCondLst>
                                    <p:cond delay="25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par>
                          <p:cTn fill="hold">
                            <p:stCondLst>
                              <p:cond delay="3750"/>
                            </p:stCondLst>
                            <p:childTnLst>
                              <p:par>
                                <p:cTn fill="hold" nodeType="afterEffect" presetClass="entr" presetID="10" presetSubtype="0">
                                  <p:stCondLst>
                                    <p:cond delay="250"/>
                                  </p:stCondLst>
                                  <p:childTnLst>
                                    <p:set>
                                      <p:cBhvr>
                                        <p:cTn dur="1" fill="hold">
                                          <p:stCondLst>
                                            <p:cond delay="0"/>
                                          </p:stCondLst>
                                        </p:cTn>
                                        <p:tgtEl>
                                          <p:spTgt spid="282"/>
                                        </p:tgtEl>
                                        <p:attrNameLst>
                                          <p:attrName>style.visibility</p:attrName>
                                        </p:attrNameLst>
                                      </p:cBhvr>
                                      <p:to>
                                        <p:strVal val="visible"/>
                                      </p:to>
                                    </p:set>
                                    <p:animEffect filter="fade" transition="in">
                                      <p:cBhvr>
                                        <p:cTn dur="10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00"/>
          <p:cNvSpPr txBox="1"/>
          <p:nvPr/>
        </p:nvSpPr>
        <p:spPr>
          <a:xfrm>
            <a:off x="819307" y="2999923"/>
            <a:ext cx="326586"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2000" u="none" cap="none" strike="noStrike">
                <a:solidFill>
                  <a:schemeClr val="lt1"/>
                </a:solidFill>
                <a:latin typeface="Be Vietnam Pro"/>
                <a:ea typeface="Be Vietnam Pro"/>
                <a:cs typeface="Be Vietnam Pro"/>
                <a:sym typeface="Be Vietnam Pro"/>
              </a:rPr>
              <a:t>I</a:t>
            </a:r>
            <a:endParaRPr b="0" i="0" sz="2000" u="none" cap="none" strike="noStrike">
              <a:solidFill>
                <a:schemeClr val="lt1"/>
              </a:solidFill>
              <a:latin typeface="Be Vietnam Pro"/>
              <a:ea typeface="Be Vietnam Pro"/>
              <a:cs typeface="Be Vietnam Pro"/>
              <a:sym typeface="Be Vietnam Pro"/>
            </a:endParaRPr>
          </a:p>
        </p:txBody>
      </p:sp>
      <p:grpSp>
        <p:nvGrpSpPr>
          <p:cNvPr id="290" name="Google Shape;290;p100"/>
          <p:cNvGrpSpPr/>
          <p:nvPr/>
        </p:nvGrpSpPr>
        <p:grpSpPr>
          <a:xfrm>
            <a:off x="8634714" y="211205"/>
            <a:ext cx="3429618" cy="730238"/>
            <a:chOff x="642754" y="1800088"/>
            <a:chExt cx="4981462" cy="1060658"/>
          </a:xfrm>
        </p:grpSpPr>
        <p:grpSp>
          <p:nvGrpSpPr>
            <p:cNvPr id="291" name="Google Shape;291;p100"/>
            <p:cNvGrpSpPr/>
            <p:nvPr/>
          </p:nvGrpSpPr>
          <p:grpSpPr>
            <a:xfrm>
              <a:off x="642754" y="1871705"/>
              <a:ext cx="4981462" cy="989041"/>
              <a:chOff x="508001" y="1871705"/>
              <a:chExt cx="4981462" cy="989041"/>
            </a:xfrm>
          </p:grpSpPr>
          <p:sp>
            <p:nvSpPr>
              <p:cNvPr id="292" name="Google Shape;292;p100"/>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293" name="Google Shape;293;p100"/>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294" name="Google Shape;294;p100"/>
            <p:cNvGrpSpPr/>
            <p:nvPr/>
          </p:nvGrpSpPr>
          <p:grpSpPr>
            <a:xfrm>
              <a:off x="842194" y="1800088"/>
              <a:ext cx="894759" cy="905639"/>
              <a:chOff x="707441" y="1800088"/>
              <a:chExt cx="894759" cy="905639"/>
            </a:xfrm>
          </p:grpSpPr>
          <p:sp>
            <p:nvSpPr>
              <p:cNvPr id="295" name="Google Shape;295;p100"/>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296" name="Google Shape;296;p100"/>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297" name="Google Shape;297;p100"/>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298" name="Google Shape;298;p100"/>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2</a:t>
            </a:r>
            <a:endParaRPr b="1" i="0" sz="2400" u="none" cap="none" strike="noStrike">
              <a:solidFill>
                <a:schemeClr val="lt1"/>
              </a:solidFill>
              <a:latin typeface="Arial"/>
              <a:ea typeface="Arial"/>
              <a:cs typeface="Arial"/>
              <a:sym typeface="Arial"/>
            </a:endParaRPr>
          </a:p>
        </p:txBody>
      </p:sp>
      <p:cxnSp>
        <p:nvCxnSpPr>
          <p:cNvPr id="299" name="Google Shape;299;p100"/>
          <p:cNvCxnSpPr>
            <a:stCxn id="298"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300" name="Google Shape;300;p100"/>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bắt đầu kiểm thử</a:t>
            </a:r>
            <a:endParaRPr b="1" i="0" sz="2400" u="none" cap="none" strike="noStrike">
              <a:solidFill>
                <a:srgbClr val="2F5496"/>
              </a:solidFill>
              <a:latin typeface="Be Vietnam Pro"/>
              <a:ea typeface="Be Vietnam Pro"/>
              <a:cs typeface="Be Vietnam Pro"/>
              <a:sym typeface="Be Vietnam Pro"/>
            </a:endParaRPr>
          </a:p>
        </p:txBody>
      </p:sp>
      <p:sp>
        <p:nvSpPr>
          <p:cNvPr id="301" name="Google Shape;301;p100"/>
          <p:cNvSpPr txBox="1"/>
          <p:nvPr/>
        </p:nvSpPr>
        <p:spPr>
          <a:xfrm>
            <a:off x="651569" y="2360057"/>
            <a:ext cx="6156960"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Việc kiểm thử sớm</a:t>
            </a:r>
            <a:r>
              <a:rPr b="0" i="0" lang="en-US" sz="2000" u="none" cap="none" strike="noStrike">
                <a:solidFill>
                  <a:schemeClr val="dk1"/>
                </a:solidFill>
                <a:latin typeface="Be Vietnam Pro"/>
                <a:ea typeface="Be Vietnam Pro"/>
                <a:cs typeface="Be Vietnam Pro"/>
                <a:sym typeface="Be Vietnam Pro"/>
              </a:rPr>
              <a:t> sẽ giúp giảm chi phí và thời gian để xây dựng lại và sửa lỗi để bàn giao sản phẩm phần mềm. </a:t>
            </a:r>
            <a:endParaRPr b="0" i="0" sz="2000" u="none" cap="none" strike="noStrike">
              <a:solidFill>
                <a:schemeClr val="dk1"/>
              </a:solidFill>
              <a:latin typeface="Be Vietnam Pro"/>
              <a:ea typeface="Be Vietnam Pro"/>
              <a:cs typeface="Be Vietnam Pro"/>
              <a:sym typeface="Be Vietnam Pro"/>
            </a:endParaRPr>
          </a:p>
        </p:txBody>
      </p:sp>
      <p:sp>
        <p:nvSpPr>
          <p:cNvPr id="302" name="Google Shape;302;p100"/>
          <p:cNvSpPr txBox="1"/>
          <p:nvPr/>
        </p:nvSpPr>
        <p:spPr>
          <a:xfrm>
            <a:off x="580449" y="3645609"/>
            <a:ext cx="6156960"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Thời điểm bắt đầu kiểm thử </a:t>
            </a:r>
            <a:r>
              <a:rPr b="0" i="0" lang="en-US" sz="2000" u="none" cap="none" strike="noStrike">
                <a:solidFill>
                  <a:schemeClr val="dk1"/>
                </a:solidFill>
                <a:latin typeface="Be Vietnam Pro"/>
                <a:ea typeface="Be Vietnam Pro"/>
                <a:cs typeface="Be Vietnam Pro"/>
                <a:sym typeface="Be Vietnam Pro"/>
              </a:rPr>
              <a:t>còn phụ thuộc vào mô hình phát triển phần mềm đang được sử dụng.</a:t>
            </a:r>
            <a:endParaRPr b="0" i="0" sz="2000" u="none" cap="none" strike="noStrike">
              <a:solidFill>
                <a:schemeClr val="dk1"/>
              </a:solidFill>
              <a:latin typeface="Be Vietnam Pro"/>
              <a:ea typeface="Be Vietnam Pro"/>
              <a:cs typeface="Be Vietnam Pro"/>
              <a:sym typeface="Be Vietnam Pro"/>
            </a:endParaRPr>
          </a:p>
        </p:txBody>
      </p:sp>
      <p:pic>
        <p:nvPicPr>
          <p:cNvPr descr="Animation Character | PNGlib – Free PNG Library" id="303" name="Google Shape;303;p100"/>
          <p:cNvPicPr preferRelativeResize="0"/>
          <p:nvPr/>
        </p:nvPicPr>
        <p:blipFill rotWithShape="1">
          <a:blip r:embed="rId3">
            <a:alphaModFix/>
          </a:blip>
          <a:srcRect b="0" l="0" r="0" t="0"/>
          <a:stretch/>
        </p:blipFill>
        <p:spPr>
          <a:xfrm>
            <a:off x="6620988" y="1060174"/>
            <a:ext cx="5367258" cy="5367258"/>
          </a:xfrm>
          <a:prstGeom prst="rect">
            <a:avLst/>
          </a:prstGeom>
          <a:noFill/>
          <a:ln>
            <a:noFill/>
          </a:ln>
        </p:spPr>
      </p:pic>
      <p:sp>
        <p:nvSpPr>
          <p:cNvPr id="304" name="Google Shape;304;p100"/>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8</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750"/>
                                        <p:tgtEl>
                                          <p:spTgt spid="300"/>
                                        </p:tgtEl>
                                      </p:cBhvr>
                                    </p:animEffect>
                                  </p:childTnLst>
                                </p:cTn>
                              </p:par>
                            </p:childTnLst>
                          </p:cTn>
                        </p:par>
                        <p:par>
                          <p:cTn fill="hold">
                            <p:stCondLst>
                              <p:cond delay="175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1000"/>
                                        <p:tgtEl>
                                          <p:spTgt spid="301"/>
                                        </p:tgtEl>
                                      </p:cBhvr>
                                    </p:animEffect>
                                  </p:childTnLst>
                                </p:cTn>
                              </p:par>
                            </p:childTnLst>
                          </p:cTn>
                        </p:par>
                        <p:par>
                          <p:cTn fill="hold">
                            <p:stCondLst>
                              <p:cond delay="2750"/>
                            </p:stCondLst>
                            <p:childTnLst>
                              <p:par>
                                <p:cTn fill="hold" nodeType="afterEffect" presetClass="entr" presetID="10" presetSubtype="0">
                                  <p:stCondLst>
                                    <p:cond delay="500"/>
                                  </p:stCondLst>
                                  <p:childTnLst>
                                    <p:set>
                                      <p:cBhvr>
                                        <p:cTn dur="1" fill="hold">
                                          <p:stCondLst>
                                            <p:cond delay="0"/>
                                          </p:stCondLst>
                                        </p:cTn>
                                        <p:tgtEl>
                                          <p:spTgt spid="302"/>
                                        </p:tgtEl>
                                        <p:attrNameLst>
                                          <p:attrName>style.visibility</p:attrName>
                                        </p:attrNameLst>
                                      </p:cBhvr>
                                      <p:to>
                                        <p:strVal val="visible"/>
                                      </p:to>
                                    </p:set>
                                    <p:animEffect filter="fade" transition="in">
                                      <p:cBhvr>
                                        <p:cTn dur="10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1"/>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310" name="Google Shape;310;p101"/>
          <p:cNvGrpSpPr/>
          <p:nvPr/>
        </p:nvGrpSpPr>
        <p:grpSpPr>
          <a:xfrm>
            <a:off x="8634714" y="211205"/>
            <a:ext cx="3429618" cy="730238"/>
            <a:chOff x="642754" y="1800088"/>
            <a:chExt cx="4981462" cy="1060658"/>
          </a:xfrm>
        </p:grpSpPr>
        <p:grpSp>
          <p:nvGrpSpPr>
            <p:cNvPr id="311" name="Google Shape;311;p101"/>
            <p:cNvGrpSpPr/>
            <p:nvPr/>
          </p:nvGrpSpPr>
          <p:grpSpPr>
            <a:xfrm>
              <a:off x="642754" y="1871705"/>
              <a:ext cx="4981462" cy="989041"/>
              <a:chOff x="508001" y="1871705"/>
              <a:chExt cx="4981462" cy="989041"/>
            </a:xfrm>
          </p:grpSpPr>
          <p:sp>
            <p:nvSpPr>
              <p:cNvPr id="312" name="Google Shape;312;p101"/>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13" name="Google Shape;313;p101"/>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314" name="Google Shape;314;p101"/>
            <p:cNvGrpSpPr/>
            <p:nvPr/>
          </p:nvGrpSpPr>
          <p:grpSpPr>
            <a:xfrm>
              <a:off x="842194" y="1800088"/>
              <a:ext cx="894759" cy="905639"/>
              <a:chOff x="707441" y="1800088"/>
              <a:chExt cx="894759" cy="905639"/>
            </a:xfrm>
          </p:grpSpPr>
          <p:sp>
            <p:nvSpPr>
              <p:cNvPr id="315" name="Google Shape;315;p101"/>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316" name="Google Shape;316;p101"/>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317" name="Google Shape;317;p101"/>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318" name="Google Shape;318;p101"/>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2</a:t>
            </a:r>
            <a:endParaRPr b="1" i="0" sz="2400" u="none" cap="none" strike="noStrike">
              <a:solidFill>
                <a:schemeClr val="lt1"/>
              </a:solidFill>
              <a:latin typeface="Arial"/>
              <a:ea typeface="Arial"/>
              <a:cs typeface="Arial"/>
              <a:sym typeface="Arial"/>
            </a:endParaRPr>
          </a:p>
        </p:txBody>
      </p:sp>
      <p:cxnSp>
        <p:nvCxnSpPr>
          <p:cNvPr id="319" name="Google Shape;319;p101"/>
          <p:cNvCxnSpPr>
            <a:stCxn id="318"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320" name="Google Shape;320;p101"/>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bắt đầu kiểm thử</a:t>
            </a:r>
            <a:endParaRPr b="1" i="0" sz="2400" u="none" cap="none" strike="noStrike">
              <a:solidFill>
                <a:srgbClr val="2F5496"/>
              </a:solidFill>
              <a:latin typeface="Be Vietnam Pro"/>
              <a:ea typeface="Be Vietnam Pro"/>
              <a:cs typeface="Be Vietnam Pro"/>
              <a:sym typeface="Be Vietnam Pro"/>
            </a:endParaRPr>
          </a:p>
        </p:txBody>
      </p:sp>
      <p:sp>
        <p:nvSpPr>
          <p:cNvPr id="321" name="Google Shape;321;p101"/>
          <p:cNvSpPr txBox="1"/>
          <p:nvPr/>
        </p:nvSpPr>
        <p:spPr>
          <a:xfrm>
            <a:off x="4832295" y="2100420"/>
            <a:ext cx="6156960" cy="307777"/>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Mô hình thác nước </a:t>
            </a:r>
            <a:r>
              <a:rPr b="0" i="0" lang="en-US" sz="2000" u="none" cap="none" strike="noStrike">
                <a:solidFill>
                  <a:schemeClr val="dk1"/>
                </a:solidFill>
                <a:latin typeface="Be Vietnam Pro"/>
                <a:ea typeface="Be Vietnam Pro"/>
                <a:cs typeface="Be Vietnam Pro"/>
                <a:sym typeface="Be Vietnam Pro"/>
              </a:rPr>
              <a:t>(waterfall model)</a:t>
            </a:r>
            <a:endParaRPr b="0" i="0" sz="1600" u="none" cap="none" strike="noStrike">
              <a:solidFill>
                <a:schemeClr val="dk1"/>
              </a:solidFill>
              <a:latin typeface="Be Vietnam Pro"/>
              <a:ea typeface="Be Vietnam Pro"/>
              <a:cs typeface="Be Vietnam Pro"/>
              <a:sym typeface="Be Vietnam Pro"/>
            </a:endParaRPr>
          </a:p>
        </p:txBody>
      </p:sp>
      <p:pic>
        <p:nvPicPr>
          <p:cNvPr id="322" name="Google Shape;322;p101"/>
          <p:cNvPicPr preferRelativeResize="0"/>
          <p:nvPr/>
        </p:nvPicPr>
        <p:blipFill rotWithShape="1">
          <a:blip r:embed="rId3">
            <a:alphaModFix/>
          </a:blip>
          <a:srcRect b="0" l="0" r="0" t="0"/>
          <a:stretch/>
        </p:blipFill>
        <p:spPr>
          <a:xfrm>
            <a:off x="897681" y="1857375"/>
            <a:ext cx="2830047" cy="4505903"/>
          </a:xfrm>
          <a:prstGeom prst="rect">
            <a:avLst/>
          </a:prstGeom>
          <a:noFill/>
          <a:ln>
            <a:noFill/>
          </a:ln>
        </p:spPr>
      </p:pic>
      <p:pic>
        <p:nvPicPr>
          <p:cNvPr id="323" name="Google Shape;323;p101"/>
          <p:cNvPicPr preferRelativeResize="0"/>
          <p:nvPr/>
        </p:nvPicPr>
        <p:blipFill rotWithShape="1">
          <a:blip r:embed="rId4">
            <a:alphaModFix/>
          </a:blip>
          <a:srcRect b="0" l="0" r="0" t="0"/>
          <a:stretch/>
        </p:blipFill>
        <p:spPr>
          <a:xfrm>
            <a:off x="5679964" y="3890987"/>
            <a:ext cx="6523660" cy="2103644"/>
          </a:xfrm>
          <a:prstGeom prst="rect">
            <a:avLst/>
          </a:prstGeom>
          <a:noFill/>
          <a:ln>
            <a:noFill/>
          </a:ln>
        </p:spPr>
      </p:pic>
      <p:sp>
        <p:nvSpPr>
          <p:cNvPr id="324" name="Google Shape;324;p101"/>
          <p:cNvSpPr txBox="1"/>
          <p:nvPr/>
        </p:nvSpPr>
        <p:spPr>
          <a:xfrm>
            <a:off x="5742226" y="3269907"/>
            <a:ext cx="6156960" cy="307777"/>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Montserrat"/>
                <a:ea typeface="Montserrat"/>
                <a:cs typeface="Montserrat"/>
                <a:sym typeface="Montserrat"/>
              </a:rPr>
              <a:t>Mô </a:t>
            </a:r>
            <a:r>
              <a:rPr b="1" i="0" lang="en-US" sz="2000" u="none" cap="none" strike="noStrike">
                <a:solidFill>
                  <a:schemeClr val="dk1"/>
                </a:solidFill>
                <a:latin typeface="Be Vietnam Pro"/>
                <a:ea typeface="Be Vietnam Pro"/>
                <a:cs typeface="Be Vietnam Pro"/>
                <a:sym typeface="Be Vietnam Pro"/>
              </a:rPr>
              <a:t>hình</a:t>
            </a:r>
            <a:r>
              <a:rPr b="1" i="0" lang="en-US" sz="2000" u="none" cap="none" strike="noStrike">
                <a:solidFill>
                  <a:schemeClr val="dk1"/>
                </a:solidFill>
                <a:latin typeface="Montserrat"/>
                <a:ea typeface="Montserrat"/>
                <a:cs typeface="Montserrat"/>
                <a:sym typeface="Montserrat"/>
              </a:rPr>
              <a:t> gia tăng </a:t>
            </a:r>
            <a:r>
              <a:rPr b="0" i="0" lang="en-US" sz="2000" u="none" cap="none" strike="noStrike">
                <a:solidFill>
                  <a:schemeClr val="dk1"/>
                </a:solidFill>
                <a:latin typeface="Montserrat"/>
                <a:ea typeface="Montserrat"/>
                <a:cs typeface="Montserrat"/>
                <a:sym typeface="Montserrat"/>
              </a:rPr>
              <a:t>(incremental model)</a:t>
            </a:r>
            <a:endParaRPr b="0" i="0" sz="1600" u="none" cap="none" strike="noStrike">
              <a:solidFill>
                <a:schemeClr val="dk1"/>
              </a:solidFill>
              <a:latin typeface="Montserrat"/>
              <a:ea typeface="Montserrat"/>
              <a:cs typeface="Montserrat"/>
              <a:sym typeface="Montserrat"/>
            </a:endParaRPr>
          </a:p>
        </p:txBody>
      </p:sp>
      <p:sp>
        <p:nvSpPr>
          <p:cNvPr id="325" name="Google Shape;325;p101"/>
          <p:cNvSpPr/>
          <p:nvPr/>
        </p:nvSpPr>
        <p:spPr>
          <a:xfrm>
            <a:off x="8820706" y="3818815"/>
            <a:ext cx="1543987" cy="660693"/>
          </a:xfrm>
          <a:prstGeom prst="ellipse">
            <a:avLst/>
          </a:prstGeom>
          <a:no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6" name="Google Shape;326;p101"/>
          <p:cNvSpPr/>
          <p:nvPr/>
        </p:nvSpPr>
        <p:spPr>
          <a:xfrm>
            <a:off x="8820706" y="4576376"/>
            <a:ext cx="1543987" cy="660693"/>
          </a:xfrm>
          <a:prstGeom prst="ellipse">
            <a:avLst/>
          </a:prstGeom>
          <a:no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7" name="Google Shape;327;p101"/>
          <p:cNvSpPr/>
          <p:nvPr/>
        </p:nvSpPr>
        <p:spPr>
          <a:xfrm>
            <a:off x="8777030" y="5309241"/>
            <a:ext cx="1543987" cy="660693"/>
          </a:xfrm>
          <a:prstGeom prst="ellipse">
            <a:avLst/>
          </a:prstGeom>
          <a:noFill/>
          <a:ln cap="flat" cmpd="sng" w="127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id="328" name="Google Shape;328;p101"/>
          <p:cNvGrpSpPr/>
          <p:nvPr/>
        </p:nvGrpSpPr>
        <p:grpSpPr>
          <a:xfrm>
            <a:off x="2063818" y="1043512"/>
            <a:ext cx="3525427" cy="3525427"/>
            <a:chOff x="2063818" y="1043512"/>
            <a:chExt cx="3525427" cy="3525427"/>
          </a:xfrm>
        </p:grpSpPr>
        <p:sp>
          <p:nvSpPr>
            <p:cNvPr id="329" name="Google Shape;329;p101"/>
            <p:cNvSpPr/>
            <p:nvPr/>
          </p:nvSpPr>
          <p:spPr>
            <a:xfrm rot="4948231">
              <a:off x="2256065" y="1235759"/>
              <a:ext cx="3140933" cy="3140933"/>
            </a:xfrm>
            <a:prstGeom prst="arc">
              <a:avLst>
                <a:gd fmla="val 16200000" name="adj1"/>
                <a:gd fmla="val 0" name="adj2"/>
              </a:avLst>
            </a:prstGeom>
            <a:noFill/>
            <a:ln cap="flat" cmpd="sng" w="15875">
              <a:solidFill>
                <a:srgbClr val="3E6EC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cxnSp>
          <p:nvCxnSpPr>
            <p:cNvPr id="330" name="Google Shape;330;p101"/>
            <p:cNvCxnSpPr>
              <a:endCxn id="329" idx="2"/>
            </p:cNvCxnSpPr>
            <p:nvPr/>
          </p:nvCxnSpPr>
          <p:spPr>
            <a:xfrm flipH="1">
              <a:off x="4032320" y="4149251"/>
              <a:ext cx="67800" cy="213900"/>
            </a:xfrm>
            <a:prstGeom prst="straightConnector1">
              <a:avLst/>
            </a:prstGeom>
            <a:noFill/>
            <a:ln cap="flat" cmpd="sng" w="15875">
              <a:solidFill>
                <a:srgbClr val="3E6EC2"/>
              </a:solidFill>
              <a:prstDash val="solid"/>
              <a:round/>
              <a:headEnd len="sm" w="sm" type="none"/>
              <a:tailEnd len="sm" w="sm" type="none"/>
            </a:ln>
          </p:spPr>
        </p:cxnSp>
        <p:cxnSp>
          <p:nvCxnSpPr>
            <p:cNvPr id="331" name="Google Shape;331;p101"/>
            <p:cNvCxnSpPr>
              <a:endCxn id="329" idx="2"/>
            </p:cNvCxnSpPr>
            <p:nvPr/>
          </p:nvCxnSpPr>
          <p:spPr>
            <a:xfrm rot="10800000">
              <a:off x="4032320" y="4363151"/>
              <a:ext cx="233100" cy="136500"/>
            </a:xfrm>
            <a:prstGeom prst="straightConnector1">
              <a:avLst/>
            </a:prstGeom>
            <a:noFill/>
            <a:ln cap="flat" cmpd="sng" w="15875">
              <a:solidFill>
                <a:srgbClr val="3E6EC2"/>
              </a:solidFill>
              <a:prstDash val="solid"/>
              <a:round/>
              <a:headEnd len="sm" w="sm" type="none"/>
              <a:tailEnd len="sm" w="sm" type="none"/>
            </a:ln>
          </p:spPr>
        </p:cxnSp>
      </p:grpSp>
      <p:sp>
        <p:nvSpPr>
          <p:cNvPr id="332" name="Google Shape;332;p101"/>
          <p:cNvSpPr txBox="1"/>
          <p:nvPr/>
        </p:nvSpPr>
        <p:spPr>
          <a:xfrm>
            <a:off x="11651555" y="6462378"/>
            <a:ext cx="457318"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9</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750"/>
                                        <p:tgtEl>
                                          <p:spTgt spid="320"/>
                                        </p:tgtEl>
                                      </p:cBhvr>
                                    </p:animEffect>
                                  </p:childTnLst>
                                </p:cTn>
                              </p:par>
                            </p:childTnLst>
                          </p:cTn>
                        </p:par>
                        <p:par>
                          <p:cTn fill="hold">
                            <p:stCondLst>
                              <p:cond delay="1750"/>
                            </p:stCondLst>
                            <p:childTnLst>
                              <p:par>
                                <p:cTn fill="hold" nodeType="afterEffect" presetClass="entr" presetID="10" presetSubtype="0">
                                  <p:stCondLst>
                                    <p:cond delay="50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750"/>
                                        <p:tgtEl>
                                          <p:spTgt spid="32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childTnLst>
                          </p:cTn>
                        </p:par>
                        <p:par>
                          <p:cTn fill="hold">
                            <p:stCondLst>
                              <p:cond delay="4500"/>
                            </p:stCondLst>
                            <p:childTnLst>
                              <p:par>
                                <p:cTn fill="hold" nodeType="after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750"/>
                                        <p:tgtEl>
                                          <p:spTgt spid="325"/>
                                        </p:tgtEl>
                                      </p:cBhvr>
                                    </p:animEffect>
                                  </p:childTnLst>
                                </p:cTn>
                              </p:par>
                              <p:par>
                                <p:cTn fill="hold" nodeType="with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750"/>
                                        <p:tgtEl>
                                          <p:spTgt spid="326"/>
                                        </p:tgtEl>
                                      </p:cBhvr>
                                    </p:animEffect>
                                  </p:childTnLst>
                                </p:cTn>
                              </p:par>
                              <p:par>
                                <p:cTn fill="hold" nodeType="with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750"/>
                                        <p:tgtEl>
                                          <p:spTgt spid="3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02"/>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338" name="Google Shape;338;p102"/>
          <p:cNvGrpSpPr/>
          <p:nvPr/>
        </p:nvGrpSpPr>
        <p:grpSpPr>
          <a:xfrm>
            <a:off x="8634714" y="211205"/>
            <a:ext cx="3429618" cy="730238"/>
            <a:chOff x="642754" y="1800088"/>
            <a:chExt cx="4981462" cy="1060658"/>
          </a:xfrm>
        </p:grpSpPr>
        <p:grpSp>
          <p:nvGrpSpPr>
            <p:cNvPr id="339" name="Google Shape;339;p102"/>
            <p:cNvGrpSpPr/>
            <p:nvPr/>
          </p:nvGrpSpPr>
          <p:grpSpPr>
            <a:xfrm>
              <a:off x="642754" y="1871705"/>
              <a:ext cx="4981462" cy="989041"/>
              <a:chOff x="508001" y="1871705"/>
              <a:chExt cx="4981462" cy="989041"/>
            </a:xfrm>
          </p:grpSpPr>
          <p:sp>
            <p:nvSpPr>
              <p:cNvPr id="340" name="Google Shape;340;p102"/>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41" name="Google Shape;341;p102"/>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342" name="Google Shape;342;p102"/>
            <p:cNvGrpSpPr/>
            <p:nvPr/>
          </p:nvGrpSpPr>
          <p:grpSpPr>
            <a:xfrm>
              <a:off x="842194" y="1800088"/>
              <a:ext cx="894759" cy="905639"/>
              <a:chOff x="707441" y="1800088"/>
              <a:chExt cx="894759" cy="905639"/>
            </a:xfrm>
          </p:grpSpPr>
          <p:sp>
            <p:nvSpPr>
              <p:cNvPr id="343" name="Google Shape;343;p102"/>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344" name="Google Shape;344;p102"/>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345" name="Google Shape;345;p102"/>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346" name="Google Shape;346;p102"/>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2</a:t>
            </a:r>
            <a:endParaRPr b="1" i="0" sz="2400" u="none" cap="none" strike="noStrike">
              <a:solidFill>
                <a:schemeClr val="lt1"/>
              </a:solidFill>
              <a:latin typeface="Arial"/>
              <a:ea typeface="Arial"/>
              <a:cs typeface="Arial"/>
              <a:sym typeface="Arial"/>
            </a:endParaRPr>
          </a:p>
        </p:txBody>
      </p:sp>
      <p:cxnSp>
        <p:nvCxnSpPr>
          <p:cNvPr id="347" name="Google Shape;347;p102"/>
          <p:cNvCxnSpPr>
            <a:stCxn id="346"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348" name="Google Shape;348;p102"/>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bắt đầu kiểm thử</a:t>
            </a:r>
            <a:endParaRPr b="1" i="0" sz="2400" u="none" cap="none" strike="noStrike">
              <a:solidFill>
                <a:srgbClr val="2F5496"/>
              </a:solidFill>
              <a:latin typeface="Be Vietnam Pro"/>
              <a:ea typeface="Be Vietnam Pro"/>
              <a:cs typeface="Be Vietnam Pro"/>
              <a:sym typeface="Be Vietnam Pro"/>
            </a:endParaRPr>
          </a:p>
        </p:txBody>
      </p:sp>
      <p:sp>
        <p:nvSpPr>
          <p:cNvPr id="349" name="Google Shape;349;p102"/>
          <p:cNvSpPr txBox="1"/>
          <p:nvPr/>
        </p:nvSpPr>
        <p:spPr>
          <a:xfrm>
            <a:off x="819307" y="4564180"/>
            <a:ext cx="8790587" cy="9233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Be Vietnam Pro"/>
                <a:ea typeface="Be Vietnam Pro"/>
                <a:cs typeface="Be Vietnam Pro"/>
                <a:sym typeface="Be Vietnam Pro"/>
              </a:rPr>
              <a:t>=&gt; 	</a:t>
            </a:r>
            <a:r>
              <a:rPr b="0" i="0" lang="en-US" sz="2000" u="none" cap="none" strike="noStrike">
                <a:solidFill>
                  <a:schemeClr val="dk1"/>
                </a:solidFill>
                <a:latin typeface="Be Vietnam Pro"/>
                <a:ea typeface="Be Vietnam Pro"/>
                <a:cs typeface="Be Vietnam Pro"/>
                <a:sym typeface="Be Vietnam Pro"/>
              </a:rPr>
              <a:t>Tóm lại: Việc kiểm thử phần mềm được thực hiện càng sớm 	càng  tốt, và thực hiện </a:t>
            </a:r>
            <a:r>
              <a:rPr b="1" i="0" lang="en-US" sz="2000" u="none" cap="none" strike="noStrike">
                <a:solidFill>
                  <a:schemeClr val="dk1"/>
                </a:solidFill>
                <a:latin typeface="Be Vietnam Pro"/>
                <a:ea typeface="Be Vietnam Pro"/>
                <a:cs typeface="Be Vietnam Pro"/>
                <a:sym typeface="Be Vietnam Pro"/>
              </a:rPr>
              <a:t>xuyên</a:t>
            </a:r>
            <a:r>
              <a:rPr b="0" i="0" lang="en-US" sz="2000" u="none" cap="none" strike="noStrike">
                <a:solidFill>
                  <a:schemeClr val="dk1"/>
                </a:solidFill>
                <a:latin typeface="Be Vietnam Pro"/>
                <a:ea typeface="Be Vietnam Pro"/>
                <a:cs typeface="Be Vietnam Pro"/>
                <a:sym typeface="Be Vietnam Pro"/>
              </a:rPr>
              <a:t> </a:t>
            </a:r>
            <a:r>
              <a:rPr b="1" i="0" lang="en-US" sz="2000" u="none" cap="none" strike="noStrike">
                <a:solidFill>
                  <a:schemeClr val="dk1"/>
                </a:solidFill>
                <a:latin typeface="Be Vietnam Pro"/>
                <a:ea typeface="Be Vietnam Pro"/>
                <a:cs typeface="Be Vietnam Pro"/>
                <a:sym typeface="Be Vietnam Pro"/>
              </a:rPr>
              <a:t>suốt quá trình phát triển phần 	mềm</a:t>
            </a:r>
            <a:endParaRPr b="1" i="0" sz="1600" u="none" cap="none" strike="noStrike">
              <a:solidFill>
                <a:schemeClr val="dk1"/>
              </a:solidFill>
              <a:latin typeface="Be Vietnam Pro"/>
              <a:ea typeface="Be Vietnam Pro"/>
              <a:cs typeface="Be Vietnam Pro"/>
              <a:sym typeface="Be Vietnam Pro"/>
            </a:endParaRPr>
          </a:p>
        </p:txBody>
      </p:sp>
      <p:pic>
        <p:nvPicPr>
          <p:cNvPr descr="Animation Character | PNGlib – Free PNG Library" id="350" name="Google Shape;350;p102"/>
          <p:cNvPicPr preferRelativeResize="0"/>
          <p:nvPr/>
        </p:nvPicPr>
        <p:blipFill rotWithShape="1">
          <a:blip r:embed="rId3">
            <a:alphaModFix/>
          </a:blip>
          <a:srcRect b="0" l="0" r="0" t="0"/>
          <a:stretch/>
        </p:blipFill>
        <p:spPr>
          <a:xfrm>
            <a:off x="9388044" y="3709561"/>
            <a:ext cx="2937234" cy="2937234"/>
          </a:xfrm>
          <a:prstGeom prst="rect">
            <a:avLst/>
          </a:prstGeom>
          <a:noFill/>
          <a:ln>
            <a:noFill/>
          </a:ln>
        </p:spPr>
      </p:pic>
      <p:sp>
        <p:nvSpPr>
          <p:cNvPr id="351" name="Google Shape;351;p102"/>
          <p:cNvSpPr txBox="1"/>
          <p:nvPr/>
        </p:nvSpPr>
        <p:spPr>
          <a:xfrm>
            <a:off x="1423963" y="2864705"/>
            <a:ext cx="7681937"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Việc</a:t>
            </a:r>
            <a:r>
              <a:rPr b="1" i="0" lang="en-US" sz="2000" u="none" cap="none" strike="noStrike">
                <a:solidFill>
                  <a:schemeClr val="dk1"/>
                </a:solidFill>
                <a:latin typeface="Be Vietnam Pro"/>
                <a:ea typeface="Be Vietnam Pro"/>
                <a:cs typeface="Be Vietnam Pro"/>
                <a:sym typeface="Be Vietnam Pro"/>
              </a:rPr>
              <a:t> kiểm thử - test </a:t>
            </a:r>
            <a:r>
              <a:rPr b="0" i="0" lang="en-US" sz="2000" u="none" cap="none" strike="noStrike">
                <a:solidFill>
                  <a:schemeClr val="dk1"/>
                </a:solidFill>
                <a:latin typeface="Be Vietnam Pro"/>
                <a:ea typeface="Be Vietnam Pro"/>
                <a:cs typeface="Be Vietnam Pro"/>
                <a:sym typeface="Be Vietnam Pro"/>
              </a:rPr>
              <a:t>được thể hiện theo nhiều dạng công việc khác nhau ở các giai đoạn khác trong suốt vòng đời phát triển phần mềm</a:t>
            </a:r>
            <a:endParaRPr b="0" i="0" sz="1600" u="none" cap="none" strike="noStrike">
              <a:solidFill>
                <a:schemeClr val="dk1"/>
              </a:solidFill>
              <a:latin typeface="Be Vietnam Pro"/>
              <a:ea typeface="Be Vietnam Pro"/>
              <a:cs typeface="Be Vietnam Pro"/>
              <a:sym typeface="Be Vietnam Pro"/>
            </a:endParaRPr>
          </a:p>
        </p:txBody>
      </p:sp>
      <p:sp>
        <p:nvSpPr>
          <p:cNvPr id="352" name="Google Shape;352;p102"/>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10</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47"/>
                                        </p:tgtEl>
                                        <p:attrNameLst>
                                          <p:attrName>style.visibility</p:attrName>
                                        </p:attrNameLst>
                                      </p:cBhvr>
                                      <p:to>
                                        <p:strVal val="visible"/>
                                      </p:to>
                                    </p:set>
                                    <p:animEffect filter="fade" transition="in">
                                      <p:cBhvr>
                                        <p:cTn dur="500"/>
                                        <p:tgtEl>
                                          <p:spTgt spid="3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750"/>
                                        <p:tgtEl>
                                          <p:spTgt spid="348"/>
                                        </p:tgtEl>
                                      </p:cBhvr>
                                    </p:animEffect>
                                  </p:childTnLst>
                                </p:cTn>
                              </p:par>
                            </p:childTnLst>
                          </p:cTn>
                        </p:par>
                        <p:par>
                          <p:cTn fill="hold">
                            <p:stCondLst>
                              <p:cond delay="1750"/>
                            </p:stCondLst>
                            <p:childTnLst>
                              <p:par>
                                <p:cTn fill="hold" nodeType="afterEffect" presetClass="entr" presetID="10" presetSubtype="0">
                                  <p:stCondLst>
                                    <p:cond delay="500"/>
                                  </p:stCondLst>
                                  <p:childTnLst>
                                    <p:set>
                                      <p:cBhvr>
                                        <p:cTn dur="1" fill="hold">
                                          <p:stCondLst>
                                            <p:cond delay="0"/>
                                          </p:stCondLst>
                                        </p:cTn>
                                        <p:tgtEl>
                                          <p:spTgt spid="351"/>
                                        </p:tgtEl>
                                        <p:attrNameLst>
                                          <p:attrName>style.visibility</p:attrName>
                                        </p:attrNameLst>
                                      </p:cBhvr>
                                      <p:to>
                                        <p:strVal val="visible"/>
                                      </p:to>
                                    </p:set>
                                    <p:animEffect filter="fade" transition="in">
                                      <p:cBhvr>
                                        <p:cTn dur="500"/>
                                        <p:tgtEl>
                                          <p:spTgt spid="351"/>
                                        </p:tgtEl>
                                      </p:cBhvr>
                                    </p:animEffect>
                                  </p:childTnLst>
                                </p:cTn>
                              </p:par>
                            </p:childTnLst>
                          </p:cTn>
                        </p:par>
                        <p:par>
                          <p:cTn fill="hold">
                            <p:stCondLst>
                              <p:cond delay="2250"/>
                            </p:stCondLst>
                            <p:childTnLst>
                              <p:par>
                                <p:cTn fill="hold" nodeType="afterEffect" presetClass="entr" presetID="10" presetSubtype="0">
                                  <p:stCondLst>
                                    <p:cond delay="3000"/>
                                  </p:stCondLst>
                                  <p:childTnLst>
                                    <p:set>
                                      <p:cBhvr>
                                        <p:cTn dur="1" fill="hold">
                                          <p:stCondLst>
                                            <p:cond delay="0"/>
                                          </p:stCondLst>
                                        </p:cTn>
                                        <p:tgtEl>
                                          <p:spTgt spid="349"/>
                                        </p:tgtEl>
                                        <p:attrNameLst>
                                          <p:attrName>style.visibility</p:attrName>
                                        </p:attrNameLst>
                                      </p:cBhvr>
                                      <p:to>
                                        <p:strVal val="visible"/>
                                      </p:to>
                                    </p:set>
                                    <p:animEffect filter="fade" transition="in">
                                      <p:cBhvr>
                                        <p:cTn dur="2000"/>
                                        <p:tgtEl>
                                          <p:spTgt spid="3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103"/>
          <p:cNvPicPr preferRelativeResize="0"/>
          <p:nvPr/>
        </p:nvPicPr>
        <p:blipFill rotWithShape="1">
          <a:blip r:embed="rId3">
            <a:alphaModFix/>
          </a:blip>
          <a:srcRect b="0" l="0" r="0" t="0"/>
          <a:stretch/>
        </p:blipFill>
        <p:spPr>
          <a:xfrm>
            <a:off x="0" y="1416109"/>
            <a:ext cx="5441891" cy="5441891"/>
          </a:xfrm>
          <a:prstGeom prst="rect">
            <a:avLst/>
          </a:prstGeom>
          <a:noFill/>
          <a:ln>
            <a:noFill/>
          </a:ln>
        </p:spPr>
      </p:pic>
      <p:sp>
        <p:nvSpPr>
          <p:cNvPr id="358" name="Google Shape;358;p103"/>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359" name="Google Shape;359;p103"/>
          <p:cNvGrpSpPr/>
          <p:nvPr/>
        </p:nvGrpSpPr>
        <p:grpSpPr>
          <a:xfrm>
            <a:off x="8634714" y="211205"/>
            <a:ext cx="3429618" cy="730238"/>
            <a:chOff x="642754" y="1800088"/>
            <a:chExt cx="4981462" cy="1060658"/>
          </a:xfrm>
        </p:grpSpPr>
        <p:grpSp>
          <p:nvGrpSpPr>
            <p:cNvPr id="360" name="Google Shape;360;p103"/>
            <p:cNvGrpSpPr/>
            <p:nvPr/>
          </p:nvGrpSpPr>
          <p:grpSpPr>
            <a:xfrm>
              <a:off x="642754" y="1871705"/>
              <a:ext cx="4981462" cy="989041"/>
              <a:chOff x="508001" y="1871705"/>
              <a:chExt cx="4981462" cy="989041"/>
            </a:xfrm>
          </p:grpSpPr>
          <p:sp>
            <p:nvSpPr>
              <p:cNvPr id="361" name="Google Shape;361;p103"/>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62" name="Google Shape;362;p103"/>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363" name="Google Shape;363;p103"/>
            <p:cNvGrpSpPr/>
            <p:nvPr/>
          </p:nvGrpSpPr>
          <p:grpSpPr>
            <a:xfrm>
              <a:off x="842194" y="1800088"/>
              <a:ext cx="894759" cy="905639"/>
              <a:chOff x="707441" y="1800088"/>
              <a:chExt cx="894759" cy="905639"/>
            </a:xfrm>
          </p:grpSpPr>
          <p:sp>
            <p:nvSpPr>
              <p:cNvPr id="364" name="Google Shape;364;p103"/>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365" name="Google Shape;365;p103"/>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366" name="Google Shape;366;p103"/>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367" name="Google Shape;367;p103"/>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3</a:t>
            </a:r>
            <a:endParaRPr b="1" i="0" sz="2400" u="none" cap="none" strike="noStrike">
              <a:solidFill>
                <a:schemeClr val="lt1"/>
              </a:solidFill>
              <a:latin typeface="Arial"/>
              <a:ea typeface="Arial"/>
              <a:cs typeface="Arial"/>
              <a:sym typeface="Arial"/>
            </a:endParaRPr>
          </a:p>
        </p:txBody>
      </p:sp>
      <p:cxnSp>
        <p:nvCxnSpPr>
          <p:cNvPr id="368" name="Google Shape;368;p103"/>
          <p:cNvCxnSpPr>
            <a:stCxn id="367"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369" name="Google Shape;369;p103"/>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kết thúc kiểm thử</a:t>
            </a:r>
            <a:endParaRPr b="1" i="0" sz="2400" u="none" cap="none" strike="noStrike">
              <a:solidFill>
                <a:srgbClr val="2F5496"/>
              </a:solidFill>
              <a:latin typeface="Be Vietnam Pro"/>
              <a:ea typeface="Be Vietnam Pro"/>
              <a:cs typeface="Be Vietnam Pro"/>
              <a:sym typeface="Be Vietnam Pro"/>
            </a:endParaRPr>
          </a:p>
        </p:txBody>
      </p:sp>
      <p:sp>
        <p:nvSpPr>
          <p:cNvPr id="370" name="Google Shape;370;p103"/>
          <p:cNvSpPr txBox="1"/>
          <p:nvPr/>
        </p:nvSpPr>
        <p:spPr>
          <a:xfrm>
            <a:off x="5352550" y="3861698"/>
            <a:ext cx="5959563"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Về lí thuyết</a:t>
            </a:r>
            <a:r>
              <a:rPr b="0" i="0" lang="en-US" sz="2000" u="none" cap="none" strike="noStrike">
                <a:solidFill>
                  <a:schemeClr val="dk1"/>
                </a:solidFill>
                <a:latin typeface="Be Vietnam Pro"/>
                <a:ea typeface="Be Vietnam Pro"/>
                <a:cs typeface="Be Vietnam Pro"/>
                <a:sym typeface="Be Vietnam Pro"/>
              </a:rPr>
              <a:t>,</a:t>
            </a:r>
            <a:r>
              <a:rPr b="1" i="0" lang="en-US" sz="2000" u="none" cap="none" strike="noStrike">
                <a:solidFill>
                  <a:schemeClr val="dk1"/>
                </a:solidFill>
                <a:latin typeface="Be Vietnam Pro"/>
                <a:ea typeface="Be Vietnam Pro"/>
                <a:cs typeface="Be Vietnam Pro"/>
                <a:sym typeface="Be Vietnam Pro"/>
              </a:rPr>
              <a:t> </a:t>
            </a:r>
            <a:r>
              <a:rPr b="0" i="0" lang="en-US" sz="2000" u="none" cap="none" strike="noStrike">
                <a:solidFill>
                  <a:schemeClr val="dk1"/>
                </a:solidFill>
                <a:latin typeface="Be Vietnam Pro"/>
                <a:ea typeface="Be Vietnam Pro"/>
                <a:cs typeface="Be Vietnam Pro"/>
                <a:sym typeface="Be Vietnam Pro"/>
              </a:rPr>
              <a:t>người kiểm thử kết thúc kiểm thử khi đã tìm được mọi lỗi và sửa chúng. </a:t>
            </a:r>
            <a:endParaRPr b="0" i="0" sz="1600" u="none" cap="none" strike="noStrike">
              <a:solidFill>
                <a:schemeClr val="dk1"/>
              </a:solidFill>
              <a:latin typeface="Be Vietnam Pro"/>
              <a:ea typeface="Be Vietnam Pro"/>
              <a:cs typeface="Be Vietnam Pro"/>
              <a:sym typeface="Be Vietnam Pro"/>
            </a:endParaRPr>
          </a:p>
        </p:txBody>
      </p:sp>
      <p:sp>
        <p:nvSpPr>
          <p:cNvPr id="371" name="Google Shape;371;p103"/>
          <p:cNvSpPr txBox="1"/>
          <p:nvPr/>
        </p:nvSpPr>
        <p:spPr>
          <a:xfrm>
            <a:off x="5352550" y="2056512"/>
            <a:ext cx="5959563"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0000"/>
                </a:solidFill>
                <a:latin typeface="Be Vietnam Pro"/>
                <a:ea typeface="Be Vietnam Pro"/>
                <a:cs typeface="Be Vietnam Pro"/>
                <a:sym typeface="Be Vietnam Pro"/>
              </a:rPr>
              <a:t>Khi nào thì việc kiểm thử là đủ? </a:t>
            </a:r>
            <a:endParaRPr b="0" i="0" sz="1600" u="none" cap="none" strike="noStrike">
              <a:solidFill>
                <a:srgbClr val="FF0000"/>
              </a:solidFill>
              <a:latin typeface="Be Vietnam Pro"/>
              <a:ea typeface="Be Vietnam Pro"/>
              <a:cs typeface="Be Vietnam Pro"/>
              <a:sym typeface="Be Vietnam Pro"/>
            </a:endParaRPr>
          </a:p>
        </p:txBody>
      </p:sp>
      <p:sp>
        <p:nvSpPr>
          <p:cNvPr id="372" name="Google Shape;372;p103"/>
          <p:cNvSpPr txBox="1"/>
          <p:nvPr/>
        </p:nvSpPr>
        <p:spPr>
          <a:xfrm>
            <a:off x="5352550" y="2579636"/>
            <a:ext cx="5959563" cy="92333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FF0000"/>
                </a:solidFill>
                <a:latin typeface="Be Vietnam Pro"/>
                <a:ea typeface="Be Vietnam Pro"/>
                <a:cs typeface="Be Vietnam Pro"/>
                <a:sym typeface="Be Vietnam Pro"/>
              </a:rPr>
              <a:t>Dừng việc kiểm thử phần mềm lại khi tất cả    các khiếm khuyết được tìm thấy</a:t>
            </a:r>
            <a:endParaRPr b="0" i="0" sz="2000" u="none" cap="none" strike="noStrike">
              <a:solidFill>
                <a:srgbClr val="FF0000"/>
              </a:solidFill>
              <a:latin typeface="Be Vietnam Pro"/>
              <a:ea typeface="Be Vietnam Pro"/>
              <a:cs typeface="Be Vietnam Pro"/>
              <a:sym typeface="Be Vietnam Pro"/>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0000"/>
                </a:solidFill>
                <a:latin typeface="Be Vietnam Pro"/>
                <a:ea typeface="Be Vietnam Pro"/>
                <a:cs typeface="Be Vietnam Pro"/>
                <a:sym typeface="Be Vietnam Pro"/>
              </a:rPr>
              <a:t>Điều này là có thể hay không?</a:t>
            </a:r>
            <a:endParaRPr b="1" i="0" sz="1600" u="none" cap="none" strike="noStrike">
              <a:solidFill>
                <a:srgbClr val="FF0000"/>
              </a:solidFill>
              <a:latin typeface="Be Vietnam Pro"/>
              <a:ea typeface="Be Vietnam Pro"/>
              <a:cs typeface="Be Vietnam Pro"/>
              <a:sym typeface="Be Vietnam Pro"/>
            </a:endParaRPr>
          </a:p>
        </p:txBody>
      </p:sp>
      <p:sp>
        <p:nvSpPr>
          <p:cNvPr id="373" name="Google Shape;373;p103"/>
          <p:cNvSpPr txBox="1"/>
          <p:nvPr/>
        </p:nvSpPr>
        <p:spPr>
          <a:xfrm>
            <a:off x="5352549" y="4763107"/>
            <a:ext cx="5959563"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Trên thực tế</a:t>
            </a:r>
            <a:r>
              <a:rPr b="0" i="0" lang="en-US" sz="2000" u="none" cap="none" strike="noStrike">
                <a:solidFill>
                  <a:schemeClr val="dk1"/>
                </a:solidFill>
                <a:latin typeface="Be Vietnam Pro"/>
                <a:ea typeface="Be Vietnam Pro"/>
                <a:cs typeface="Be Vietnam Pro"/>
                <a:sym typeface="Be Vietnam Pro"/>
              </a:rPr>
              <a:t>,</a:t>
            </a:r>
            <a:r>
              <a:rPr b="1" i="0" lang="en-US" sz="2000" u="none" cap="none" strike="noStrike">
                <a:solidFill>
                  <a:schemeClr val="dk1"/>
                </a:solidFill>
                <a:latin typeface="Be Vietnam Pro"/>
                <a:ea typeface="Be Vietnam Pro"/>
                <a:cs typeface="Be Vietnam Pro"/>
                <a:sym typeface="Be Vietnam Pro"/>
              </a:rPr>
              <a:t> </a:t>
            </a:r>
            <a:r>
              <a:rPr b="0" i="0" lang="en-US" sz="2000" u="none" cap="none" strike="noStrike">
                <a:solidFill>
                  <a:schemeClr val="dk1"/>
                </a:solidFill>
                <a:latin typeface="Be Vietnam Pro"/>
                <a:ea typeface="Be Vietnam Pro"/>
                <a:cs typeface="Be Vietnam Pro"/>
                <a:sym typeface="Be Vietnam Pro"/>
              </a:rPr>
              <a:t>điều đó là không thể được bởi vì không ai biết được liệu mọi lỗi đã được loại bỏ đi hay chưa. </a:t>
            </a:r>
            <a:endParaRPr b="0" i="0" sz="1600" u="none" cap="none" strike="noStrike">
              <a:solidFill>
                <a:schemeClr val="dk1"/>
              </a:solidFill>
              <a:latin typeface="Be Vietnam Pro"/>
              <a:ea typeface="Be Vietnam Pro"/>
              <a:cs typeface="Be Vietnam Pro"/>
              <a:sym typeface="Be Vietnam Pro"/>
            </a:endParaRPr>
          </a:p>
        </p:txBody>
      </p:sp>
      <p:sp>
        <p:nvSpPr>
          <p:cNvPr id="374" name="Google Shape;374;p103"/>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11</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750"/>
                                        <p:tgtEl>
                                          <p:spTgt spid="369"/>
                                        </p:tgtEl>
                                      </p:cBhvr>
                                    </p:animEffect>
                                  </p:childTnLst>
                                </p:cTn>
                              </p:par>
                            </p:childTnLst>
                          </p:cTn>
                        </p:par>
                        <p:par>
                          <p:cTn fill="hold">
                            <p:stCondLst>
                              <p:cond delay="1750"/>
                            </p:stCondLst>
                            <p:childTnLst>
                              <p:par>
                                <p:cTn fill="hold" nodeType="afterEffect" presetClass="entr" presetID="10" presetSubtype="0">
                                  <p:stCondLst>
                                    <p:cond delay="250"/>
                                  </p:stCondLst>
                                  <p:childTnLst>
                                    <p:set>
                                      <p:cBhvr>
                                        <p:cTn dur="1" fill="hold">
                                          <p:stCondLst>
                                            <p:cond delay="0"/>
                                          </p:stCondLst>
                                        </p:cTn>
                                        <p:tgtEl>
                                          <p:spTgt spid="371"/>
                                        </p:tgtEl>
                                        <p:attrNameLst>
                                          <p:attrName>style.visibility</p:attrName>
                                        </p:attrNameLst>
                                      </p:cBhvr>
                                      <p:to>
                                        <p:strVal val="visible"/>
                                      </p:to>
                                    </p:set>
                                    <p:animEffect filter="fade" transition="in">
                                      <p:cBhvr>
                                        <p:cTn dur="1000"/>
                                        <p:tgtEl>
                                          <p:spTgt spid="371"/>
                                        </p:tgtEl>
                                      </p:cBhvr>
                                    </p:animEffect>
                                  </p:childTnLst>
                                </p:cTn>
                              </p:par>
                            </p:childTnLst>
                          </p:cTn>
                        </p:par>
                        <p:par>
                          <p:cTn fill="hold">
                            <p:stCondLst>
                              <p:cond delay="2750"/>
                            </p:stCondLst>
                            <p:childTnLst>
                              <p:par>
                                <p:cTn fill="hold" nodeType="afterEffect" presetClass="entr" presetID="10" presetSubtype="0">
                                  <p:stCondLst>
                                    <p:cond delay="500"/>
                                  </p:stCondLst>
                                  <p:childTnLst>
                                    <p:set>
                                      <p:cBhvr>
                                        <p:cTn dur="1" fill="hold">
                                          <p:stCondLst>
                                            <p:cond delay="0"/>
                                          </p:stCondLst>
                                        </p:cTn>
                                        <p:tgtEl>
                                          <p:spTgt spid="372"/>
                                        </p:tgtEl>
                                        <p:attrNameLst>
                                          <p:attrName>style.visibility</p:attrName>
                                        </p:attrNameLst>
                                      </p:cBhvr>
                                      <p:to>
                                        <p:strVal val="visible"/>
                                      </p:to>
                                    </p:set>
                                    <p:animEffect filter="fade" transition="in">
                                      <p:cBhvr>
                                        <p:cTn dur="1000"/>
                                        <p:tgtEl>
                                          <p:spTgt spid="372"/>
                                        </p:tgtEl>
                                      </p:cBhvr>
                                    </p:animEffect>
                                  </p:childTnLst>
                                </p:cTn>
                              </p:par>
                            </p:childTnLst>
                          </p:cTn>
                        </p:par>
                        <p:par>
                          <p:cTn fill="hold">
                            <p:stCondLst>
                              <p:cond delay="3750"/>
                            </p:stCondLst>
                            <p:childTnLst>
                              <p:par>
                                <p:cTn fill="hold" nodeType="afterEffect" presetClass="entr" presetID="10" presetSubtype="0">
                                  <p:stCondLst>
                                    <p:cond delay="500"/>
                                  </p:stCondLst>
                                  <p:childTnLst>
                                    <p:set>
                                      <p:cBhvr>
                                        <p:cTn dur="1" fill="hold">
                                          <p:stCondLst>
                                            <p:cond delay="0"/>
                                          </p:stCondLst>
                                        </p:cTn>
                                        <p:tgtEl>
                                          <p:spTgt spid="370"/>
                                        </p:tgtEl>
                                        <p:attrNameLst>
                                          <p:attrName>style.visibility</p:attrName>
                                        </p:attrNameLst>
                                      </p:cBhvr>
                                      <p:to>
                                        <p:strVal val="visible"/>
                                      </p:to>
                                    </p:set>
                                    <p:animEffect filter="fade" transition="in">
                                      <p:cBhvr>
                                        <p:cTn dur="1000"/>
                                        <p:tgtEl>
                                          <p:spTgt spid="370"/>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04"/>
          <p:cNvSpPr txBox="1"/>
          <p:nvPr/>
        </p:nvSpPr>
        <p:spPr>
          <a:xfrm>
            <a:off x="819307" y="2999923"/>
            <a:ext cx="326586"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a:t>
            </a:r>
            <a:endParaRPr b="0" i="0" sz="8000" u="none" cap="none" strike="noStrike">
              <a:solidFill>
                <a:schemeClr val="lt1"/>
              </a:solidFill>
              <a:latin typeface="Montserrat"/>
              <a:ea typeface="Montserrat"/>
              <a:cs typeface="Montserrat"/>
              <a:sym typeface="Montserrat"/>
            </a:endParaRPr>
          </a:p>
        </p:txBody>
      </p:sp>
      <p:grpSp>
        <p:nvGrpSpPr>
          <p:cNvPr id="380" name="Google Shape;380;p104"/>
          <p:cNvGrpSpPr/>
          <p:nvPr/>
        </p:nvGrpSpPr>
        <p:grpSpPr>
          <a:xfrm>
            <a:off x="8634714" y="211205"/>
            <a:ext cx="3429618" cy="730238"/>
            <a:chOff x="642754" y="1800088"/>
            <a:chExt cx="4981462" cy="1060658"/>
          </a:xfrm>
        </p:grpSpPr>
        <p:grpSp>
          <p:nvGrpSpPr>
            <p:cNvPr id="381" name="Google Shape;381;p104"/>
            <p:cNvGrpSpPr/>
            <p:nvPr/>
          </p:nvGrpSpPr>
          <p:grpSpPr>
            <a:xfrm>
              <a:off x="642754" y="1871705"/>
              <a:ext cx="4981462" cy="989041"/>
              <a:chOff x="508001" y="1871705"/>
              <a:chExt cx="4981462" cy="989041"/>
            </a:xfrm>
          </p:grpSpPr>
          <p:sp>
            <p:nvSpPr>
              <p:cNvPr id="382" name="Google Shape;382;p104"/>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383" name="Google Shape;383;p104"/>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384" name="Google Shape;384;p104"/>
            <p:cNvGrpSpPr/>
            <p:nvPr/>
          </p:nvGrpSpPr>
          <p:grpSpPr>
            <a:xfrm>
              <a:off x="842194" y="1800088"/>
              <a:ext cx="894759" cy="905639"/>
              <a:chOff x="707441" y="1800088"/>
              <a:chExt cx="894759" cy="905639"/>
            </a:xfrm>
          </p:grpSpPr>
          <p:sp>
            <p:nvSpPr>
              <p:cNvPr id="385" name="Google Shape;385;p104"/>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386" name="Google Shape;386;p104"/>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387" name="Google Shape;387;p104"/>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388" name="Google Shape;388;p104"/>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3</a:t>
            </a:r>
            <a:endParaRPr b="1" i="0" sz="2400" u="none" cap="none" strike="noStrike">
              <a:solidFill>
                <a:schemeClr val="lt1"/>
              </a:solidFill>
              <a:latin typeface="Arial"/>
              <a:ea typeface="Arial"/>
              <a:cs typeface="Arial"/>
              <a:sym typeface="Arial"/>
            </a:endParaRPr>
          </a:p>
        </p:txBody>
      </p:sp>
      <p:cxnSp>
        <p:nvCxnSpPr>
          <p:cNvPr id="389" name="Google Shape;389;p104"/>
          <p:cNvCxnSpPr>
            <a:stCxn id="388"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390" name="Google Shape;390;p104"/>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Khi nào kết thúc kiểm thử</a:t>
            </a:r>
            <a:endParaRPr b="1" i="0" sz="2400" u="none" cap="none" strike="noStrike">
              <a:solidFill>
                <a:srgbClr val="2F5496"/>
              </a:solidFill>
              <a:latin typeface="Be Vietnam Pro"/>
              <a:ea typeface="Be Vietnam Pro"/>
              <a:cs typeface="Be Vietnam Pro"/>
              <a:sym typeface="Be Vietnam Pro"/>
            </a:endParaRPr>
          </a:p>
        </p:txBody>
      </p:sp>
      <p:pic>
        <p:nvPicPr>
          <p:cNvPr id="391" name="Google Shape;391;p104"/>
          <p:cNvPicPr preferRelativeResize="0"/>
          <p:nvPr/>
        </p:nvPicPr>
        <p:blipFill rotWithShape="1">
          <a:blip r:embed="rId3">
            <a:alphaModFix/>
          </a:blip>
          <a:srcRect b="0" l="0" r="0" t="0"/>
          <a:stretch/>
        </p:blipFill>
        <p:spPr>
          <a:xfrm>
            <a:off x="4190548" y="2347412"/>
            <a:ext cx="3561532" cy="3561532"/>
          </a:xfrm>
          <a:prstGeom prst="rect">
            <a:avLst/>
          </a:prstGeom>
          <a:noFill/>
          <a:ln>
            <a:noFill/>
          </a:ln>
        </p:spPr>
      </p:pic>
      <p:sp>
        <p:nvSpPr>
          <p:cNvPr id="392" name="Google Shape;392;p104"/>
          <p:cNvSpPr txBox="1"/>
          <p:nvPr/>
        </p:nvSpPr>
        <p:spPr>
          <a:xfrm>
            <a:off x="7281739" y="2714514"/>
            <a:ext cx="4693919"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Ứng dụng phần mềm được đảm bảo đã hoàn thành thỏa đáng, đáp ứng yêu cầu khách hàng.</a:t>
            </a:r>
            <a:endParaRPr b="0" i="0" sz="1600" u="none" cap="none" strike="noStrike">
              <a:solidFill>
                <a:schemeClr val="dk1"/>
              </a:solidFill>
              <a:latin typeface="Be Vietnam Pro"/>
              <a:ea typeface="Be Vietnam Pro"/>
              <a:cs typeface="Be Vietnam Pro"/>
              <a:sym typeface="Be Vietnam Pro"/>
            </a:endParaRPr>
          </a:p>
        </p:txBody>
      </p:sp>
      <p:sp>
        <p:nvSpPr>
          <p:cNvPr id="393" name="Google Shape;393;p104"/>
          <p:cNvSpPr txBox="1"/>
          <p:nvPr/>
        </p:nvSpPr>
        <p:spPr>
          <a:xfrm>
            <a:off x="595482" y="2714514"/>
            <a:ext cx="4145477"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Tỷ lệ lỗi phải trong giới hạn mong muốn và không có những lỗi nghiêm trọng.</a:t>
            </a:r>
            <a:endParaRPr b="0" i="0" sz="1600" u="none" cap="none" strike="noStrike">
              <a:solidFill>
                <a:schemeClr val="dk1"/>
              </a:solidFill>
              <a:latin typeface="Be Vietnam Pro"/>
              <a:ea typeface="Be Vietnam Pro"/>
              <a:cs typeface="Be Vietnam Pro"/>
              <a:sym typeface="Be Vietnam Pro"/>
            </a:endParaRPr>
          </a:p>
        </p:txBody>
      </p:sp>
      <p:sp>
        <p:nvSpPr>
          <p:cNvPr id="394" name="Google Shape;394;p104"/>
          <p:cNvSpPr txBox="1"/>
          <p:nvPr/>
        </p:nvSpPr>
        <p:spPr>
          <a:xfrm>
            <a:off x="541143" y="4741497"/>
            <a:ext cx="4145477"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Thời gian kiểm thử vượt quá thời gian dự kiến</a:t>
            </a:r>
            <a:endParaRPr b="0" i="0" sz="1600" u="none" cap="none" strike="noStrike">
              <a:solidFill>
                <a:schemeClr val="dk1"/>
              </a:solidFill>
              <a:latin typeface="Be Vietnam Pro"/>
              <a:ea typeface="Be Vietnam Pro"/>
              <a:cs typeface="Be Vietnam Pro"/>
              <a:sym typeface="Be Vietnam Pro"/>
            </a:endParaRPr>
          </a:p>
        </p:txBody>
      </p:sp>
      <p:sp>
        <p:nvSpPr>
          <p:cNvPr id="395" name="Google Shape;395;p104"/>
          <p:cNvSpPr txBox="1"/>
          <p:nvPr/>
        </p:nvSpPr>
        <p:spPr>
          <a:xfrm>
            <a:off x="7315305" y="4729875"/>
            <a:ext cx="4145477"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0" i="0" lang="en-US" sz="2000" u="none" cap="none" strike="noStrike">
                <a:solidFill>
                  <a:schemeClr val="dk1"/>
                </a:solidFill>
                <a:latin typeface="Be Vietnam Pro"/>
                <a:ea typeface="Be Vietnam Pro"/>
                <a:cs typeface="Be Vietnam Pro"/>
                <a:sym typeface="Be Vietnam Pro"/>
              </a:rPr>
              <a:t>Kinh phí kiểm thử vượt quá giới hạn.</a:t>
            </a:r>
            <a:endParaRPr b="0" i="0" sz="1600" u="none" cap="none" strike="noStrike">
              <a:solidFill>
                <a:schemeClr val="dk1"/>
              </a:solidFill>
              <a:latin typeface="Be Vietnam Pro"/>
              <a:ea typeface="Be Vietnam Pro"/>
              <a:cs typeface="Be Vietnam Pro"/>
              <a:sym typeface="Be Vietnam Pro"/>
            </a:endParaRPr>
          </a:p>
        </p:txBody>
      </p:sp>
      <p:sp>
        <p:nvSpPr>
          <p:cNvPr id="396" name="Google Shape;396;p104"/>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12</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par>
                          <p:cTn fill="hold">
                            <p:stCondLst>
                              <p:cond delay="2000"/>
                            </p:stCondLst>
                            <p:childTnLst>
                              <p:par>
                                <p:cTn fill="hold" nodeType="afterEffect" presetClass="entr" presetID="10" presetSubtype="0">
                                  <p:stCondLst>
                                    <p:cond delay="50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childTnLst>
                          </p:cTn>
                        </p:par>
                        <p:par>
                          <p:cTn fill="hold">
                            <p:stCondLst>
                              <p:cond delay="2500"/>
                            </p:stCondLst>
                            <p:childTnLst>
                              <p:par>
                                <p:cTn fill="hold" nodeType="afterEffect" presetClass="entr" presetID="10" presetSubtype="0">
                                  <p:stCondLst>
                                    <p:cond delay="50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childTnLst>
                          </p:cTn>
                        </p:par>
                        <p:par>
                          <p:cTn fill="hold">
                            <p:stCondLst>
                              <p:cond delay="3000"/>
                            </p:stCondLst>
                            <p:childTnLst>
                              <p:par>
                                <p:cTn fill="hold" nodeType="afterEffect" presetClass="entr" presetID="10" presetSubtype="0">
                                  <p:stCondLst>
                                    <p:cond delay="50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grpSp>
        <p:nvGrpSpPr>
          <p:cNvPr id="401" name="Google Shape;401;p105"/>
          <p:cNvGrpSpPr/>
          <p:nvPr/>
        </p:nvGrpSpPr>
        <p:grpSpPr>
          <a:xfrm>
            <a:off x="1839029" y="1417785"/>
            <a:ext cx="8513941" cy="5675961"/>
            <a:chOff x="1839029" y="1417785"/>
            <a:chExt cx="8513941" cy="5675961"/>
          </a:xfrm>
        </p:grpSpPr>
        <p:pic>
          <p:nvPicPr>
            <p:cNvPr id="402" name="Google Shape;402;p105"/>
            <p:cNvPicPr preferRelativeResize="0"/>
            <p:nvPr/>
          </p:nvPicPr>
          <p:blipFill rotWithShape="1">
            <a:blip r:embed="rId3">
              <a:alphaModFix/>
            </a:blip>
            <a:srcRect b="0" l="0" r="0" t="0"/>
            <a:stretch/>
          </p:blipFill>
          <p:spPr>
            <a:xfrm>
              <a:off x="1839029" y="1417785"/>
              <a:ext cx="8513941" cy="5675961"/>
            </a:xfrm>
            <a:prstGeom prst="rect">
              <a:avLst/>
            </a:prstGeom>
            <a:noFill/>
            <a:ln>
              <a:noFill/>
            </a:ln>
          </p:spPr>
        </p:pic>
        <p:sp>
          <p:nvSpPr>
            <p:cNvPr id="403" name="Google Shape;403;p105"/>
            <p:cNvSpPr/>
            <p:nvPr/>
          </p:nvSpPr>
          <p:spPr>
            <a:xfrm>
              <a:off x="7995614" y="4061812"/>
              <a:ext cx="874399" cy="4178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grpSp>
        <p:nvGrpSpPr>
          <p:cNvPr id="404" name="Google Shape;404;p105"/>
          <p:cNvGrpSpPr/>
          <p:nvPr/>
        </p:nvGrpSpPr>
        <p:grpSpPr>
          <a:xfrm>
            <a:off x="8634714" y="211205"/>
            <a:ext cx="3429618" cy="730238"/>
            <a:chOff x="642754" y="1800088"/>
            <a:chExt cx="4981462" cy="1060658"/>
          </a:xfrm>
        </p:grpSpPr>
        <p:grpSp>
          <p:nvGrpSpPr>
            <p:cNvPr id="405" name="Google Shape;405;p105"/>
            <p:cNvGrpSpPr/>
            <p:nvPr/>
          </p:nvGrpSpPr>
          <p:grpSpPr>
            <a:xfrm>
              <a:off x="642754" y="1871705"/>
              <a:ext cx="4981462" cy="989041"/>
              <a:chOff x="508001" y="1871705"/>
              <a:chExt cx="4981462" cy="989041"/>
            </a:xfrm>
          </p:grpSpPr>
          <p:sp>
            <p:nvSpPr>
              <p:cNvPr id="406" name="Google Shape;406;p105"/>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07" name="Google Shape;407;p105"/>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408" name="Google Shape;408;p105"/>
            <p:cNvGrpSpPr/>
            <p:nvPr/>
          </p:nvGrpSpPr>
          <p:grpSpPr>
            <a:xfrm>
              <a:off x="842194" y="1800088"/>
              <a:ext cx="894759" cy="905639"/>
              <a:chOff x="707441" y="1800088"/>
              <a:chExt cx="894759" cy="905639"/>
            </a:xfrm>
          </p:grpSpPr>
          <p:sp>
            <p:nvSpPr>
              <p:cNvPr id="409" name="Google Shape;409;p105"/>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410" name="Google Shape;410;p105"/>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411" name="Google Shape;411;p105"/>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412" name="Google Shape;412;p105"/>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4</a:t>
            </a:r>
            <a:endParaRPr b="1" i="0" sz="2400" u="none" cap="none" strike="noStrike">
              <a:solidFill>
                <a:schemeClr val="lt1"/>
              </a:solidFill>
              <a:latin typeface="Arial"/>
              <a:ea typeface="Arial"/>
              <a:cs typeface="Arial"/>
              <a:sym typeface="Arial"/>
            </a:endParaRPr>
          </a:p>
        </p:txBody>
      </p:sp>
      <p:cxnSp>
        <p:nvCxnSpPr>
          <p:cNvPr id="413" name="Google Shape;413;p105"/>
          <p:cNvCxnSpPr>
            <a:stCxn id="412"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414" name="Google Shape;414;p105"/>
          <p:cNvSpPr txBox="1"/>
          <p:nvPr/>
        </p:nvSpPr>
        <p:spPr>
          <a:xfrm>
            <a:off x="3491335" y="1417785"/>
            <a:ext cx="4840997"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Ai sẽ là người kiểm thử</a:t>
            </a:r>
            <a:endParaRPr b="1" i="0" sz="1800" u="none" cap="none" strike="noStrike">
              <a:solidFill>
                <a:srgbClr val="2F5496"/>
              </a:solidFill>
              <a:latin typeface="Be Vietnam Pro"/>
              <a:ea typeface="Be Vietnam Pro"/>
              <a:cs typeface="Be Vietnam Pro"/>
              <a:sym typeface="Be Vietnam Pro"/>
            </a:endParaRPr>
          </a:p>
        </p:txBody>
      </p:sp>
      <p:sp>
        <p:nvSpPr>
          <p:cNvPr id="415" name="Google Shape;415;p105"/>
          <p:cNvSpPr txBox="1"/>
          <p:nvPr/>
        </p:nvSpPr>
        <p:spPr>
          <a:xfrm>
            <a:off x="2679503" y="3009350"/>
            <a:ext cx="87439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Be Vietnam Pro"/>
                <a:ea typeface="Be Vietnam Pro"/>
                <a:cs typeface="Be Vietnam Pro"/>
                <a:sym typeface="Be Vietnam Pro"/>
              </a:rPr>
              <a:t>Tester</a:t>
            </a:r>
            <a:endParaRPr b="0" i="0" sz="1400" u="none" cap="none" strike="noStrike">
              <a:solidFill>
                <a:srgbClr val="000000"/>
              </a:solidFill>
              <a:latin typeface="Be Vietnam Pro"/>
              <a:ea typeface="Be Vietnam Pro"/>
              <a:cs typeface="Be Vietnam Pro"/>
              <a:sym typeface="Be Vietnam Pro"/>
            </a:endParaRPr>
          </a:p>
        </p:txBody>
      </p:sp>
      <p:sp>
        <p:nvSpPr>
          <p:cNvPr id="416" name="Google Shape;416;p105"/>
          <p:cNvSpPr txBox="1"/>
          <p:nvPr/>
        </p:nvSpPr>
        <p:spPr>
          <a:xfrm>
            <a:off x="7877001" y="3286980"/>
            <a:ext cx="1515425"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Be Vietnam Pro"/>
                <a:ea typeface="Be Vietnam Pro"/>
                <a:cs typeface="Be Vietnam Pro"/>
                <a:sym typeface="Be Vietnam Pro"/>
              </a:rPr>
              <a:t>Deverloper</a:t>
            </a:r>
            <a:endParaRPr b="0" i="0" sz="2000" u="none" cap="none" strike="noStrike">
              <a:solidFill>
                <a:schemeClr val="lt1"/>
              </a:solidFill>
              <a:latin typeface="Be Vietnam Pro"/>
              <a:ea typeface="Be Vietnam Pro"/>
              <a:cs typeface="Be Vietnam Pro"/>
              <a:sym typeface="Be Vietnam Pro"/>
            </a:endParaRPr>
          </a:p>
        </p:txBody>
      </p:sp>
      <p:sp>
        <p:nvSpPr>
          <p:cNvPr id="417" name="Google Shape;417;p105"/>
          <p:cNvSpPr txBox="1"/>
          <p:nvPr/>
        </p:nvSpPr>
        <p:spPr>
          <a:xfrm>
            <a:off x="3876706" y="3754035"/>
            <a:ext cx="874399"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Be Vietnam Pro"/>
                <a:ea typeface="Be Vietnam Pro"/>
                <a:cs typeface="Be Vietnam Pro"/>
                <a:sym typeface="Be Vietnam Pro"/>
              </a:rPr>
              <a:t>User</a:t>
            </a:r>
            <a:endParaRPr b="0" i="0" sz="1400" u="none" cap="none" strike="noStrike">
              <a:solidFill>
                <a:srgbClr val="000000"/>
              </a:solidFill>
              <a:latin typeface="Be Vietnam Pro"/>
              <a:ea typeface="Be Vietnam Pro"/>
              <a:cs typeface="Be Vietnam Pro"/>
              <a:sym typeface="Be Vietnam Pro"/>
            </a:endParaRPr>
          </a:p>
        </p:txBody>
      </p:sp>
      <p:sp>
        <p:nvSpPr>
          <p:cNvPr id="418" name="Google Shape;418;p105"/>
          <p:cNvSpPr/>
          <p:nvPr/>
        </p:nvSpPr>
        <p:spPr>
          <a:xfrm>
            <a:off x="7484165" y="1787117"/>
            <a:ext cx="1336541" cy="467055"/>
          </a:xfrm>
          <a:prstGeom prst="rect">
            <a:avLst/>
          </a:prstGeom>
          <a:solidFill>
            <a:srgbClr val="455A64"/>
          </a:solidFill>
          <a:ln cap="flat" cmpd="sng" w="25400">
            <a:solidFill>
              <a:srgbClr val="31538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9" name="Google Shape;419;p105"/>
          <p:cNvSpPr txBox="1"/>
          <p:nvPr/>
        </p:nvSpPr>
        <p:spPr>
          <a:xfrm>
            <a:off x="7675100" y="1890717"/>
            <a:ext cx="1515425" cy="30777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Be Vietnam Pro"/>
                <a:ea typeface="Be Vietnam Pro"/>
                <a:cs typeface="Be Vietnam Pro"/>
                <a:sym typeface="Be Vietnam Pro"/>
              </a:rPr>
              <a:t>Leader</a:t>
            </a:r>
            <a:endParaRPr b="0" i="0" sz="1400" u="none" cap="none" strike="noStrike">
              <a:solidFill>
                <a:srgbClr val="000000"/>
              </a:solidFill>
              <a:latin typeface="Be Vietnam Pro"/>
              <a:ea typeface="Be Vietnam Pro"/>
              <a:cs typeface="Be Vietnam Pro"/>
              <a:sym typeface="Be Vietnam Pro"/>
            </a:endParaRPr>
          </a:p>
        </p:txBody>
      </p:sp>
      <p:sp>
        <p:nvSpPr>
          <p:cNvPr id="420" name="Google Shape;420;p105"/>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13</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500"/>
                                        <p:tgtEl>
                                          <p:spTgt spid="4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750"/>
                                        <p:tgtEl>
                                          <p:spTgt spid="414"/>
                                        </p:tgtEl>
                                      </p:cBhvr>
                                    </p:animEffect>
                                  </p:childTnLst>
                                </p:cTn>
                              </p:par>
                            </p:childTnLst>
                          </p:cTn>
                        </p:par>
                        <p:par>
                          <p:cTn fill="hold">
                            <p:stCondLst>
                              <p:cond delay="1750"/>
                            </p:stCondLst>
                            <p:childTnLst>
                              <p:par>
                                <p:cTn fill="hold" nodeType="after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1000"/>
                                        <p:tgtEl>
                                          <p:spTgt spid="419"/>
                                        </p:tgtEl>
                                      </p:cBhvr>
                                    </p:animEffect>
                                  </p:childTnLst>
                                </p:cTn>
                              </p:par>
                            </p:childTnLst>
                          </p:cTn>
                        </p:par>
                        <p:par>
                          <p:cTn fill="hold">
                            <p:stCondLst>
                              <p:cond delay="2750"/>
                            </p:stCondLst>
                            <p:childTnLst>
                              <p:par>
                                <p:cTn fill="hold" nodeType="after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par>
                          <p:cTn fill="hold">
                            <p:stCondLst>
                              <p:cond delay="3750"/>
                            </p:stCondLst>
                            <p:childTnLst>
                              <p:par>
                                <p:cTn fill="hold" nodeType="after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1000"/>
                                        <p:tgtEl>
                                          <p:spTgt spid="4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pic>
        <p:nvPicPr>
          <p:cNvPr id="425" name="Google Shape;425;p106"/>
          <p:cNvPicPr preferRelativeResize="0"/>
          <p:nvPr/>
        </p:nvPicPr>
        <p:blipFill rotWithShape="1">
          <a:blip r:embed="rId3">
            <a:alphaModFix/>
          </a:blip>
          <a:srcRect b="0" l="0" r="0" t="0"/>
          <a:stretch/>
        </p:blipFill>
        <p:spPr>
          <a:xfrm>
            <a:off x="1500937" y="1292690"/>
            <a:ext cx="8821792" cy="5881451"/>
          </a:xfrm>
          <a:prstGeom prst="rect">
            <a:avLst/>
          </a:prstGeom>
          <a:noFill/>
          <a:ln>
            <a:noFill/>
          </a:ln>
        </p:spPr>
      </p:pic>
      <p:grpSp>
        <p:nvGrpSpPr>
          <p:cNvPr id="426" name="Google Shape;426;p106"/>
          <p:cNvGrpSpPr/>
          <p:nvPr/>
        </p:nvGrpSpPr>
        <p:grpSpPr>
          <a:xfrm>
            <a:off x="8634714" y="211205"/>
            <a:ext cx="3429618" cy="730238"/>
            <a:chOff x="642754" y="1800088"/>
            <a:chExt cx="4981462" cy="1060658"/>
          </a:xfrm>
        </p:grpSpPr>
        <p:grpSp>
          <p:nvGrpSpPr>
            <p:cNvPr id="427" name="Google Shape;427;p106"/>
            <p:cNvGrpSpPr/>
            <p:nvPr/>
          </p:nvGrpSpPr>
          <p:grpSpPr>
            <a:xfrm>
              <a:off x="642754" y="1871705"/>
              <a:ext cx="4981462" cy="989041"/>
              <a:chOff x="508001" y="1871705"/>
              <a:chExt cx="4981462" cy="989041"/>
            </a:xfrm>
          </p:grpSpPr>
          <p:sp>
            <p:nvSpPr>
              <p:cNvPr id="428" name="Google Shape;428;p106"/>
              <p:cNvSpPr/>
              <p:nvPr/>
            </p:nvSpPr>
            <p:spPr>
              <a:xfrm>
                <a:off x="508001" y="1871705"/>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29" name="Google Shape;429;p106"/>
              <p:cNvSpPr/>
              <p:nvPr/>
            </p:nvSpPr>
            <p:spPr>
              <a:xfrm>
                <a:off x="5358014" y="1871705"/>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430" name="Google Shape;430;p106"/>
            <p:cNvGrpSpPr/>
            <p:nvPr/>
          </p:nvGrpSpPr>
          <p:grpSpPr>
            <a:xfrm>
              <a:off x="842194" y="1800088"/>
              <a:ext cx="894759" cy="905639"/>
              <a:chOff x="707441" y="1800088"/>
              <a:chExt cx="894759" cy="905639"/>
            </a:xfrm>
          </p:grpSpPr>
          <p:sp>
            <p:nvSpPr>
              <p:cNvPr id="431" name="Google Shape;431;p106"/>
              <p:cNvSpPr/>
              <p:nvPr/>
            </p:nvSpPr>
            <p:spPr>
              <a:xfrm>
                <a:off x="778151" y="1800088"/>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a:t>
                </a:r>
                <a:endParaRPr b="1" i="0" sz="3200" u="none" cap="none" strike="noStrike">
                  <a:solidFill>
                    <a:schemeClr val="dk1"/>
                  </a:solidFill>
                  <a:latin typeface="Calibri"/>
                  <a:ea typeface="Calibri"/>
                  <a:cs typeface="Calibri"/>
                  <a:sym typeface="Calibri"/>
                </a:endParaRPr>
              </a:p>
            </p:txBody>
          </p:sp>
          <p:sp>
            <p:nvSpPr>
              <p:cNvPr id="432" name="Google Shape;432;p106"/>
              <p:cNvSpPr/>
              <p:nvPr/>
            </p:nvSpPr>
            <p:spPr>
              <a:xfrm>
                <a:off x="707441" y="1800088"/>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0948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433" name="Google Shape;433;p106"/>
            <p:cNvSpPr txBox="1"/>
            <p:nvPr/>
          </p:nvSpPr>
          <p:spPr>
            <a:xfrm>
              <a:off x="2307779" y="2252907"/>
              <a:ext cx="2614162" cy="1887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n-US" sz="2000" u="none" cap="none" strike="noStrike">
                  <a:solidFill>
                    <a:srgbClr val="2F5496"/>
                  </a:solidFill>
                  <a:latin typeface="Be Vietnam Pro"/>
                  <a:ea typeface="Be Vietnam Pro"/>
                  <a:cs typeface="Be Vietnam Pro"/>
                  <a:sym typeface="Be Vietnam Pro"/>
                </a:rPr>
                <a:t>TỔNG QUAN</a:t>
              </a:r>
              <a:endParaRPr b="1" i="0" sz="2000" u="none" cap="none" strike="noStrike">
                <a:solidFill>
                  <a:srgbClr val="2F5496"/>
                </a:solidFill>
                <a:latin typeface="Be Vietnam Pro"/>
                <a:ea typeface="Be Vietnam Pro"/>
                <a:cs typeface="Be Vietnam Pro"/>
                <a:sym typeface="Be Vietnam Pro"/>
              </a:endParaRPr>
            </a:p>
          </p:txBody>
        </p:sp>
      </p:grpSp>
      <p:sp>
        <p:nvSpPr>
          <p:cNvPr id="434" name="Google Shape;434;p106"/>
          <p:cNvSpPr/>
          <p:nvPr/>
        </p:nvSpPr>
        <p:spPr>
          <a:xfrm>
            <a:off x="201646" y="1232058"/>
            <a:ext cx="757606" cy="757606"/>
          </a:xfrm>
          <a:prstGeom prst="ellipse">
            <a:avLst/>
          </a:prstGeom>
          <a:solidFill>
            <a:srgbClr val="0848A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lt1"/>
                </a:solidFill>
                <a:latin typeface="Arial"/>
                <a:ea typeface="Arial"/>
                <a:cs typeface="Arial"/>
                <a:sym typeface="Arial"/>
              </a:rPr>
              <a:t>5</a:t>
            </a:r>
            <a:endParaRPr b="1" i="0" sz="2400" u="none" cap="none" strike="noStrike">
              <a:solidFill>
                <a:schemeClr val="lt1"/>
              </a:solidFill>
              <a:latin typeface="Arial"/>
              <a:ea typeface="Arial"/>
              <a:cs typeface="Arial"/>
              <a:sym typeface="Arial"/>
            </a:endParaRPr>
          </a:p>
        </p:txBody>
      </p:sp>
      <p:cxnSp>
        <p:nvCxnSpPr>
          <p:cNvPr id="435" name="Google Shape;435;p106"/>
          <p:cNvCxnSpPr>
            <a:stCxn id="434" idx="6"/>
          </p:cNvCxnSpPr>
          <p:nvPr/>
        </p:nvCxnSpPr>
        <p:spPr>
          <a:xfrm flipH="1" rot="10800000">
            <a:off x="959252" y="1602461"/>
            <a:ext cx="2290500" cy="8400"/>
          </a:xfrm>
          <a:prstGeom prst="straightConnector1">
            <a:avLst/>
          </a:prstGeom>
          <a:noFill/>
          <a:ln cap="flat" cmpd="sng" w="9525">
            <a:solidFill>
              <a:srgbClr val="3E6EC2"/>
            </a:solidFill>
            <a:prstDash val="dashDot"/>
            <a:round/>
            <a:headEnd len="sm" w="sm" type="none"/>
            <a:tailEnd len="sm" w="sm" type="none"/>
          </a:ln>
        </p:spPr>
      </p:cxnSp>
      <p:sp>
        <p:nvSpPr>
          <p:cNvPr id="436" name="Google Shape;436;p106"/>
          <p:cNvSpPr txBox="1"/>
          <p:nvPr/>
        </p:nvSpPr>
        <p:spPr>
          <a:xfrm>
            <a:off x="3491336" y="1417785"/>
            <a:ext cx="1256156" cy="3693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Lợi ích</a:t>
            </a:r>
            <a:endParaRPr b="1" i="0" sz="1800" u="none" cap="none" strike="noStrike">
              <a:solidFill>
                <a:srgbClr val="2F5496"/>
              </a:solidFill>
              <a:latin typeface="Be Vietnam Pro"/>
              <a:ea typeface="Be Vietnam Pro"/>
              <a:cs typeface="Be Vietnam Pro"/>
              <a:sym typeface="Be Vietnam Pro"/>
            </a:endParaRPr>
          </a:p>
        </p:txBody>
      </p:sp>
      <p:sp>
        <p:nvSpPr>
          <p:cNvPr id="437" name="Google Shape;437;p106"/>
          <p:cNvSpPr txBox="1"/>
          <p:nvPr/>
        </p:nvSpPr>
        <p:spPr>
          <a:xfrm>
            <a:off x="3565237" y="2146393"/>
            <a:ext cx="2937164"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e Vietnam Pro"/>
                <a:ea typeface="Be Vietnam Pro"/>
                <a:cs typeface="Be Vietnam Pro"/>
                <a:sym typeface="Be Vietnam Pro"/>
              </a:rPr>
              <a:t>Tiết kiệm chi phí</a:t>
            </a:r>
            <a:endParaRPr b="0" i="0" sz="1800" u="none" cap="none" strike="noStrike">
              <a:solidFill>
                <a:schemeClr val="dk1"/>
              </a:solidFill>
              <a:latin typeface="Be Vietnam Pro"/>
              <a:ea typeface="Be Vietnam Pro"/>
              <a:cs typeface="Be Vietnam Pro"/>
              <a:sym typeface="Be Vietnam Pro"/>
            </a:endParaRPr>
          </a:p>
        </p:txBody>
      </p:sp>
      <p:sp>
        <p:nvSpPr>
          <p:cNvPr id="438" name="Google Shape;438;p106"/>
          <p:cNvSpPr txBox="1"/>
          <p:nvPr/>
        </p:nvSpPr>
        <p:spPr>
          <a:xfrm>
            <a:off x="6683876" y="4719963"/>
            <a:ext cx="4840997"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e Vietnam Pro"/>
                <a:ea typeface="Be Vietnam Pro"/>
                <a:cs typeface="Be Vietnam Pro"/>
                <a:sym typeface="Be Vietnam Pro"/>
              </a:rPr>
              <a:t>Sự hài lòng của khách hàng</a:t>
            </a:r>
            <a:endParaRPr b="0" i="0" sz="1800" u="none" cap="none" strike="noStrike">
              <a:solidFill>
                <a:schemeClr val="dk1"/>
              </a:solidFill>
              <a:latin typeface="Be Vietnam Pro"/>
              <a:ea typeface="Be Vietnam Pro"/>
              <a:cs typeface="Be Vietnam Pro"/>
              <a:sym typeface="Be Vietnam Pro"/>
            </a:endParaRPr>
          </a:p>
        </p:txBody>
      </p:sp>
      <p:sp>
        <p:nvSpPr>
          <p:cNvPr id="439" name="Google Shape;439;p106"/>
          <p:cNvSpPr txBox="1"/>
          <p:nvPr/>
        </p:nvSpPr>
        <p:spPr>
          <a:xfrm>
            <a:off x="959252" y="4048749"/>
            <a:ext cx="3446493"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e Vietnam Pro"/>
                <a:ea typeface="Be Vietnam Pro"/>
                <a:cs typeface="Be Vietnam Pro"/>
                <a:sym typeface="Be Vietnam Pro"/>
              </a:rPr>
              <a:t>  Gia tăng độ bảo mật</a:t>
            </a:r>
            <a:endParaRPr b="0" i="0" sz="1800" u="none" cap="none" strike="noStrike">
              <a:solidFill>
                <a:schemeClr val="dk1"/>
              </a:solidFill>
              <a:latin typeface="Be Vietnam Pro"/>
              <a:ea typeface="Be Vietnam Pro"/>
              <a:cs typeface="Be Vietnam Pro"/>
              <a:sym typeface="Be Vietnam Pro"/>
            </a:endParaRPr>
          </a:p>
        </p:txBody>
      </p:sp>
      <p:sp>
        <p:nvSpPr>
          <p:cNvPr id="440" name="Google Shape;440;p106"/>
          <p:cNvSpPr txBox="1"/>
          <p:nvPr/>
        </p:nvSpPr>
        <p:spPr>
          <a:xfrm>
            <a:off x="6367477" y="2968177"/>
            <a:ext cx="5157396"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Be Vietnam Pro"/>
                <a:ea typeface="Be Vietnam Pro"/>
                <a:cs typeface="Be Vietnam Pro"/>
                <a:sym typeface="Be Vietnam Pro"/>
              </a:rPr>
              <a:t>Đảm bảo chất lượng sản phẩm</a:t>
            </a:r>
            <a:endParaRPr b="0" i="0" sz="1800" u="none" cap="none" strike="noStrike">
              <a:solidFill>
                <a:schemeClr val="dk1"/>
              </a:solidFill>
              <a:latin typeface="Be Vietnam Pro"/>
              <a:ea typeface="Be Vietnam Pro"/>
              <a:cs typeface="Be Vietnam Pro"/>
              <a:sym typeface="Be Vietnam Pro"/>
            </a:endParaRPr>
          </a:p>
        </p:txBody>
      </p:sp>
      <p:sp>
        <p:nvSpPr>
          <p:cNvPr id="441" name="Google Shape;441;p106"/>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14</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35"/>
                                        </p:tgtEl>
                                        <p:attrNameLst>
                                          <p:attrName>style.visibility</p:attrName>
                                        </p:attrNameLst>
                                      </p:cBhvr>
                                      <p:to>
                                        <p:strVal val="visible"/>
                                      </p:to>
                                    </p:set>
                                    <p:animEffect filter="fade" transition="in">
                                      <p:cBhvr>
                                        <p:cTn dur="500"/>
                                        <p:tgtEl>
                                          <p:spTgt spid="4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750"/>
                                        <p:tgtEl>
                                          <p:spTgt spid="436"/>
                                        </p:tgtEl>
                                      </p:cBhvr>
                                    </p:animEffect>
                                  </p:childTnLst>
                                </p:cTn>
                              </p:par>
                            </p:childTnLst>
                          </p:cTn>
                        </p:par>
                        <p:par>
                          <p:cTn fill="hold">
                            <p:stCondLst>
                              <p:cond delay="1750"/>
                            </p:stCondLst>
                            <p:childTnLst>
                              <p:par>
                                <p:cTn fill="hold" nodeType="afterEffect" presetClass="entr" presetID="10" presetSubtype="0">
                                  <p:stCondLst>
                                    <p:cond delay="50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par>
                          <p:cTn fill="hold">
                            <p:stCondLst>
                              <p:cond delay="2750"/>
                            </p:stCondLst>
                            <p:childTnLst>
                              <p:par>
                                <p:cTn fill="hold" nodeType="afterEffect" presetClass="entr" presetID="10" presetSubtype="0">
                                  <p:stCondLst>
                                    <p:cond delay="50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par>
                          <p:cTn fill="hold">
                            <p:stCondLst>
                              <p:cond delay="3750"/>
                            </p:stCondLst>
                            <p:childTnLst>
                              <p:par>
                                <p:cTn fill="hold" nodeType="afterEffect" presetClass="entr" presetID="10" presetSubtype="0">
                                  <p:stCondLst>
                                    <p:cond delay="50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par>
                          <p:cTn fill="hold">
                            <p:stCondLst>
                              <p:cond delay="4750"/>
                            </p:stCondLst>
                            <p:childTnLst>
                              <p:par>
                                <p:cTn fill="hold" nodeType="afterEffect" presetClass="entr" presetID="10" presetSubtype="0">
                                  <p:stCondLst>
                                    <p:cond delay="50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grpSp>
        <p:nvGrpSpPr>
          <p:cNvPr id="446" name="Google Shape;446;p107"/>
          <p:cNvGrpSpPr/>
          <p:nvPr/>
        </p:nvGrpSpPr>
        <p:grpSpPr>
          <a:xfrm>
            <a:off x="8634714" y="222755"/>
            <a:ext cx="3429618" cy="730238"/>
            <a:chOff x="642754" y="2975872"/>
            <a:chExt cx="4981462" cy="1060658"/>
          </a:xfrm>
        </p:grpSpPr>
        <p:grpSp>
          <p:nvGrpSpPr>
            <p:cNvPr id="447" name="Google Shape;447;p107"/>
            <p:cNvGrpSpPr/>
            <p:nvPr/>
          </p:nvGrpSpPr>
          <p:grpSpPr>
            <a:xfrm>
              <a:off x="642754" y="3047489"/>
              <a:ext cx="4981462" cy="989041"/>
              <a:chOff x="508001" y="3047489"/>
              <a:chExt cx="4981462" cy="989041"/>
            </a:xfrm>
          </p:grpSpPr>
          <p:sp>
            <p:nvSpPr>
              <p:cNvPr id="448" name="Google Shape;448;p107"/>
              <p:cNvSpPr/>
              <p:nvPr/>
            </p:nvSpPr>
            <p:spPr>
              <a:xfrm>
                <a:off x="508001" y="3047489"/>
                <a:ext cx="485001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49" name="Google Shape;449;p107"/>
              <p:cNvSpPr/>
              <p:nvPr/>
            </p:nvSpPr>
            <p:spPr>
              <a:xfrm>
                <a:off x="5358014" y="304748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450" name="Google Shape;450;p107"/>
            <p:cNvGrpSpPr/>
            <p:nvPr/>
          </p:nvGrpSpPr>
          <p:grpSpPr>
            <a:xfrm>
              <a:off x="842194" y="2975872"/>
              <a:ext cx="894759" cy="905639"/>
              <a:chOff x="707441" y="2975872"/>
              <a:chExt cx="894759" cy="905639"/>
            </a:xfrm>
          </p:grpSpPr>
          <p:sp>
            <p:nvSpPr>
              <p:cNvPr id="451" name="Google Shape;451;p107"/>
              <p:cNvSpPr/>
              <p:nvPr/>
            </p:nvSpPr>
            <p:spPr>
              <a:xfrm>
                <a:off x="778151" y="297587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a:t>
                </a:r>
                <a:endParaRPr b="1" i="0" sz="3200" u="none" cap="none" strike="noStrike">
                  <a:solidFill>
                    <a:schemeClr val="dk1"/>
                  </a:solidFill>
                  <a:latin typeface="Calibri"/>
                  <a:ea typeface="Calibri"/>
                  <a:cs typeface="Calibri"/>
                  <a:sym typeface="Calibri"/>
                </a:endParaRPr>
              </a:p>
            </p:txBody>
          </p:sp>
          <p:sp>
            <p:nvSpPr>
              <p:cNvPr id="452" name="Google Shape;452;p107"/>
              <p:cNvSpPr/>
              <p:nvPr/>
            </p:nvSpPr>
            <p:spPr>
              <a:xfrm>
                <a:off x="707441" y="297587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1391B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453" name="Google Shape;453;p107"/>
            <p:cNvSpPr txBox="1"/>
            <p:nvPr/>
          </p:nvSpPr>
          <p:spPr>
            <a:xfrm>
              <a:off x="2569375" y="3229268"/>
              <a:ext cx="2614162" cy="625481"/>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YÊU CẦU</a:t>
              </a:r>
              <a:endParaRPr b="1" i="0" sz="2400" u="none" cap="none" strike="noStrike">
                <a:solidFill>
                  <a:srgbClr val="2F5496"/>
                </a:solidFill>
                <a:latin typeface="Be Vietnam Pro"/>
                <a:ea typeface="Be Vietnam Pro"/>
                <a:cs typeface="Be Vietnam Pro"/>
                <a:sym typeface="Be Vietnam Pro"/>
              </a:endParaRPr>
            </a:p>
          </p:txBody>
        </p:sp>
      </p:grpSp>
      <p:sp>
        <p:nvSpPr>
          <p:cNvPr id="454" name="Google Shape;454;p107"/>
          <p:cNvSpPr/>
          <p:nvPr/>
        </p:nvSpPr>
        <p:spPr>
          <a:xfrm>
            <a:off x="-2403664" y="1325396"/>
            <a:ext cx="4807328" cy="4807332"/>
          </a:xfrm>
          <a:prstGeom prst="ellipse">
            <a:avLst/>
          </a:prstGeom>
          <a:solidFill>
            <a:srgbClr val="0070C0"/>
          </a:solidFill>
          <a:ln>
            <a:noFill/>
          </a:ln>
        </p:spPr>
        <p:txBody>
          <a:bodyPr anchorCtr="0" anchor="t" bIns="22850" lIns="45700" spcFirstLastPara="1" rIns="45700" wrap="square" tIns="2285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sp>
        <p:nvSpPr>
          <p:cNvPr id="455" name="Google Shape;455;p107"/>
          <p:cNvSpPr txBox="1"/>
          <p:nvPr/>
        </p:nvSpPr>
        <p:spPr>
          <a:xfrm>
            <a:off x="819306" y="2999923"/>
            <a:ext cx="886945"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n-US" sz="9600" u="none" cap="none" strike="noStrike">
                <a:solidFill>
                  <a:schemeClr val="lt1"/>
                </a:solidFill>
                <a:latin typeface="Montserrat"/>
                <a:ea typeface="Montserrat"/>
                <a:cs typeface="Montserrat"/>
                <a:sym typeface="Montserrat"/>
              </a:rPr>
              <a:t>II</a:t>
            </a:r>
            <a:endParaRPr b="0" i="0" sz="8000" u="none" cap="none" strike="noStrike">
              <a:solidFill>
                <a:schemeClr val="lt1"/>
              </a:solidFill>
              <a:latin typeface="Montserrat"/>
              <a:ea typeface="Montserrat"/>
              <a:cs typeface="Montserrat"/>
              <a:sym typeface="Montserrat"/>
            </a:endParaRPr>
          </a:p>
        </p:txBody>
      </p:sp>
      <p:cxnSp>
        <p:nvCxnSpPr>
          <p:cNvPr id="456" name="Google Shape;456;p107"/>
          <p:cNvCxnSpPr/>
          <p:nvPr/>
        </p:nvCxnSpPr>
        <p:spPr>
          <a:xfrm>
            <a:off x="3903691" y="1805651"/>
            <a:ext cx="1334548" cy="0"/>
          </a:xfrm>
          <a:prstGeom prst="straightConnector1">
            <a:avLst/>
          </a:prstGeom>
          <a:noFill/>
          <a:ln cap="flat" cmpd="sng" w="9525">
            <a:solidFill>
              <a:srgbClr val="3E6EC2"/>
            </a:solidFill>
            <a:prstDash val="dashDot"/>
            <a:round/>
            <a:headEnd len="sm" w="sm" type="none"/>
            <a:tailEnd len="sm" w="sm" type="none"/>
          </a:ln>
        </p:spPr>
      </p:cxnSp>
      <p:cxnSp>
        <p:nvCxnSpPr>
          <p:cNvPr id="457" name="Google Shape;457;p107"/>
          <p:cNvCxnSpPr/>
          <p:nvPr/>
        </p:nvCxnSpPr>
        <p:spPr>
          <a:xfrm>
            <a:off x="3731746" y="5349028"/>
            <a:ext cx="1674203" cy="21115"/>
          </a:xfrm>
          <a:prstGeom prst="straightConnector1">
            <a:avLst/>
          </a:prstGeom>
          <a:noFill/>
          <a:ln cap="flat" cmpd="sng" w="9525">
            <a:solidFill>
              <a:srgbClr val="3E6EC2"/>
            </a:solidFill>
            <a:prstDash val="dashDot"/>
            <a:round/>
            <a:headEnd len="sm" w="sm" type="none"/>
            <a:tailEnd len="sm" w="sm" type="none"/>
          </a:ln>
        </p:spPr>
      </p:cxnSp>
      <p:cxnSp>
        <p:nvCxnSpPr>
          <p:cNvPr id="458" name="Google Shape;458;p107"/>
          <p:cNvCxnSpPr/>
          <p:nvPr/>
        </p:nvCxnSpPr>
        <p:spPr>
          <a:xfrm flipH="1" rot="10800000">
            <a:off x="4159816" y="3429000"/>
            <a:ext cx="1325473" cy="5317"/>
          </a:xfrm>
          <a:prstGeom prst="straightConnector1">
            <a:avLst/>
          </a:prstGeom>
          <a:noFill/>
          <a:ln cap="flat" cmpd="sng" w="9525">
            <a:solidFill>
              <a:srgbClr val="3E6EC2"/>
            </a:solidFill>
            <a:prstDash val="dashDot"/>
            <a:round/>
            <a:headEnd len="sm" w="sm" type="none"/>
            <a:tailEnd len="sm" w="sm" type="none"/>
          </a:ln>
        </p:spPr>
      </p:cxnSp>
      <p:cxnSp>
        <p:nvCxnSpPr>
          <p:cNvPr id="459" name="Google Shape;459;p107"/>
          <p:cNvCxnSpPr/>
          <p:nvPr/>
        </p:nvCxnSpPr>
        <p:spPr>
          <a:xfrm flipH="1" rot="10800000">
            <a:off x="2403664" y="1805651"/>
            <a:ext cx="1500027" cy="1932936"/>
          </a:xfrm>
          <a:prstGeom prst="straightConnector1">
            <a:avLst/>
          </a:prstGeom>
          <a:noFill/>
          <a:ln cap="flat" cmpd="sng" w="9525">
            <a:solidFill>
              <a:srgbClr val="3E6EC2"/>
            </a:solidFill>
            <a:prstDash val="solid"/>
            <a:round/>
            <a:headEnd len="sm" w="sm" type="none"/>
            <a:tailEnd len="sm" w="sm" type="none"/>
          </a:ln>
        </p:spPr>
      </p:cxnSp>
      <p:cxnSp>
        <p:nvCxnSpPr>
          <p:cNvPr id="460" name="Google Shape;460;p107"/>
          <p:cNvCxnSpPr/>
          <p:nvPr/>
        </p:nvCxnSpPr>
        <p:spPr>
          <a:xfrm flipH="1" rot="10800000">
            <a:off x="2507615" y="3429001"/>
            <a:ext cx="1583874" cy="309587"/>
          </a:xfrm>
          <a:prstGeom prst="straightConnector1">
            <a:avLst/>
          </a:prstGeom>
          <a:noFill/>
          <a:ln cap="flat" cmpd="sng" w="9525">
            <a:solidFill>
              <a:srgbClr val="3E6EC2"/>
            </a:solidFill>
            <a:prstDash val="solid"/>
            <a:round/>
            <a:headEnd len="sm" w="sm" type="none"/>
            <a:tailEnd len="sm" w="sm" type="none"/>
          </a:ln>
        </p:spPr>
      </p:cxnSp>
      <p:cxnSp>
        <p:nvCxnSpPr>
          <p:cNvPr id="461" name="Google Shape;461;p107"/>
          <p:cNvCxnSpPr/>
          <p:nvPr/>
        </p:nvCxnSpPr>
        <p:spPr>
          <a:xfrm>
            <a:off x="2403664" y="3738587"/>
            <a:ext cx="1239316" cy="1614939"/>
          </a:xfrm>
          <a:prstGeom prst="straightConnector1">
            <a:avLst/>
          </a:prstGeom>
          <a:noFill/>
          <a:ln cap="flat" cmpd="sng" w="9525">
            <a:solidFill>
              <a:srgbClr val="3E6EC2"/>
            </a:solidFill>
            <a:prstDash val="solid"/>
            <a:round/>
            <a:headEnd len="sm" w="sm" type="none"/>
            <a:tailEnd len="sm" w="sm" type="none"/>
          </a:ln>
        </p:spPr>
      </p:cxnSp>
      <p:sp>
        <p:nvSpPr>
          <p:cNvPr id="462" name="Google Shape;462;p107"/>
          <p:cNvSpPr txBox="1"/>
          <p:nvPr/>
        </p:nvSpPr>
        <p:spPr>
          <a:xfrm>
            <a:off x="5485289" y="1664233"/>
            <a:ext cx="5959563"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Tính lặp lại</a:t>
            </a:r>
            <a:r>
              <a:rPr b="0" i="0" lang="en-US" sz="2000" u="none" cap="none" strike="noStrike">
                <a:solidFill>
                  <a:schemeClr val="dk1"/>
                </a:solidFill>
                <a:latin typeface="Be Vietnam Pro"/>
                <a:ea typeface="Be Vietnam Pro"/>
                <a:cs typeface="Be Vietnam Pro"/>
                <a:sym typeface="Be Vietnam Pro"/>
              </a:rPr>
              <a:t>,</a:t>
            </a:r>
            <a:r>
              <a:rPr b="1" i="0" lang="en-US" sz="2000" u="none" cap="none" strike="noStrike">
                <a:solidFill>
                  <a:schemeClr val="dk1"/>
                </a:solidFill>
                <a:latin typeface="Be Vietnam Pro"/>
                <a:ea typeface="Be Vietnam Pro"/>
                <a:cs typeface="Be Vietnam Pro"/>
                <a:sym typeface="Be Vietnam Pro"/>
              </a:rPr>
              <a:t> </a:t>
            </a:r>
            <a:endParaRPr b="1" i="0" sz="2000" u="none" cap="none" strike="noStrike">
              <a:solidFill>
                <a:schemeClr val="dk1"/>
              </a:solidFill>
              <a:latin typeface="Be Vietnam Pro"/>
              <a:ea typeface="Be Vietnam Pro"/>
              <a:cs typeface="Be Vietnam Pro"/>
              <a:sym typeface="Be Vietnam Pro"/>
            </a:endParaRPr>
          </a:p>
          <a:p>
            <a:pPr indent="0" lvl="1"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Be Vietnam Pro"/>
                <a:ea typeface="Be Vietnam Pro"/>
                <a:cs typeface="Be Vietnam Pro"/>
                <a:sym typeface="Be Vietnam Pro"/>
              </a:rPr>
              <a:t>	Kiểm thử phải lặp lại được.</a:t>
            </a:r>
            <a:endParaRPr b="0" i="0" sz="2000" u="none" cap="none" strike="noStrike">
              <a:solidFill>
                <a:schemeClr val="dk1"/>
              </a:solidFill>
              <a:latin typeface="Be Vietnam Pro"/>
              <a:ea typeface="Be Vietnam Pro"/>
              <a:cs typeface="Be Vietnam Pro"/>
              <a:sym typeface="Be Vietnam Pro"/>
            </a:endParaRPr>
          </a:p>
          <a:p>
            <a:pPr indent="0" lvl="1"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Be Vietnam Pro"/>
                <a:ea typeface="Be Vietnam Pro"/>
                <a:cs typeface="Be Vietnam Pro"/>
                <a:sym typeface="Be Vietnam Pro"/>
              </a:rPr>
              <a:t>	Dữ liệu/trạng thái phải mô tả được. </a:t>
            </a:r>
            <a:endParaRPr b="0" i="0" sz="1600" u="none" cap="none" strike="noStrike">
              <a:solidFill>
                <a:schemeClr val="dk1"/>
              </a:solidFill>
              <a:latin typeface="Be Vietnam Pro"/>
              <a:ea typeface="Be Vietnam Pro"/>
              <a:cs typeface="Be Vietnam Pro"/>
              <a:sym typeface="Be Vietnam Pro"/>
            </a:endParaRPr>
          </a:p>
        </p:txBody>
      </p:sp>
      <p:sp>
        <p:nvSpPr>
          <p:cNvPr id="463" name="Google Shape;463;p107"/>
          <p:cNvSpPr txBox="1"/>
          <p:nvPr/>
        </p:nvSpPr>
        <p:spPr>
          <a:xfrm>
            <a:off x="5496992" y="3278104"/>
            <a:ext cx="5959563" cy="923330"/>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Tính hệ thống</a:t>
            </a:r>
            <a:r>
              <a:rPr b="0" i="0" lang="en-US" sz="2000" u="none" cap="none" strike="noStrike">
                <a:solidFill>
                  <a:schemeClr val="dk1"/>
                </a:solidFill>
                <a:latin typeface="Be Vietnam Pro"/>
                <a:ea typeface="Be Vietnam Pro"/>
                <a:cs typeface="Be Vietnam Pro"/>
                <a:sym typeface="Be Vietnam Pro"/>
              </a:rPr>
              <a:t>,</a:t>
            </a:r>
            <a:r>
              <a:rPr b="1" i="0" lang="en-US" sz="2000" u="none" cap="none" strike="noStrike">
                <a:solidFill>
                  <a:schemeClr val="dk1"/>
                </a:solidFill>
                <a:latin typeface="Be Vietnam Pro"/>
                <a:ea typeface="Be Vietnam Pro"/>
                <a:cs typeface="Be Vietnam Pro"/>
                <a:sym typeface="Be Vietnam Pro"/>
              </a:rPr>
              <a:t> </a:t>
            </a:r>
            <a:endParaRPr b="1" i="0" sz="2000" u="none" cap="none" strike="noStrike">
              <a:solidFill>
                <a:schemeClr val="dk1"/>
              </a:solidFill>
              <a:latin typeface="Be Vietnam Pro"/>
              <a:ea typeface="Be Vietnam Pro"/>
              <a:cs typeface="Be Vietnam Pro"/>
              <a:sym typeface="Be Vietnam Pro"/>
            </a:endParaRPr>
          </a:p>
          <a:p>
            <a:pPr indent="0" lvl="1"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Be Vietnam Pro"/>
                <a:ea typeface="Be Vietnam Pro"/>
                <a:cs typeface="Be Vietnam Pro"/>
                <a:sym typeface="Be Vietnam Pro"/>
              </a:rPr>
              <a:t>	Phải đảm bảo kiểm tra hết các trường 	hợp</a:t>
            </a:r>
            <a:endParaRPr b="0" i="0" sz="1600" u="none" cap="none" strike="noStrike">
              <a:solidFill>
                <a:schemeClr val="dk1"/>
              </a:solidFill>
              <a:latin typeface="Be Vietnam Pro"/>
              <a:ea typeface="Be Vietnam Pro"/>
              <a:cs typeface="Be Vietnam Pro"/>
              <a:sym typeface="Be Vietnam Pro"/>
            </a:endParaRPr>
          </a:p>
        </p:txBody>
      </p:sp>
      <p:sp>
        <p:nvSpPr>
          <p:cNvPr id="464" name="Google Shape;464;p107"/>
          <p:cNvSpPr txBox="1"/>
          <p:nvPr/>
        </p:nvSpPr>
        <p:spPr>
          <a:xfrm>
            <a:off x="5494716" y="5111738"/>
            <a:ext cx="5959563" cy="615553"/>
          </a:xfrm>
          <a:prstGeom prst="rect">
            <a:avLst/>
          </a:prstGeom>
          <a:noFill/>
          <a:ln>
            <a:noFill/>
          </a:ln>
        </p:spPr>
        <p:txBody>
          <a:bodyPr anchorCtr="0" anchor="t" bIns="0" lIns="0" spcFirstLastPara="1" rIns="0" wrap="square" tIns="0">
            <a:spAutoFit/>
          </a:bodyPr>
          <a:lstStyle/>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chemeClr val="dk1"/>
                </a:solidFill>
                <a:latin typeface="Be Vietnam Pro"/>
                <a:ea typeface="Be Vietnam Pro"/>
                <a:cs typeface="Be Vietnam Pro"/>
                <a:sym typeface="Be Vietnam Pro"/>
              </a:rPr>
              <a:t>Được lập tài liệu</a:t>
            </a:r>
            <a:r>
              <a:rPr b="0" i="0" lang="en-US" sz="2000" u="none" cap="none" strike="noStrike">
                <a:solidFill>
                  <a:schemeClr val="dk1"/>
                </a:solidFill>
                <a:latin typeface="Be Vietnam Pro"/>
                <a:ea typeface="Be Vietnam Pro"/>
                <a:cs typeface="Be Vietnam Pro"/>
                <a:sym typeface="Be Vietnam Pro"/>
              </a:rPr>
              <a:t>,</a:t>
            </a:r>
            <a:r>
              <a:rPr b="1" i="0" lang="en-US" sz="2000" u="none" cap="none" strike="noStrike">
                <a:solidFill>
                  <a:schemeClr val="dk1"/>
                </a:solidFill>
                <a:latin typeface="Be Vietnam Pro"/>
                <a:ea typeface="Be Vietnam Pro"/>
                <a:cs typeface="Be Vietnam Pro"/>
                <a:sym typeface="Be Vietnam Pro"/>
              </a:rPr>
              <a:t> </a:t>
            </a:r>
            <a:endParaRPr b="1" i="0" sz="2000" u="none" cap="none" strike="noStrike">
              <a:solidFill>
                <a:schemeClr val="dk1"/>
              </a:solidFill>
              <a:latin typeface="Be Vietnam Pro"/>
              <a:ea typeface="Be Vietnam Pro"/>
              <a:cs typeface="Be Vietnam Pro"/>
              <a:sym typeface="Be Vietnam Pro"/>
            </a:endParaRPr>
          </a:p>
          <a:p>
            <a:pPr indent="0" lvl="1"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Be Vietnam Pro"/>
                <a:ea typeface="Be Vietnam Pro"/>
                <a:cs typeface="Be Vietnam Pro"/>
                <a:sym typeface="Be Vietnam Pro"/>
              </a:rPr>
              <a:t>	Kiểm soát tiến trình, kết quả.</a:t>
            </a:r>
            <a:endParaRPr b="0" i="0" sz="1600" u="none" cap="none" strike="noStrike">
              <a:solidFill>
                <a:schemeClr val="dk1"/>
              </a:solidFill>
              <a:latin typeface="Be Vietnam Pro"/>
              <a:ea typeface="Be Vietnam Pro"/>
              <a:cs typeface="Be Vietnam Pro"/>
              <a:sym typeface="Be Vietnam Pro"/>
            </a:endParaRPr>
          </a:p>
        </p:txBody>
      </p:sp>
      <p:sp>
        <p:nvSpPr>
          <p:cNvPr id="465" name="Google Shape;465;p107"/>
          <p:cNvSpPr txBox="1"/>
          <p:nvPr/>
        </p:nvSpPr>
        <p:spPr>
          <a:xfrm>
            <a:off x="11605374" y="6462378"/>
            <a:ext cx="540445" cy="4616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7F7F7F"/>
                </a:solidFill>
                <a:latin typeface="Montserrat"/>
                <a:ea typeface="Montserrat"/>
                <a:cs typeface="Montserrat"/>
                <a:sym typeface="Montserrat"/>
              </a:rPr>
              <a:t>15</a:t>
            </a:r>
            <a:endParaRPr b="1" i="0" sz="2400" u="none" cap="none" strike="noStrike">
              <a:solidFill>
                <a:srgbClr val="7F7F7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54"/>
                                        </p:tgtEl>
                                        <p:attrNameLst>
                                          <p:attrName>style.visibility</p:attrName>
                                        </p:attrNameLst>
                                      </p:cBhvr>
                                      <p:to>
                                        <p:strVal val="visible"/>
                                      </p:to>
                                    </p:set>
                                    <p:anim calcmode="lin" valueType="num">
                                      <p:cBhvr additive="base">
                                        <p:cTn dur="500"/>
                                        <p:tgtEl>
                                          <p:spTgt spid="454"/>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750"/>
                                        <p:tgtEl>
                                          <p:spTgt spid="455"/>
                                        </p:tgtEl>
                                        <p:attrNameLst>
                                          <p:attrName>ppt_x</p:attrName>
                                        </p:attrNameLst>
                                      </p:cBhvr>
                                      <p:tavLst>
                                        <p:tav fmla="" tm="0">
                                          <p:val>
                                            <p:strVal val="#ppt_x-1"/>
                                          </p:val>
                                        </p:tav>
                                        <p:tav fmla="" tm="100000">
                                          <p:val>
                                            <p:strVal val="#ppt_x"/>
                                          </p:val>
                                        </p:tav>
                                      </p:tavLst>
                                    </p:anim>
                                  </p:childTnLst>
                                </p:cTn>
                              </p:par>
                            </p:childTnLst>
                          </p:cTn>
                        </p:par>
                        <p:par>
                          <p:cTn fill="hold">
                            <p:stCondLst>
                              <p:cond delay="750"/>
                            </p:stCondLst>
                            <p:childTnLst>
                              <p:par>
                                <p:cTn fill="hold" nodeType="after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par>
                          <p:cTn fill="hold">
                            <p:stCondLst>
                              <p:cond delay="1250"/>
                            </p:stCondLst>
                            <p:childTnLst>
                              <p:par>
                                <p:cTn fill="hold" nodeType="afterEffect" presetClass="entr" presetID="10" presetSubtype="0">
                                  <p:stCondLst>
                                    <p:cond delay="0"/>
                                  </p:stCondLst>
                                  <p:childTnLst>
                                    <p:set>
                                      <p:cBhvr>
                                        <p:cTn dur="1" fill="hold">
                                          <p:stCondLst>
                                            <p:cond delay="0"/>
                                          </p:stCondLst>
                                        </p:cTn>
                                        <p:tgtEl>
                                          <p:spTgt spid="456"/>
                                        </p:tgtEl>
                                        <p:attrNameLst>
                                          <p:attrName>style.visibility</p:attrName>
                                        </p:attrNameLst>
                                      </p:cBhvr>
                                      <p:to>
                                        <p:strVal val="visible"/>
                                      </p:to>
                                    </p:set>
                                    <p:animEffect filter="fade" transition="in">
                                      <p:cBhvr>
                                        <p:cTn dur="500"/>
                                        <p:tgtEl>
                                          <p:spTgt spid="456"/>
                                        </p:tgtEl>
                                      </p:cBhvr>
                                    </p:animEffect>
                                  </p:childTnLst>
                                </p:cTn>
                              </p:par>
                            </p:childTnLst>
                          </p:cTn>
                        </p:par>
                        <p:par>
                          <p:cTn fill="hold">
                            <p:stCondLst>
                              <p:cond delay="1750"/>
                            </p:stCondLst>
                            <p:childTnLst>
                              <p:par>
                                <p:cTn fill="hold" nodeType="afterEffect" presetClass="entr" presetID="10" presetSubtype="0">
                                  <p:stCondLst>
                                    <p:cond delay="0"/>
                                  </p:stCondLst>
                                  <p:childTnLst>
                                    <p:set>
                                      <p:cBhvr>
                                        <p:cTn dur="1" fill="hold">
                                          <p:stCondLst>
                                            <p:cond delay="0"/>
                                          </p:stCondLst>
                                        </p:cTn>
                                        <p:tgtEl>
                                          <p:spTgt spid="462"/>
                                        </p:tgtEl>
                                        <p:attrNameLst>
                                          <p:attrName>style.visibility</p:attrName>
                                        </p:attrNameLst>
                                      </p:cBhvr>
                                      <p:to>
                                        <p:strVal val="visible"/>
                                      </p:to>
                                    </p:set>
                                    <p:animEffect filter="fade" transition="in">
                                      <p:cBhvr>
                                        <p:cTn dur="750"/>
                                        <p:tgtEl>
                                          <p:spTgt spid="462"/>
                                        </p:tgtEl>
                                      </p:cBhvr>
                                    </p:animEffect>
                                  </p:childTnLst>
                                </p:cTn>
                              </p:par>
                            </p:childTnLst>
                          </p:cTn>
                        </p:par>
                        <p:par>
                          <p:cTn fill="hold">
                            <p:stCondLst>
                              <p:cond delay="2500"/>
                            </p:stCondLst>
                            <p:childTnLst>
                              <p:par>
                                <p:cTn fill="hold" nodeType="afterEffect" presetClass="entr" presetID="10" presetSubtype="0">
                                  <p:stCondLst>
                                    <p:cond delay="0"/>
                                  </p:stCondLst>
                                  <p:childTnLst>
                                    <p:set>
                                      <p:cBhvr>
                                        <p:cTn dur="1" fill="hold">
                                          <p:stCondLst>
                                            <p:cond delay="0"/>
                                          </p:stCondLst>
                                        </p:cTn>
                                        <p:tgtEl>
                                          <p:spTgt spid="460"/>
                                        </p:tgtEl>
                                        <p:attrNameLst>
                                          <p:attrName>style.visibility</p:attrName>
                                        </p:attrNameLst>
                                      </p:cBhvr>
                                      <p:to>
                                        <p:strVal val="visible"/>
                                      </p:to>
                                    </p:set>
                                    <p:animEffect filter="fade" transition="in">
                                      <p:cBhvr>
                                        <p:cTn dur="500"/>
                                        <p:tgtEl>
                                          <p:spTgt spid="460"/>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458"/>
                                        </p:tgtEl>
                                        <p:attrNameLst>
                                          <p:attrName>style.visibility</p:attrName>
                                        </p:attrNameLst>
                                      </p:cBhvr>
                                      <p:to>
                                        <p:strVal val="visible"/>
                                      </p:to>
                                    </p:set>
                                    <p:animEffect filter="fade" transition="in">
                                      <p:cBhvr>
                                        <p:cTn dur="500"/>
                                        <p:tgtEl>
                                          <p:spTgt spid="458"/>
                                        </p:tgtEl>
                                      </p:cBhvr>
                                    </p:animEffect>
                                  </p:childTnLst>
                                </p:cTn>
                              </p:par>
                            </p:childTnLst>
                          </p:cTn>
                        </p:par>
                        <p:par>
                          <p:cTn fill="hold">
                            <p:stCondLst>
                              <p:cond delay="3500"/>
                            </p:stCondLst>
                            <p:childTnLst>
                              <p:par>
                                <p:cTn fill="hold" nodeType="after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750"/>
                                        <p:tgtEl>
                                          <p:spTgt spid="463"/>
                                        </p:tgtEl>
                                      </p:cBhvr>
                                    </p:animEffect>
                                  </p:childTnLst>
                                </p:cTn>
                              </p:par>
                            </p:childTnLst>
                          </p:cTn>
                        </p:par>
                        <p:par>
                          <p:cTn fill="hold">
                            <p:stCondLst>
                              <p:cond delay="4250"/>
                            </p:stCondLst>
                            <p:childTnLst>
                              <p:par>
                                <p:cTn fill="hold" nodeType="after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par>
                          <p:cTn fill="hold">
                            <p:stCondLst>
                              <p:cond delay="4750"/>
                            </p:stCondLst>
                            <p:childTnLst>
                              <p:par>
                                <p:cTn fill="hold" nodeType="after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500"/>
                                        <p:tgtEl>
                                          <p:spTgt spid="457"/>
                                        </p:tgtEl>
                                      </p:cBhvr>
                                    </p:animEffect>
                                  </p:childTnLst>
                                </p:cTn>
                              </p:par>
                            </p:childTnLst>
                          </p:cTn>
                        </p:par>
                        <p:par>
                          <p:cTn fill="hold">
                            <p:stCondLst>
                              <p:cond delay="5250"/>
                            </p:stCondLst>
                            <p:childTnLst>
                              <p:par>
                                <p:cTn fill="hold" nodeType="afterEffect" presetClass="entr" presetID="10" presetSubtype="0">
                                  <p:stCondLst>
                                    <p:cond delay="0"/>
                                  </p:stCondLst>
                                  <p:childTnLst>
                                    <p:set>
                                      <p:cBhvr>
                                        <p:cTn dur="1" fill="hold">
                                          <p:stCondLst>
                                            <p:cond delay="0"/>
                                          </p:stCondLst>
                                        </p:cTn>
                                        <p:tgtEl>
                                          <p:spTgt spid="464"/>
                                        </p:tgtEl>
                                        <p:attrNameLst>
                                          <p:attrName>style.visibility</p:attrName>
                                        </p:attrNameLst>
                                      </p:cBhvr>
                                      <p:to>
                                        <p:strVal val="visible"/>
                                      </p:to>
                                    </p:set>
                                    <p:animEffect filter="fade" transition="in">
                                      <p:cBhvr>
                                        <p:cTn dur="75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15c7f0fab53_0_0"/>
          <p:cNvSpPr txBox="1"/>
          <p:nvPr>
            <p:ph type="title"/>
          </p:nvPr>
        </p:nvSpPr>
        <p:spPr>
          <a:xfrm>
            <a:off x="2871064" y="1977653"/>
            <a:ext cx="7056173" cy="35242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1200"/>
              </a:spcBef>
              <a:spcAft>
                <a:spcPts val="0"/>
              </a:spcAft>
              <a:buSzPts val="1800"/>
              <a:buNone/>
            </a:pPr>
            <a:r>
              <a:rPr b="1" lang="en-US" sz="3200">
                <a:latin typeface="Be Vietnam Pro"/>
                <a:ea typeface="Be Vietnam Pro"/>
                <a:cs typeface="Be Vietnam Pro"/>
                <a:sym typeface="Be Vietnam Pro"/>
              </a:rPr>
              <a:t>Có 2 kỹ thuật kiểm thử phần mềm</a:t>
            </a:r>
            <a:endParaRPr b="1" sz="3200">
              <a:latin typeface="Be Vietnam Pro"/>
              <a:ea typeface="Be Vietnam Pro"/>
              <a:cs typeface="Be Vietnam Pro"/>
              <a:sym typeface="Be Vietnam Pro"/>
            </a:endParaRPr>
          </a:p>
        </p:txBody>
      </p:sp>
      <p:grpSp>
        <p:nvGrpSpPr>
          <p:cNvPr id="472" name="Google Shape;472;g15c7f0fab53_0_0"/>
          <p:cNvGrpSpPr/>
          <p:nvPr/>
        </p:nvGrpSpPr>
        <p:grpSpPr>
          <a:xfrm>
            <a:off x="6096000" y="165201"/>
            <a:ext cx="6216956" cy="708298"/>
            <a:chOff x="642754" y="4151657"/>
            <a:chExt cx="5540174" cy="1060658"/>
          </a:xfrm>
        </p:grpSpPr>
        <p:grpSp>
          <p:nvGrpSpPr>
            <p:cNvPr id="473" name="Google Shape;473;g15c7f0fab53_0_0"/>
            <p:cNvGrpSpPr/>
            <p:nvPr/>
          </p:nvGrpSpPr>
          <p:grpSpPr>
            <a:xfrm>
              <a:off x="642754" y="4223274"/>
              <a:ext cx="5289581" cy="989041"/>
              <a:chOff x="508001" y="4223274"/>
              <a:chExt cx="5289581" cy="989041"/>
            </a:xfrm>
          </p:grpSpPr>
          <p:sp>
            <p:nvSpPr>
              <p:cNvPr id="474" name="Google Shape;474;g15c7f0fab53_0_0"/>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75" name="Google Shape;475;g15c7f0fab53_0_0"/>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476" name="Google Shape;476;g15c7f0fab53_0_0"/>
            <p:cNvGrpSpPr/>
            <p:nvPr/>
          </p:nvGrpSpPr>
          <p:grpSpPr>
            <a:xfrm>
              <a:off x="842194" y="4151657"/>
              <a:ext cx="894759" cy="905639"/>
              <a:chOff x="707441" y="4151657"/>
              <a:chExt cx="894759" cy="905639"/>
            </a:xfrm>
          </p:grpSpPr>
          <p:sp>
            <p:nvSpPr>
              <p:cNvPr id="477" name="Google Shape;477;g15c7f0fab53_0_0"/>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478" name="Google Shape;478;g15c7f0fab53_0_0"/>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479" name="Google Shape;479;g15c7f0fab53_0_0"/>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
        <p:nvSpPr>
          <p:cNvPr id="480" name="Google Shape;480;g15c7f0fab53_0_0"/>
          <p:cNvSpPr/>
          <p:nvPr/>
        </p:nvSpPr>
        <p:spPr>
          <a:xfrm>
            <a:off x="3829455" y="2919114"/>
            <a:ext cx="4533090" cy="3103124"/>
          </a:xfrm>
          <a:prstGeom prst="ellipse">
            <a:avLst/>
          </a:prstGeom>
          <a:blipFill rotWithShape="1">
            <a:blip r:embed="rId3">
              <a:alphaModFix/>
            </a:blip>
            <a:stretch>
              <a:fillRect b="-3084" l="-45" r="-1231" t="-992"/>
            </a:stretch>
          </a:blip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1"/>
          <p:cNvGrpSpPr/>
          <p:nvPr/>
        </p:nvGrpSpPr>
        <p:grpSpPr>
          <a:xfrm>
            <a:off x="6096000" y="165201"/>
            <a:ext cx="6216956" cy="708298"/>
            <a:chOff x="642754" y="4151657"/>
            <a:chExt cx="5540174" cy="1060658"/>
          </a:xfrm>
        </p:grpSpPr>
        <p:grpSp>
          <p:nvGrpSpPr>
            <p:cNvPr id="487" name="Google Shape;487;p1"/>
            <p:cNvGrpSpPr/>
            <p:nvPr/>
          </p:nvGrpSpPr>
          <p:grpSpPr>
            <a:xfrm>
              <a:off x="642754" y="4223274"/>
              <a:ext cx="5289581" cy="989041"/>
              <a:chOff x="508001" y="4223274"/>
              <a:chExt cx="5289581" cy="989041"/>
            </a:xfrm>
          </p:grpSpPr>
          <p:sp>
            <p:nvSpPr>
              <p:cNvPr id="488" name="Google Shape;488;p1"/>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489" name="Google Shape;489;p1"/>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490" name="Google Shape;490;p1"/>
            <p:cNvGrpSpPr/>
            <p:nvPr/>
          </p:nvGrpSpPr>
          <p:grpSpPr>
            <a:xfrm>
              <a:off x="842194" y="4151657"/>
              <a:ext cx="894759" cy="905639"/>
              <a:chOff x="707441" y="4151657"/>
              <a:chExt cx="894759" cy="905639"/>
            </a:xfrm>
          </p:grpSpPr>
          <p:sp>
            <p:nvSpPr>
              <p:cNvPr id="491" name="Google Shape;491;p1"/>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492" name="Google Shape;492;p1"/>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493" name="Google Shape;493;p1"/>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
        <p:nvSpPr>
          <p:cNvPr id="494" name="Google Shape;494;p1"/>
          <p:cNvSpPr txBox="1"/>
          <p:nvPr/>
        </p:nvSpPr>
        <p:spPr>
          <a:xfrm>
            <a:off x="1069182" y="1819275"/>
            <a:ext cx="9694068" cy="3886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1200"/>
              </a:spcBef>
              <a:spcAft>
                <a:spcPts val="0"/>
              </a:spcAft>
              <a:buClr>
                <a:schemeClr val="dk1"/>
              </a:buClr>
              <a:buSzPts val="1800"/>
              <a:buFont typeface="Arial"/>
              <a:buNone/>
            </a:pPr>
            <a:r>
              <a:rPr b="1" i="0" lang="en-US" sz="1800" u="none" cap="none" strike="noStrike">
                <a:solidFill>
                  <a:schemeClr val="dk1"/>
                </a:solidFill>
                <a:highlight>
                  <a:srgbClr val="FFFFFF"/>
                </a:highlight>
                <a:latin typeface="Be Vietnam Pro"/>
                <a:ea typeface="Be Vietnam Pro"/>
                <a:cs typeface="Be Vietnam Pro"/>
                <a:sym typeface="Be Vietnam Pro"/>
              </a:rPr>
              <a:t>Kiểm thử hộp đen</a:t>
            </a:r>
            <a:r>
              <a:rPr b="0" i="0" lang="en-US" sz="1800" u="none" cap="none" strike="noStrike">
                <a:solidFill>
                  <a:schemeClr val="dk1"/>
                </a:solidFill>
                <a:highlight>
                  <a:srgbClr val="FFFFFF"/>
                </a:highlight>
                <a:latin typeface="Be Vietnam Pro"/>
                <a:ea typeface="Be Vietnam Pro"/>
                <a:cs typeface="Be Vietnam Pro"/>
                <a:sym typeface="Be Vietnam Pro"/>
              </a:rPr>
              <a:t>: là một phương pháp kiểm thử phần mềm được thực hiện mà không biết được cấu tạo bên trong của phần mềm, là cách mà các tester kiểm tra xem hệ thống như một chiếc hộp đen, không có cách nào nhìn thấy bên trong của cái hộp.</a:t>
            </a:r>
            <a:endParaRPr b="1" i="0" sz="1800" u="none" cap="none" strike="noStrike">
              <a:solidFill>
                <a:srgbClr val="1C1C1C"/>
              </a:solidFill>
              <a:highlight>
                <a:srgbClr val="FFFFFF"/>
              </a:highlight>
              <a:latin typeface="Be Vietnam Pro"/>
              <a:ea typeface="Be Vietnam Pro"/>
              <a:cs typeface="Be Vietnam Pro"/>
              <a:sym typeface="Be Vietnam Pro"/>
            </a:endParaRPr>
          </a:p>
          <a:p>
            <a:pPr indent="0" lvl="0" marL="0" marR="0" rtl="0" algn="l">
              <a:lnSpc>
                <a:spcPct val="115000"/>
              </a:lnSpc>
              <a:spcBef>
                <a:spcPts val="1200"/>
              </a:spcBef>
              <a:spcAft>
                <a:spcPts val="0"/>
              </a:spcAft>
              <a:buClr>
                <a:schemeClr val="dk1"/>
              </a:buClr>
              <a:buSzPts val="1800"/>
              <a:buFont typeface="Arial"/>
              <a:buNone/>
            </a:pPr>
            <a:r>
              <a:t/>
            </a:r>
            <a:endParaRPr b="1" i="0" sz="1800" u="none" cap="none" strike="noStrike">
              <a:solidFill>
                <a:srgbClr val="1C1C1C"/>
              </a:solidFill>
              <a:highlight>
                <a:srgbClr val="FFFFFF"/>
              </a:highlight>
              <a:latin typeface="Be Vietnam Pro"/>
              <a:ea typeface="Be Vietnam Pro"/>
              <a:cs typeface="Be Vietnam Pro"/>
              <a:sym typeface="Be Vietnam Pro"/>
            </a:endParaRPr>
          </a:p>
          <a:p>
            <a:pPr indent="0" lvl="0" marL="0" marR="0" rtl="0" algn="l">
              <a:lnSpc>
                <a:spcPct val="115000"/>
              </a:lnSpc>
              <a:spcBef>
                <a:spcPts val="1200"/>
              </a:spcBef>
              <a:spcAft>
                <a:spcPts val="0"/>
              </a:spcAft>
              <a:buClr>
                <a:schemeClr val="dk1"/>
              </a:buClr>
              <a:buSzPts val="1800"/>
              <a:buFont typeface="Arial"/>
              <a:buNone/>
            </a:pPr>
            <a:r>
              <a:rPr b="1" i="0" lang="en-US" sz="1800" u="none" cap="none" strike="noStrike">
                <a:solidFill>
                  <a:srgbClr val="1C1C1C"/>
                </a:solidFill>
                <a:highlight>
                  <a:srgbClr val="FFFFFF"/>
                </a:highlight>
                <a:latin typeface="Be Vietnam Pro"/>
                <a:ea typeface="Be Vietnam Pro"/>
                <a:cs typeface="Be Vietnam Pro"/>
                <a:sym typeface="Be Vietnam Pro"/>
              </a:rPr>
              <a:t>Các phương pháp kiểm thử Black box </a:t>
            </a:r>
            <a:endParaRPr b="1" i="0" sz="1800" u="none" cap="none" strike="noStrike">
              <a:solidFill>
                <a:srgbClr val="1C1C1C"/>
              </a:solidFill>
              <a:highlight>
                <a:srgbClr val="FFFFFF"/>
              </a:highlight>
              <a:latin typeface="Be Vietnam Pro"/>
              <a:ea typeface="Be Vietnam Pro"/>
              <a:cs typeface="Be Vietnam Pro"/>
              <a:sym typeface="Be Vietnam Pro"/>
            </a:endParaRPr>
          </a:p>
          <a:p>
            <a:pPr indent="0" lvl="0" marL="0" marR="0" rtl="0" algn="l">
              <a:lnSpc>
                <a:spcPct val="115000"/>
              </a:lnSpc>
              <a:spcBef>
                <a:spcPts val="1200"/>
              </a:spcBef>
              <a:spcAft>
                <a:spcPts val="0"/>
              </a:spcAft>
              <a:buClr>
                <a:schemeClr val="dk1"/>
              </a:buClr>
              <a:buSzPts val="1800"/>
              <a:buFont typeface="Arial"/>
              <a:buNone/>
            </a:pPr>
            <a:r>
              <a:rPr b="1" i="0" lang="en-US" sz="1800" u="none" cap="none" strike="noStrike">
                <a:solidFill>
                  <a:schemeClr val="dk1"/>
                </a:solidFill>
                <a:highlight>
                  <a:srgbClr val="FFFFFF"/>
                </a:highlight>
                <a:latin typeface="Be Vietnam Pro"/>
                <a:ea typeface="Be Vietnam Pro"/>
                <a:cs typeface="Be Vietnam Pro"/>
                <a:sym typeface="Be Vietnam Pro"/>
              </a:rPr>
              <a:t>Phân vùng tương đương (Equivalence partitioning)</a:t>
            </a:r>
            <a:endParaRPr/>
          </a:p>
          <a:p>
            <a:pPr indent="-285750" lvl="0" marL="971550" marR="0" rtl="0" algn="l">
              <a:lnSpc>
                <a:spcPct val="115000"/>
              </a:lnSpc>
              <a:spcBef>
                <a:spcPts val="600"/>
              </a:spcBef>
              <a:spcAft>
                <a:spcPts val="0"/>
              </a:spcAft>
              <a:buClr>
                <a:schemeClr val="dk1"/>
              </a:buClr>
              <a:buSzPts val="1800"/>
              <a:buFont typeface="Noto Sans Symbols"/>
              <a:buChar char="❑"/>
            </a:pPr>
            <a:r>
              <a:rPr b="0" i="0" lang="en-US" sz="1800" u="none" cap="none" strike="noStrike">
                <a:solidFill>
                  <a:schemeClr val="dk1"/>
                </a:solidFill>
                <a:highlight>
                  <a:srgbClr val="FFFFFF"/>
                </a:highlight>
                <a:latin typeface="Be Vietnam Pro"/>
                <a:ea typeface="Be Vietnam Pro"/>
                <a:cs typeface="Be Vietnam Pro"/>
                <a:sym typeface="Be Vietnam Pro"/>
              </a:rPr>
              <a:t>Cho phép chia tập hợp điều kiện kiểm thử thành một phân vùng có các giá trị tương tự nhau.</a:t>
            </a:r>
            <a:endParaRPr/>
          </a:p>
          <a:p>
            <a:pPr indent="0" lvl="0" marL="0" marR="0" rtl="0" algn="l">
              <a:lnSpc>
                <a:spcPct val="115000"/>
              </a:lnSpc>
              <a:spcBef>
                <a:spcPts val="1200"/>
              </a:spcBef>
              <a:spcAft>
                <a:spcPts val="0"/>
              </a:spcAft>
              <a:buClr>
                <a:schemeClr val="dk1"/>
              </a:buClr>
              <a:buSzPts val="1414"/>
              <a:buFont typeface="Arial"/>
              <a:buNone/>
            </a:pPr>
            <a:r>
              <a:t/>
            </a:r>
            <a:endParaRPr b="0" i="0" sz="1800" u="none" cap="none" strike="noStrike">
              <a:solidFill>
                <a:schemeClr val="dk1"/>
              </a:solidFill>
              <a:highlight>
                <a:srgbClr val="FFFFFF"/>
              </a:highlight>
              <a:latin typeface="Be Vietnam Pro"/>
              <a:ea typeface="Be Vietnam Pro"/>
              <a:cs typeface="Be Vietnam Pro"/>
              <a:sym typeface="Be Vietnam Pro"/>
            </a:endParaRPr>
          </a:p>
          <a:p>
            <a:pPr indent="0" lvl="0" marL="0" marR="0" rtl="0" algn="l">
              <a:lnSpc>
                <a:spcPct val="90000"/>
              </a:lnSpc>
              <a:spcBef>
                <a:spcPts val="1000"/>
              </a:spcBef>
              <a:spcAft>
                <a:spcPts val="0"/>
              </a:spcAft>
              <a:buClr>
                <a:schemeClr val="dk1"/>
              </a:buClr>
              <a:buSzPts val="1800"/>
              <a:buFont typeface="Arial"/>
              <a:buNone/>
            </a:pPr>
            <a:r>
              <a:t/>
            </a:r>
            <a:endParaRPr b="0" i="0" sz="1800" u="none" cap="none" strike="noStrike">
              <a:solidFill>
                <a:schemeClr val="dk1"/>
              </a:solidFill>
              <a:latin typeface="Be Vietnam Pro"/>
              <a:ea typeface="Be Vietnam Pro"/>
              <a:cs typeface="Be Vietnam Pro"/>
              <a:sym typeface="Be Vietnam Pro"/>
            </a:endParaRPr>
          </a:p>
        </p:txBody>
      </p:sp>
      <p:sp>
        <p:nvSpPr>
          <p:cNvPr id="495" name="Google Shape;495;p1"/>
          <p:cNvSpPr txBox="1"/>
          <p:nvPr/>
        </p:nvSpPr>
        <p:spPr>
          <a:xfrm>
            <a:off x="1069181" y="1312990"/>
            <a:ext cx="6157912"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1C1C1C"/>
                </a:solidFill>
                <a:highlight>
                  <a:srgbClr val="FFFFFF"/>
                </a:highlight>
                <a:latin typeface="Be Vietnam Pro"/>
                <a:ea typeface="Be Vietnam Pro"/>
                <a:cs typeface="Be Vietnam Pro"/>
                <a:sym typeface="Be Vietnam Pro"/>
              </a:rPr>
              <a:t>1.</a:t>
            </a:r>
            <a:r>
              <a:rPr b="0" i="0" lang="en-US" sz="2000" u="none" cap="none" strike="noStrike">
                <a:solidFill>
                  <a:srgbClr val="1C1C1C"/>
                </a:solidFill>
                <a:highlight>
                  <a:srgbClr val="FFFFFF"/>
                </a:highlight>
                <a:latin typeface="Be Vietnam Pro"/>
                <a:ea typeface="Be Vietnam Pro"/>
                <a:cs typeface="Be Vietnam Pro"/>
                <a:sym typeface="Be Vietnam Pro"/>
              </a:rPr>
              <a:t>   </a:t>
            </a:r>
            <a:r>
              <a:rPr b="1" i="0" lang="en-US" sz="2000" u="none" cap="none" strike="noStrike">
                <a:solidFill>
                  <a:srgbClr val="1C1C1C"/>
                </a:solidFill>
                <a:highlight>
                  <a:srgbClr val="FFFFFF"/>
                </a:highlight>
                <a:latin typeface="Be Vietnam Pro"/>
                <a:ea typeface="Be Vietnam Pro"/>
                <a:cs typeface="Be Vietnam Pro"/>
                <a:sym typeface="Be Vietnam Pro"/>
              </a:rPr>
              <a:t>Phương pháp hộp đen Black box testing</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
          <p:cNvSpPr txBox="1"/>
          <p:nvPr/>
        </p:nvSpPr>
        <p:spPr>
          <a:xfrm>
            <a:off x="76201" y="2000250"/>
            <a:ext cx="11487150" cy="3244606"/>
          </a:xfrm>
          <a:prstGeom prst="rect">
            <a:avLst/>
          </a:prstGeom>
          <a:noFill/>
          <a:ln>
            <a:noFill/>
          </a:ln>
        </p:spPr>
        <p:txBody>
          <a:bodyPr anchorCtr="0" anchor="t" bIns="45700" lIns="91425" spcFirstLastPara="1" rIns="91425" wrap="square" tIns="45700">
            <a:spAutoFit/>
          </a:bodyPr>
          <a:lstStyle/>
          <a:p>
            <a:pPr indent="0" lvl="0" marL="685800" marR="0" rtl="0" algn="l">
              <a:lnSpc>
                <a:spcPct val="115000"/>
              </a:lnSpc>
              <a:spcBef>
                <a:spcPts val="0"/>
              </a:spcBef>
              <a:spcAft>
                <a:spcPts val="0"/>
              </a:spcAft>
              <a:buClr>
                <a:srgbClr val="000000"/>
              </a:buClr>
              <a:buSzPts val="1800"/>
              <a:buFont typeface="Arial"/>
              <a:buNone/>
            </a:pPr>
            <a:r>
              <a:rPr b="0" i="0" lang="en-US" sz="1800" u="none" cap="none" strike="noStrike">
                <a:solidFill>
                  <a:srgbClr val="2A2A2A"/>
                </a:solidFill>
                <a:highlight>
                  <a:srgbClr val="FFFFFF"/>
                </a:highlight>
                <a:latin typeface="Be Vietnam Pro"/>
                <a:ea typeface="Be Vietnam Pro"/>
                <a:cs typeface="Be Vietnam Pro"/>
                <a:sym typeface="Be Vietnam Pro"/>
              </a:rPr>
              <a:t>Giả sử có một hệ thống có thể xác nhận được giá vé vào cổng khi nhập chiều cao (đơn vị: cm) vào cột nhập chiều cao trên trang Web bán vé vào cổng khu vui chơi. Các thông số kỹ thuật được mô tả như bên dưới.</a:t>
            </a:r>
            <a:endParaRPr/>
          </a:p>
          <a:p>
            <a:pPr indent="0" lvl="0" marL="685800" marR="0" rtl="0" algn="l">
              <a:lnSpc>
                <a:spcPct val="115000"/>
              </a:lnSpc>
              <a:spcBef>
                <a:spcPts val="0"/>
              </a:spcBef>
              <a:spcAft>
                <a:spcPts val="0"/>
              </a:spcAft>
              <a:buClr>
                <a:srgbClr val="000000"/>
              </a:buClr>
              <a:buSzPts val="1800"/>
              <a:buFont typeface="Arial"/>
              <a:buNone/>
            </a:pPr>
            <a:r>
              <a:rPr b="0" i="0" lang="en-US" sz="1800" u="none" cap="none" strike="noStrike">
                <a:solidFill>
                  <a:srgbClr val="2A2A2A"/>
                </a:solidFill>
                <a:highlight>
                  <a:srgbClr val="FFFFFF"/>
                </a:highlight>
                <a:latin typeface="Be Vietnam Pro"/>
                <a:ea typeface="Be Vietnam Pro"/>
                <a:cs typeface="Be Vietnam Pro"/>
                <a:sym typeface="Be Vietnam Pro"/>
              </a:rPr>
              <a:t>	※ Chiều cao có thể nhập (cm) là số nguyên, có giá trị từ 40 đến 200.</a:t>
            </a:r>
            <a:endParaRPr/>
          </a:p>
          <a:p>
            <a:pPr indent="0" lvl="0" marL="1143000" marR="0" rtl="0" algn="l">
              <a:lnSpc>
                <a:spcPct val="115000"/>
              </a:lnSpc>
              <a:spcBef>
                <a:spcPts val="0"/>
              </a:spcBef>
              <a:spcAft>
                <a:spcPts val="0"/>
              </a:spcAft>
              <a:buClr>
                <a:srgbClr val="000000"/>
              </a:buClr>
              <a:buSzPts val="1800"/>
              <a:buFont typeface="Arial"/>
              <a:buNone/>
            </a:pPr>
            <a:r>
              <a:rPr b="0" i="0" lang="en-US" sz="1800" u="none" cap="none" strike="noStrike">
                <a:solidFill>
                  <a:srgbClr val="2A2A2A"/>
                </a:solidFill>
                <a:latin typeface="Be Vietnam Pro"/>
                <a:ea typeface="Be Vietnam Pro"/>
                <a:cs typeface="Be Vietnam Pro"/>
                <a:sym typeface="Be Vietnam Pro"/>
              </a:rPr>
              <a:t>·        Khi nhập giá trị từ 40 đến 99, hệ thống sẽ hiển thị (miễn phí)</a:t>
            </a:r>
            <a:endParaRPr/>
          </a:p>
          <a:p>
            <a:pPr indent="0" lvl="0" marL="1143000" marR="0" rtl="0" algn="l">
              <a:lnSpc>
                <a:spcPct val="115000"/>
              </a:lnSpc>
              <a:spcBef>
                <a:spcPts val="600"/>
              </a:spcBef>
              <a:spcAft>
                <a:spcPts val="0"/>
              </a:spcAft>
              <a:buClr>
                <a:srgbClr val="000000"/>
              </a:buClr>
              <a:buSzPts val="1800"/>
              <a:buFont typeface="Arial"/>
              <a:buNone/>
            </a:pPr>
            <a:r>
              <a:rPr b="0" i="0" lang="en-US" sz="1800" u="none" cap="none" strike="noStrike">
                <a:solidFill>
                  <a:srgbClr val="2A2A2A"/>
                </a:solidFill>
                <a:latin typeface="Be Vietnam Pro"/>
                <a:ea typeface="Be Vietnam Pro"/>
                <a:cs typeface="Be Vietnam Pro"/>
                <a:sym typeface="Be Vietnam Pro"/>
              </a:rPr>
              <a:t>·        Khi nhập giá trị từ 100 đến 140, hệ thống sẽ hiển thị 「150000VND」 (150 nghìn đồng)</a:t>
            </a:r>
            <a:endParaRPr/>
          </a:p>
          <a:p>
            <a:pPr indent="0" lvl="0" marL="1143000" marR="0" rtl="0" algn="l">
              <a:lnSpc>
                <a:spcPct val="115000"/>
              </a:lnSpc>
              <a:spcBef>
                <a:spcPts val="600"/>
              </a:spcBef>
              <a:spcAft>
                <a:spcPts val="0"/>
              </a:spcAft>
              <a:buClr>
                <a:srgbClr val="000000"/>
              </a:buClr>
              <a:buSzPts val="1800"/>
              <a:buFont typeface="Arial"/>
              <a:buNone/>
            </a:pPr>
            <a:r>
              <a:rPr b="0" i="0" lang="en-US" sz="1800" u="none" cap="none" strike="noStrike">
                <a:solidFill>
                  <a:srgbClr val="2A2A2A"/>
                </a:solidFill>
                <a:latin typeface="Be Vietnam Pro"/>
                <a:ea typeface="Be Vietnam Pro"/>
                <a:cs typeface="Be Vietnam Pro"/>
                <a:sym typeface="Be Vietnam Pro"/>
              </a:rPr>
              <a:t>·        Khi nhập giá trị từ 141 đến 200, hệ thống sẽ hiển thị 「300000VND」 (300 nghìn đồng)</a:t>
            </a:r>
            <a:endParaRPr/>
          </a:p>
          <a:p>
            <a:pPr indent="0" lvl="0" marL="1143000" marR="0" rtl="0" algn="l">
              <a:lnSpc>
                <a:spcPct val="115000"/>
              </a:lnSpc>
              <a:spcBef>
                <a:spcPts val="600"/>
              </a:spcBef>
              <a:spcAft>
                <a:spcPts val="0"/>
              </a:spcAft>
              <a:buClr>
                <a:srgbClr val="000000"/>
              </a:buClr>
              <a:buSzPts val="1800"/>
              <a:buFont typeface="Arial"/>
              <a:buNone/>
            </a:pPr>
            <a:r>
              <a:rPr b="0" i="0" lang="en-US" sz="1800" u="none" cap="none" strike="noStrike">
                <a:solidFill>
                  <a:srgbClr val="2A2A2A"/>
                </a:solidFill>
                <a:latin typeface="Be Vietnam Pro"/>
                <a:ea typeface="Be Vietnam Pro"/>
                <a:cs typeface="Be Vietnam Pro"/>
                <a:sym typeface="Be Vietnam Pro"/>
              </a:rPr>
              <a:t>·        Khi nhập ngoài giá trị từ 40 đến 200, hệ thống sẽ báo lỗi.</a:t>
            </a:r>
            <a:endParaRPr b="0" i="0" sz="1800" u="none" cap="none" strike="noStrike">
              <a:solidFill>
                <a:srgbClr val="2A2A2A"/>
              </a:solidFill>
              <a:highlight>
                <a:srgbClr val="FFFFFF"/>
              </a:highlight>
              <a:latin typeface="Be Vietnam Pro"/>
              <a:ea typeface="Be Vietnam Pro"/>
              <a:cs typeface="Be Vietnam Pro"/>
              <a:sym typeface="Be Vietnam Pro"/>
            </a:endParaRPr>
          </a:p>
          <a:p>
            <a:pPr indent="0" lvl="0" marL="0" marR="0" rtl="0" algn="l">
              <a:lnSpc>
                <a:spcPct val="115000"/>
              </a:lnSpc>
              <a:spcBef>
                <a:spcPts val="600"/>
              </a:spcBef>
              <a:spcAft>
                <a:spcPts val="0"/>
              </a:spcAft>
              <a:buClr>
                <a:srgbClr val="000000"/>
              </a:buClr>
              <a:buSzPts val="1800"/>
              <a:buFont typeface="Arial"/>
              <a:buNone/>
            </a:pPr>
            <a:r>
              <a:rPr b="0" i="0" lang="en-US" sz="1800" u="none" cap="none" strike="noStrike">
                <a:solidFill>
                  <a:srgbClr val="2A2A2A"/>
                </a:solidFill>
                <a:highlight>
                  <a:srgbClr val="FFFFFF"/>
                </a:highlight>
                <a:latin typeface="Be Vietnam Pro"/>
                <a:ea typeface="Be Vietnam Pro"/>
                <a:cs typeface="Be Vietnam Pro"/>
                <a:sym typeface="Be Vietnam Pro"/>
              </a:rPr>
              <a:t>	※Giá trị có thể nhập chỉ là số nguyên, không bao gồm chữ cái, số âm và chữ số thập phân.</a:t>
            </a:r>
            <a:endParaRPr/>
          </a:p>
        </p:txBody>
      </p:sp>
      <p:grpSp>
        <p:nvGrpSpPr>
          <p:cNvPr id="501" name="Google Shape;501;p4"/>
          <p:cNvGrpSpPr/>
          <p:nvPr/>
        </p:nvGrpSpPr>
        <p:grpSpPr>
          <a:xfrm>
            <a:off x="6096000" y="165201"/>
            <a:ext cx="6216956" cy="708298"/>
            <a:chOff x="642754" y="4151657"/>
            <a:chExt cx="5540174" cy="1060658"/>
          </a:xfrm>
        </p:grpSpPr>
        <p:grpSp>
          <p:nvGrpSpPr>
            <p:cNvPr id="502" name="Google Shape;502;p4"/>
            <p:cNvGrpSpPr/>
            <p:nvPr/>
          </p:nvGrpSpPr>
          <p:grpSpPr>
            <a:xfrm>
              <a:off x="642754" y="4223274"/>
              <a:ext cx="5289581" cy="989041"/>
              <a:chOff x="508001" y="4223274"/>
              <a:chExt cx="5289581" cy="989041"/>
            </a:xfrm>
          </p:grpSpPr>
          <p:sp>
            <p:nvSpPr>
              <p:cNvPr id="503" name="Google Shape;503;p4"/>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04" name="Google Shape;504;p4"/>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05" name="Google Shape;505;p4"/>
            <p:cNvGrpSpPr/>
            <p:nvPr/>
          </p:nvGrpSpPr>
          <p:grpSpPr>
            <a:xfrm>
              <a:off x="842194" y="4151657"/>
              <a:ext cx="894759" cy="905639"/>
              <a:chOff x="707441" y="4151657"/>
              <a:chExt cx="894759" cy="905639"/>
            </a:xfrm>
          </p:grpSpPr>
          <p:sp>
            <p:nvSpPr>
              <p:cNvPr id="506" name="Google Shape;506;p4"/>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07" name="Google Shape;507;p4"/>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08" name="Google Shape;508;p4"/>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15c7f0fab53_0_11"/>
          <p:cNvSpPr txBox="1"/>
          <p:nvPr>
            <p:ph idx="1" type="body"/>
          </p:nvPr>
        </p:nvSpPr>
        <p:spPr>
          <a:xfrm>
            <a:off x="323850" y="4998725"/>
            <a:ext cx="11315700" cy="1378375"/>
          </a:xfrm>
          <a:prstGeom prst="rect">
            <a:avLst/>
          </a:prstGeom>
          <a:noFill/>
          <a:ln>
            <a:noFill/>
          </a:ln>
        </p:spPr>
        <p:txBody>
          <a:bodyPr anchorCtr="0" anchor="t" bIns="45700" lIns="91425" spcFirstLastPara="1" rIns="91425" wrap="square" tIns="45700">
            <a:noAutofit/>
          </a:bodyPr>
          <a:lstStyle/>
          <a:p>
            <a:pPr indent="-285750" lvl="0" marL="742950" rtl="0" algn="l">
              <a:lnSpc>
                <a:spcPct val="115000"/>
              </a:lnSpc>
              <a:spcBef>
                <a:spcPts val="0"/>
              </a:spcBef>
              <a:spcAft>
                <a:spcPts val="0"/>
              </a:spcAft>
              <a:buClr>
                <a:schemeClr val="dk1"/>
              </a:buClr>
              <a:buSzPts val="1414"/>
              <a:buFont typeface="Noto Sans Symbols"/>
              <a:buChar char="❑"/>
            </a:pPr>
            <a:r>
              <a:rPr lang="en-US" sz="1800">
                <a:solidFill>
                  <a:srgbClr val="2A2A2A"/>
                </a:solidFill>
                <a:highlight>
                  <a:srgbClr val="FFFFFF"/>
                </a:highlight>
                <a:latin typeface="Be Vietnam Pro"/>
                <a:ea typeface="Be Vietnam Pro"/>
                <a:cs typeface="Be Vietnam Pro"/>
                <a:sym typeface="Be Vietnam Pro"/>
              </a:rPr>
              <a:t>Chúng ta sẽ chọn một giá trị đầu vào đại diện cho mỗi lớp tương đương để test. Nghĩa là, nếu kết quả của bất kỳ giá trị nào trong lớp tương đương là hợp lệ, thì các giá trị khác trong lớp tương đương cũng được coi là "hợp lệ". Tương tự, nếu bất kỳ giá trị nào trong lớp tương đương là "không hợp lệ", thì những giá trị khác trong lớp tương đương cũng "không hợp lệ".</a:t>
            </a:r>
            <a:endParaRPr sz="1800">
              <a:solidFill>
                <a:srgbClr val="2A2A2A"/>
              </a:solidFill>
              <a:highlight>
                <a:srgbClr val="FFFFFF"/>
              </a:highlight>
              <a:latin typeface="Be Vietnam Pro"/>
              <a:ea typeface="Be Vietnam Pro"/>
              <a:cs typeface="Be Vietnam Pro"/>
              <a:sym typeface="Be Vietnam Pro"/>
            </a:endParaRPr>
          </a:p>
          <a:p>
            <a:pPr indent="0" lvl="0" marL="0" rtl="0" algn="l">
              <a:lnSpc>
                <a:spcPct val="90000"/>
              </a:lnSpc>
              <a:spcBef>
                <a:spcPts val="1000"/>
              </a:spcBef>
              <a:spcAft>
                <a:spcPts val="0"/>
              </a:spcAft>
              <a:buSzPts val="1800"/>
              <a:buNone/>
            </a:pPr>
            <a:r>
              <a:t/>
            </a:r>
            <a:endParaRPr sz="1800">
              <a:latin typeface="Be Vietnam Pro"/>
              <a:ea typeface="Be Vietnam Pro"/>
              <a:cs typeface="Be Vietnam Pro"/>
              <a:sym typeface="Be Vietnam Pro"/>
            </a:endParaRPr>
          </a:p>
        </p:txBody>
      </p:sp>
      <p:pic>
        <p:nvPicPr>
          <p:cNvPr id="515" name="Google Shape;515;g15c7f0fab53_0_11"/>
          <p:cNvPicPr preferRelativeResize="0"/>
          <p:nvPr/>
        </p:nvPicPr>
        <p:blipFill rotWithShape="1">
          <a:blip r:embed="rId3">
            <a:alphaModFix/>
          </a:blip>
          <a:srcRect b="0" l="0" r="0" t="0"/>
          <a:stretch/>
        </p:blipFill>
        <p:spPr>
          <a:xfrm>
            <a:off x="678738" y="1266200"/>
            <a:ext cx="5779024" cy="3584725"/>
          </a:xfrm>
          <a:prstGeom prst="rect">
            <a:avLst/>
          </a:prstGeom>
          <a:noFill/>
          <a:ln>
            <a:noFill/>
          </a:ln>
        </p:spPr>
      </p:pic>
      <p:graphicFrame>
        <p:nvGraphicFramePr>
          <p:cNvPr id="516" name="Google Shape;516;g15c7f0fab53_0_11"/>
          <p:cNvGraphicFramePr/>
          <p:nvPr/>
        </p:nvGraphicFramePr>
        <p:xfrm>
          <a:off x="7208200" y="1266200"/>
          <a:ext cx="3000000" cy="3000000"/>
        </p:xfrm>
        <a:graphic>
          <a:graphicData uri="http://schemas.openxmlformats.org/drawingml/2006/table">
            <a:tbl>
              <a:tblPr>
                <a:noFill/>
                <a:tableStyleId>{A7A9F97C-25F6-4710-8AAD-0FDC6027060E}</a:tableStyleId>
              </a:tblPr>
              <a:tblGrid>
                <a:gridCol w="434350"/>
                <a:gridCol w="2280175"/>
                <a:gridCol w="1716825"/>
              </a:tblGrid>
              <a:tr h="597450">
                <a:tc>
                  <a:txBody>
                    <a:bodyPr/>
                    <a:lstStyle/>
                    <a:p>
                      <a:pPr indent="0" lvl="0" marL="0" marR="0" rtl="0" algn="r">
                        <a:lnSpc>
                          <a:spcPct val="115000"/>
                        </a:lnSpc>
                        <a:spcBef>
                          <a:spcPts val="0"/>
                        </a:spcBef>
                        <a:spcAft>
                          <a:spcPts val="0"/>
                        </a:spcAft>
                        <a:buClr>
                          <a:srgbClr val="000000"/>
                        </a:buClr>
                        <a:buSzPts val="1400"/>
                        <a:buFont typeface="Arial"/>
                        <a:buNone/>
                      </a:pPr>
                      <a:r>
                        <a:rPr b="1" lang="en-US" sz="1400" u="none" cap="none" strike="noStrike">
                          <a:latin typeface="Times New Roman"/>
                          <a:ea typeface="Times New Roman"/>
                          <a:cs typeface="Times New Roman"/>
                          <a:sym typeface="Times New Roman"/>
                        </a:rPr>
                        <a:t>​</a:t>
                      </a:r>
                      <a:endParaRPr b="1" sz="1400" u="none" cap="none" strike="noStrike">
                        <a:latin typeface="Times New Roman"/>
                        <a:ea typeface="Times New Roman"/>
                        <a:cs typeface="Times New Roman"/>
                        <a:sym typeface="Times New Roman"/>
                      </a:endParaRPr>
                    </a:p>
                  </a:txBody>
                  <a:tcPr marT="91425" marB="91425" marR="91425" marL="91425">
                    <a:solidFill>
                      <a:srgbClr val="DDDDDD"/>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Giá trị nhập vào</a:t>
                      </a:r>
                      <a:endParaRPr b="1" sz="1400" u="none" cap="none" strike="noStrike"/>
                    </a:p>
                  </a:txBody>
                  <a:tcPr marT="91425" marB="91425" marR="91425" marL="91425">
                    <a:solidFill>
                      <a:srgbClr val="DDDDDD"/>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t>Kết quả</a:t>
                      </a:r>
                      <a:endParaRPr b="1" sz="1400" u="none" cap="none" strike="noStrike"/>
                    </a:p>
                  </a:txBody>
                  <a:tcPr marT="91425" marB="91425" marR="91425" marL="91425">
                    <a:solidFill>
                      <a:srgbClr val="DDDDDD"/>
                    </a:solidFill>
                  </a:tcPr>
                </a:tc>
              </a:tr>
              <a:tr h="597450">
                <a:tc>
                  <a:txBody>
                    <a:bodyPr/>
                    <a:lstStyle/>
                    <a:p>
                      <a:pPr indent="0" lvl="0" marL="0" marR="0" rtl="0" algn="r">
                        <a:lnSpc>
                          <a:spcPct val="115000"/>
                        </a:lnSpc>
                        <a:spcBef>
                          <a:spcPts val="0"/>
                        </a:spcBef>
                        <a:spcAft>
                          <a:spcPts val="0"/>
                        </a:spcAft>
                        <a:buClr>
                          <a:srgbClr val="000000"/>
                        </a:buClr>
                        <a:buSzPts val="1400"/>
                        <a:buFont typeface="Arial"/>
                        <a:buNone/>
                      </a:pPr>
                      <a:r>
                        <a:rPr lang="en-US" sz="1400" u="none" cap="none" strike="noStrike"/>
                        <a:t>1</a:t>
                      </a:r>
                      <a:endParaRPr sz="140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20</a:t>
                      </a:r>
                      <a:endParaRPr sz="140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Lỗi</a:t>
                      </a:r>
                      <a:endParaRPr sz="1400" u="none" cap="none" strike="noStrike"/>
                    </a:p>
                  </a:txBody>
                  <a:tcPr marT="91425" marB="91425" marR="91425" marL="91425">
                    <a:solidFill>
                      <a:srgbClr val="ED8484"/>
                    </a:solidFill>
                  </a:tcPr>
                </a:tc>
              </a:tr>
              <a:tr h="597450">
                <a:tc>
                  <a:txBody>
                    <a:bodyPr/>
                    <a:lstStyle/>
                    <a:p>
                      <a:pPr indent="0" lvl="0" marL="0" marR="0" rtl="0" algn="r">
                        <a:lnSpc>
                          <a:spcPct val="115000"/>
                        </a:lnSpc>
                        <a:spcBef>
                          <a:spcPts val="0"/>
                        </a:spcBef>
                        <a:spcAft>
                          <a:spcPts val="0"/>
                        </a:spcAft>
                        <a:buClr>
                          <a:srgbClr val="000000"/>
                        </a:buClr>
                        <a:buSzPts val="1400"/>
                        <a:buFont typeface="Arial"/>
                        <a:buNone/>
                      </a:pPr>
                      <a:r>
                        <a:rPr lang="en-US" sz="1400" u="none" cap="none" strike="noStrike"/>
                        <a:t>2</a:t>
                      </a:r>
                      <a:endParaRPr sz="1400" u="none" cap="none" strike="noStrike"/>
                    </a:p>
                  </a:txBody>
                  <a:tcPr marT="91425" marB="91425" marR="91425" marL="91425">
                    <a:solidFill>
                      <a:srgbClr val="F0CF85"/>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60</a:t>
                      </a:r>
                      <a:endParaRPr sz="1400" u="none" cap="none" strike="noStrike"/>
                    </a:p>
                  </a:txBody>
                  <a:tcPr marT="91425" marB="91425" marR="91425" marL="91425">
                    <a:solidFill>
                      <a:srgbClr val="F0CF85"/>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Miễn phí</a:t>
                      </a:r>
                      <a:endParaRPr sz="1400" u="none" cap="none" strike="noStrike"/>
                    </a:p>
                  </a:txBody>
                  <a:tcPr marT="91425" marB="91425" marR="91425" marL="91425">
                    <a:solidFill>
                      <a:srgbClr val="F0CF85"/>
                    </a:solidFill>
                  </a:tcPr>
                </a:tc>
              </a:tr>
              <a:tr h="597450">
                <a:tc>
                  <a:txBody>
                    <a:bodyPr/>
                    <a:lstStyle/>
                    <a:p>
                      <a:pPr indent="0" lvl="0" marL="0" marR="0" rtl="0" algn="r">
                        <a:lnSpc>
                          <a:spcPct val="115000"/>
                        </a:lnSpc>
                        <a:spcBef>
                          <a:spcPts val="0"/>
                        </a:spcBef>
                        <a:spcAft>
                          <a:spcPts val="0"/>
                        </a:spcAft>
                        <a:buClr>
                          <a:srgbClr val="000000"/>
                        </a:buClr>
                        <a:buSzPts val="1400"/>
                        <a:buFont typeface="Arial"/>
                        <a:buNone/>
                      </a:pPr>
                      <a:r>
                        <a:rPr lang="en-US" sz="1400" u="none" cap="none" strike="noStrike"/>
                        <a:t>3</a:t>
                      </a:r>
                      <a:endParaRPr sz="140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120</a:t>
                      </a:r>
                      <a:endParaRPr sz="140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latin typeface="Times New Roman"/>
                          <a:ea typeface="Times New Roman"/>
                          <a:cs typeface="Times New Roman"/>
                          <a:sym typeface="Times New Roman"/>
                        </a:rPr>
                        <a:t>​</a:t>
                      </a:r>
                      <a:r>
                        <a:rPr lang="en-US" sz="1400" u="none" cap="none" strike="noStrike"/>
                        <a:t>150000VND</a:t>
                      </a:r>
                      <a:endParaRPr sz="1400" u="none" cap="none" strike="noStrike"/>
                    </a:p>
                  </a:txBody>
                  <a:tcPr marT="91425" marB="91425" marR="91425" marL="91425">
                    <a:solidFill>
                      <a:srgbClr val="A4D4AE"/>
                    </a:solidFill>
                  </a:tcPr>
                </a:tc>
              </a:tr>
              <a:tr h="597450">
                <a:tc>
                  <a:txBody>
                    <a:bodyPr/>
                    <a:lstStyle/>
                    <a:p>
                      <a:pPr indent="0" lvl="0" marL="0" marR="0" rtl="0" algn="r">
                        <a:lnSpc>
                          <a:spcPct val="115000"/>
                        </a:lnSpc>
                        <a:spcBef>
                          <a:spcPts val="0"/>
                        </a:spcBef>
                        <a:spcAft>
                          <a:spcPts val="0"/>
                        </a:spcAft>
                        <a:buClr>
                          <a:srgbClr val="000000"/>
                        </a:buClr>
                        <a:buSzPts val="1400"/>
                        <a:buFont typeface="Arial"/>
                        <a:buNone/>
                      </a:pPr>
                      <a:r>
                        <a:rPr lang="en-US" sz="1400" u="none" cap="none" strike="noStrike"/>
                        <a:t>4</a:t>
                      </a:r>
                      <a:endParaRPr sz="1400" u="none" cap="none" strike="noStrike"/>
                    </a:p>
                  </a:txBody>
                  <a:tcPr marT="91425" marB="91425" marR="91425" marL="91425">
                    <a:solidFill>
                      <a:srgbClr val="32AFA9"/>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170</a:t>
                      </a:r>
                      <a:endParaRPr sz="1400" u="none" cap="none" strike="noStrike"/>
                    </a:p>
                  </a:txBody>
                  <a:tcPr marT="91425" marB="91425" marR="91425" marL="91425">
                    <a:solidFill>
                      <a:srgbClr val="32AFA9"/>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300000VND</a:t>
                      </a:r>
                      <a:endParaRPr sz="1400" u="none" cap="none" strike="noStrike"/>
                    </a:p>
                  </a:txBody>
                  <a:tcPr marT="91425" marB="91425" marR="91425" marL="91425">
                    <a:solidFill>
                      <a:srgbClr val="32AFA9"/>
                    </a:solidFill>
                  </a:tcPr>
                </a:tc>
              </a:tr>
              <a:tr h="597450">
                <a:tc>
                  <a:txBody>
                    <a:bodyPr/>
                    <a:lstStyle/>
                    <a:p>
                      <a:pPr indent="0" lvl="0" marL="0" marR="0" rtl="0" algn="r">
                        <a:lnSpc>
                          <a:spcPct val="115000"/>
                        </a:lnSpc>
                        <a:spcBef>
                          <a:spcPts val="0"/>
                        </a:spcBef>
                        <a:spcAft>
                          <a:spcPts val="0"/>
                        </a:spcAft>
                        <a:buClr>
                          <a:srgbClr val="000000"/>
                        </a:buClr>
                        <a:buSzPts val="1400"/>
                        <a:buFont typeface="Arial"/>
                        <a:buNone/>
                      </a:pPr>
                      <a:r>
                        <a:rPr lang="en-US" sz="1400" u="none" cap="none" strike="noStrike"/>
                        <a:t>5</a:t>
                      </a:r>
                      <a:endParaRPr sz="140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205</a:t>
                      </a:r>
                      <a:endParaRPr sz="140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t>Lỗi</a:t>
                      </a:r>
                      <a:endParaRPr sz="1400" u="none" cap="none" strike="noStrike"/>
                    </a:p>
                  </a:txBody>
                  <a:tcPr marT="91425" marB="91425" marR="91425" marL="91425">
                    <a:solidFill>
                      <a:srgbClr val="ED8484"/>
                    </a:solidFill>
                  </a:tcPr>
                </a:tc>
              </a:tr>
            </a:tbl>
          </a:graphicData>
        </a:graphic>
      </p:graphicFrame>
      <p:sp>
        <p:nvSpPr>
          <p:cNvPr id="517" name="Google Shape;517;g15c7f0fab53_0_11"/>
          <p:cNvSpPr txBox="1"/>
          <p:nvPr/>
        </p:nvSpPr>
        <p:spPr>
          <a:xfrm>
            <a:off x="6812650" y="1998725"/>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7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7000"/>
              </a:lnSpc>
              <a:spcBef>
                <a:spcPts val="0"/>
              </a:spcBef>
              <a:spcAft>
                <a:spcPts val="0"/>
              </a:spcAft>
              <a:buClr>
                <a:srgbClr val="000000"/>
              </a:buClr>
              <a:buSzPts val="1200"/>
              <a:buFont typeface="Arial"/>
              <a:buNone/>
            </a:pPr>
            <a:r>
              <a:t/>
            </a:r>
            <a:endParaRPr b="0" i="0" sz="1200" u="none" cap="none" strike="noStrike">
              <a:solidFill>
                <a:srgbClr val="2A2A2A"/>
              </a:solidFill>
              <a:latin typeface="Arial"/>
              <a:ea typeface="Arial"/>
              <a:cs typeface="Arial"/>
              <a:sym typeface="Arial"/>
            </a:endParaRPr>
          </a:p>
        </p:txBody>
      </p:sp>
      <p:grpSp>
        <p:nvGrpSpPr>
          <p:cNvPr id="518" name="Google Shape;518;g15c7f0fab53_0_11"/>
          <p:cNvGrpSpPr/>
          <p:nvPr/>
        </p:nvGrpSpPr>
        <p:grpSpPr>
          <a:xfrm>
            <a:off x="6096000" y="165201"/>
            <a:ext cx="6216956" cy="708298"/>
            <a:chOff x="642754" y="4151657"/>
            <a:chExt cx="5540174" cy="1060658"/>
          </a:xfrm>
        </p:grpSpPr>
        <p:grpSp>
          <p:nvGrpSpPr>
            <p:cNvPr id="519" name="Google Shape;519;g15c7f0fab53_0_11"/>
            <p:cNvGrpSpPr/>
            <p:nvPr/>
          </p:nvGrpSpPr>
          <p:grpSpPr>
            <a:xfrm>
              <a:off x="642754" y="4223274"/>
              <a:ext cx="5289581" cy="989041"/>
              <a:chOff x="508001" y="4223274"/>
              <a:chExt cx="5289581" cy="989041"/>
            </a:xfrm>
          </p:grpSpPr>
          <p:sp>
            <p:nvSpPr>
              <p:cNvPr id="520" name="Google Shape;520;g15c7f0fab53_0_11"/>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21" name="Google Shape;521;g15c7f0fab53_0_11"/>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22" name="Google Shape;522;g15c7f0fab53_0_11"/>
            <p:cNvGrpSpPr/>
            <p:nvPr/>
          </p:nvGrpSpPr>
          <p:grpSpPr>
            <a:xfrm>
              <a:off x="842194" y="4151657"/>
              <a:ext cx="894759" cy="905639"/>
              <a:chOff x="707441" y="4151657"/>
              <a:chExt cx="894759" cy="905639"/>
            </a:xfrm>
          </p:grpSpPr>
          <p:sp>
            <p:nvSpPr>
              <p:cNvPr id="523" name="Google Shape;523;g15c7f0fab53_0_11"/>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24" name="Google Shape;524;g15c7f0fab53_0_11"/>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25" name="Google Shape;525;g15c7f0fab53_0_11"/>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15c7f0fab53_0_32"/>
          <p:cNvSpPr txBox="1"/>
          <p:nvPr>
            <p:ph type="title"/>
          </p:nvPr>
        </p:nvSpPr>
        <p:spPr>
          <a:xfrm>
            <a:off x="-76200" y="1748963"/>
            <a:ext cx="7419975" cy="546150"/>
          </a:xfrm>
          <a:prstGeom prst="rect">
            <a:avLst/>
          </a:prstGeom>
          <a:noFill/>
          <a:ln>
            <a:noFill/>
          </a:ln>
        </p:spPr>
        <p:txBody>
          <a:bodyPr anchorCtr="0" anchor="ctr" bIns="45700" lIns="91425" spcFirstLastPara="1" rIns="91425" wrap="square" tIns="45700">
            <a:normAutofit fontScale="90000"/>
          </a:bodyPr>
          <a:lstStyle/>
          <a:p>
            <a:pPr indent="0" lvl="0" marL="457200" rtl="0" algn="l">
              <a:lnSpc>
                <a:spcPct val="115000"/>
              </a:lnSpc>
              <a:spcBef>
                <a:spcPts val="1200"/>
              </a:spcBef>
              <a:spcAft>
                <a:spcPts val="0"/>
              </a:spcAft>
              <a:buClr>
                <a:schemeClr val="dk1"/>
              </a:buClr>
              <a:buSzPct val="78571"/>
              <a:buFont typeface="Arial"/>
              <a:buNone/>
            </a:pPr>
            <a:r>
              <a:rPr b="1" lang="en-US" sz="1800">
                <a:latin typeface="Be Vietnam Pro"/>
                <a:ea typeface="Be Vietnam Pro"/>
                <a:cs typeface="Be Vietnam Pro"/>
                <a:sym typeface="Be Vietnam Pro"/>
              </a:rPr>
              <a:t>Phân tích giá trị biên ( Boundary value analysis)</a:t>
            </a:r>
            <a:endParaRPr b="1" sz="1800">
              <a:latin typeface="Be Vietnam Pro"/>
              <a:ea typeface="Be Vietnam Pro"/>
              <a:cs typeface="Be Vietnam Pro"/>
              <a:sym typeface="Be Vietnam Pro"/>
            </a:endParaRPr>
          </a:p>
          <a:p>
            <a:pPr indent="0" lvl="0" marL="457200" rtl="0" algn="l">
              <a:lnSpc>
                <a:spcPct val="115000"/>
              </a:lnSpc>
              <a:spcBef>
                <a:spcPts val="1200"/>
              </a:spcBef>
              <a:spcAft>
                <a:spcPts val="0"/>
              </a:spcAft>
              <a:buClr>
                <a:schemeClr val="dk1"/>
              </a:buClr>
              <a:buSzPct val="78571"/>
              <a:buFont typeface="Arial"/>
              <a:buNone/>
            </a:pPr>
            <a:r>
              <a:rPr lang="en-US" sz="2000">
                <a:latin typeface="Be Vietnam Pro"/>
                <a:ea typeface="Be Vietnam Pro"/>
                <a:cs typeface="Be Vietnam Pro"/>
                <a:sym typeface="Be Vietnam Pro"/>
              </a:rPr>
              <a:t>Thực hiện kiểm thử tại các ranh giới giữa các phân vùng</a:t>
            </a:r>
            <a:endParaRPr sz="2000">
              <a:latin typeface="Be Vietnam Pro"/>
              <a:ea typeface="Be Vietnam Pro"/>
              <a:cs typeface="Be Vietnam Pro"/>
              <a:sym typeface="Be Vietnam Pro"/>
            </a:endParaRPr>
          </a:p>
          <a:p>
            <a:pPr indent="0" lvl="0" marL="0" rtl="0" algn="l">
              <a:lnSpc>
                <a:spcPct val="90000"/>
              </a:lnSpc>
              <a:spcBef>
                <a:spcPts val="1200"/>
              </a:spcBef>
              <a:spcAft>
                <a:spcPts val="0"/>
              </a:spcAft>
              <a:buSzPct val="45454"/>
              <a:buNone/>
            </a:pPr>
            <a:r>
              <a:t/>
            </a:r>
            <a:endParaRPr/>
          </a:p>
        </p:txBody>
      </p:sp>
      <p:sp>
        <p:nvSpPr>
          <p:cNvPr id="532" name="Google Shape;532;g15c7f0fab53_0_32"/>
          <p:cNvSpPr txBox="1"/>
          <p:nvPr>
            <p:ph idx="1" type="body"/>
          </p:nvPr>
        </p:nvSpPr>
        <p:spPr>
          <a:xfrm>
            <a:off x="0" y="4305575"/>
            <a:ext cx="7343775" cy="1871100"/>
          </a:xfrm>
          <a:prstGeom prst="rect">
            <a:avLst/>
          </a:prstGeom>
          <a:noFill/>
          <a:ln>
            <a:noFill/>
          </a:ln>
        </p:spPr>
        <p:txBody>
          <a:bodyPr anchorCtr="0" anchor="t" bIns="45700" lIns="91425" spcFirstLastPara="1" rIns="91425" wrap="square" tIns="45700">
            <a:normAutofit fontScale="92500" lnSpcReduction="10000"/>
          </a:bodyPr>
          <a:lstStyle/>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Hệ thống giá vé xe buýt Đà Nẵng – Hội An (Giá giả định)</a:t>
            </a:r>
            <a:endParaRPr sz="1800">
              <a:highlight>
                <a:srgbClr val="FFFFFF"/>
              </a:highlight>
              <a:latin typeface="Be Vietnam Pro"/>
              <a:ea typeface="Be Vietnam Pro"/>
              <a:cs typeface="Be Vietnam Pro"/>
              <a:sym typeface="Be Vietnam Pro"/>
            </a:endParaRPr>
          </a:p>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・Từ 0 đến 5 tuổi: Miễn phí</a:t>
            </a:r>
            <a:endParaRPr sz="1800">
              <a:highlight>
                <a:srgbClr val="FFFFFF"/>
              </a:highlight>
              <a:latin typeface="Be Vietnam Pro"/>
              <a:ea typeface="Be Vietnam Pro"/>
              <a:cs typeface="Be Vietnam Pro"/>
              <a:sym typeface="Be Vietnam Pro"/>
            </a:endParaRPr>
          </a:p>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・Từ 6 đến 19 tuổi: 80.000 đồng</a:t>
            </a:r>
            <a:endParaRPr sz="1800">
              <a:highlight>
                <a:srgbClr val="FFFFFF"/>
              </a:highlight>
              <a:latin typeface="Be Vietnam Pro"/>
              <a:ea typeface="Be Vietnam Pro"/>
              <a:cs typeface="Be Vietnam Pro"/>
              <a:sym typeface="Be Vietnam Pro"/>
            </a:endParaRPr>
          </a:p>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・Từ 20 đến 60 tuổi: 100.000 đồng</a:t>
            </a:r>
            <a:endParaRPr sz="1800">
              <a:highlight>
                <a:srgbClr val="FFFFFF"/>
              </a:highlight>
              <a:latin typeface="Be Vietnam Pro"/>
              <a:ea typeface="Be Vietnam Pro"/>
              <a:cs typeface="Be Vietnam Pro"/>
              <a:sym typeface="Be Vietnam Pro"/>
            </a:endParaRPr>
          </a:p>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・Từ 61 đến 120 tuổi: 80.000 đồng</a:t>
            </a:r>
            <a:endParaRPr sz="1800">
              <a:highlight>
                <a:srgbClr val="FFFFFF"/>
              </a:highlight>
              <a:latin typeface="Be Vietnam Pro"/>
              <a:ea typeface="Be Vietnam Pro"/>
              <a:cs typeface="Be Vietnam Pro"/>
              <a:sym typeface="Be Vietnam Pro"/>
            </a:endParaRPr>
          </a:p>
          <a:p>
            <a:pPr indent="0" lvl="0" marL="457200" rtl="0" algn="l">
              <a:lnSpc>
                <a:spcPct val="115000"/>
              </a:lnSpc>
              <a:spcBef>
                <a:spcPts val="0"/>
              </a:spcBef>
              <a:spcAft>
                <a:spcPts val="0"/>
              </a:spcAft>
              <a:buClr>
                <a:schemeClr val="dk1"/>
              </a:buClr>
              <a:buSzPct val="66066"/>
              <a:buFont typeface="Arial"/>
              <a:buNone/>
            </a:pPr>
            <a:r>
              <a:rPr lang="en-US" sz="1800">
                <a:highlight>
                  <a:srgbClr val="FFFFFF"/>
                </a:highlight>
                <a:latin typeface="Be Vietnam Pro"/>
                <a:ea typeface="Be Vietnam Pro"/>
                <a:cs typeface="Be Vietnam Pro"/>
                <a:sym typeface="Be Vietnam Pro"/>
              </a:rPr>
              <a:t>Trường hợp nhập ngoài 0 và 121 tuổi trở đi, hệ thống sẽ báo lỗi. </a:t>
            </a:r>
            <a:endParaRPr sz="1800">
              <a:highlight>
                <a:srgbClr val="FFFFFF"/>
              </a:highlight>
              <a:latin typeface="Be Vietnam Pro"/>
              <a:ea typeface="Be Vietnam Pro"/>
              <a:cs typeface="Be Vietnam Pro"/>
              <a:sym typeface="Be Vietnam Pro"/>
            </a:endParaRPr>
          </a:p>
          <a:p>
            <a:pPr indent="0" lvl="0" marL="0" rtl="0" algn="l">
              <a:lnSpc>
                <a:spcPct val="90000"/>
              </a:lnSpc>
              <a:spcBef>
                <a:spcPts val="1000"/>
              </a:spcBef>
              <a:spcAft>
                <a:spcPts val="0"/>
              </a:spcAft>
              <a:buSzPct val="69498"/>
              <a:buNone/>
            </a:pPr>
            <a:r>
              <a:t/>
            </a:r>
            <a:endParaRPr/>
          </a:p>
        </p:txBody>
      </p:sp>
      <p:pic>
        <p:nvPicPr>
          <p:cNvPr id="533" name="Google Shape;533;g15c7f0fab53_0_32"/>
          <p:cNvPicPr preferRelativeResize="0"/>
          <p:nvPr/>
        </p:nvPicPr>
        <p:blipFill rotWithShape="1">
          <a:blip r:embed="rId3">
            <a:alphaModFix/>
          </a:blip>
          <a:srcRect b="0" l="0" r="0" t="0"/>
          <a:stretch/>
        </p:blipFill>
        <p:spPr>
          <a:xfrm>
            <a:off x="404077" y="2452062"/>
            <a:ext cx="5196624" cy="1696563"/>
          </a:xfrm>
          <a:prstGeom prst="rect">
            <a:avLst/>
          </a:prstGeom>
          <a:noFill/>
          <a:ln>
            <a:noFill/>
          </a:ln>
        </p:spPr>
      </p:pic>
      <p:graphicFrame>
        <p:nvGraphicFramePr>
          <p:cNvPr id="534" name="Google Shape;534;g15c7f0fab53_0_32"/>
          <p:cNvGraphicFramePr/>
          <p:nvPr/>
        </p:nvGraphicFramePr>
        <p:xfrm>
          <a:off x="7620125" y="1314450"/>
          <a:ext cx="3000000" cy="3000000"/>
        </p:xfrm>
        <a:graphic>
          <a:graphicData uri="http://schemas.openxmlformats.org/drawingml/2006/table">
            <a:tbl>
              <a:tblPr>
                <a:noFill/>
                <a:tableStyleId>{A7A9F97C-25F6-4710-8AAD-0FDC6027060E}</a:tableStyleId>
              </a:tblPr>
              <a:tblGrid>
                <a:gridCol w="1716050"/>
                <a:gridCol w="2674850"/>
              </a:tblGrid>
              <a:tr h="392100">
                <a:tc>
                  <a:txBody>
                    <a:bodyPr/>
                    <a:lstStyle/>
                    <a:p>
                      <a:pPr indent="0" lvl="0" marL="0" marR="0" rtl="0" algn="ctr">
                        <a:lnSpc>
                          <a:spcPct val="115000"/>
                        </a:lnSpc>
                        <a:spcBef>
                          <a:spcPts val="0"/>
                        </a:spcBef>
                        <a:spcAft>
                          <a:spcPts val="0"/>
                        </a:spcAft>
                        <a:buClr>
                          <a:srgbClr val="000000"/>
                        </a:buClr>
                        <a:buSzPts val="1350"/>
                        <a:buFont typeface="Arial"/>
                        <a:buNone/>
                      </a:pPr>
                      <a:r>
                        <a:rPr b="1" lang="en-US" sz="1350" u="none" cap="none" strike="noStrike"/>
                        <a:t>Testcase</a:t>
                      </a:r>
                      <a:endParaRPr b="1" sz="1350" u="none" cap="none" strike="noStrike"/>
                    </a:p>
                  </a:txBody>
                  <a:tcPr marT="91425" marB="91425" marR="91425" marL="91425">
                    <a:solidFill>
                      <a:srgbClr val="DDDDDD"/>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b="1" lang="en-US" sz="1350" u="none" cap="none" strike="noStrike"/>
                        <a:t>Kết quả mong muốn</a:t>
                      </a:r>
                      <a:endParaRPr b="1" sz="1350" u="none" cap="none" strike="noStrike"/>
                    </a:p>
                  </a:txBody>
                  <a:tcPr marT="91425" marB="91425" marR="91425" marL="91425">
                    <a:solidFill>
                      <a:srgbClr val="DDDDDD"/>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-1 tuổi</a:t>
                      </a:r>
                      <a:endParaRPr sz="135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Báo lỗi</a:t>
                      </a:r>
                      <a:endParaRPr sz="1350" u="none" cap="none" strike="noStrike"/>
                    </a:p>
                  </a:txBody>
                  <a:tcPr marT="91425" marB="91425" marR="91425" marL="91425">
                    <a:solidFill>
                      <a:srgbClr val="ED8484"/>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0 tuổi</a:t>
                      </a:r>
                      <a:endParaRPr sz="1350" u="none" cap="none" strike="noStrike"/>
                    </a:p>
                  </a:txBody>
                  <a:tcPr marT="91425" marB="91425" marR="91425" marL="91425">
                    <a:solidFill>
                      <a:srgbClr val="F0CF85"/>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Miễn phí</a:t>
                      </a:r>
                      <a:endParaRPr sz="1350" u="none" cap="none" strike="noStrike"/>
                    </a:p>
                  </a:txBody>
                  <a:tcPr marT="91425" marB="91425" marR="91425" marL="91425">
                    <a:solidFill>
                      <a:srgbClr val="F0CF85"/>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5 tuổi</a:t>
                      </a:r>
                      <a:endParaRPr sz="1350" u="none" cap="none" strike="noStrike"/>
                    </a:p>
                  </a:txBody>
                  <a:tcPr marT="91425" marB="91425" marR="91425" marL="91425">
                    <a:solidFill>
                      <a:srgbClr val="F0CF85"/>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Miễn phí</a:t>
                      </a:r>
                      <a:endParaRPr sz="1350" u="none" cap="none" strike="noStrike"/>
                    </a:p>
                  </a:txBody>
                  <a:tcPr marT="91425" marB="91425" marR="91425" marL="91425">
                    <a:solidFill>
                      <a:srgbClr val="F0CF85"/>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6 tuổi</a:t>
                      </a:r>
                      <a:endParaRPr sz="135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80.000 đồng</a:t>
                      </a:r>
                      <a:endParaRPr sz="1350" u="none" cap="none" strike="noStrike"/>
                    </a:p>
                  </a:txBody>
                  <a:tcPr marT="91425" marB="91425" marR="91425" marL="91425">
                    <a:solidFill>
                      <a:srgbClr val="A4D4AE"/>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19 tuổi</a:t>
                      </a:r>
                      <a:endParaRPr sz="135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80.000 đồng</a:t>
                      </a:r>
                      <a:endParaRPr sz="1350" u="none" cap="none" strike="noStrike"/>
                    </a:p>
                  </a:txBody>
                  <a:tcPr marT="91425" marB="91425" marR="91425" marL="91425">
                    <a:solidFill>
                      <a:srgbClr val="A4D4AE"/>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20 tuổi</a:t>
                      </a:r>
                      <a:endParaRPr sz="1350" u="none" cap="none" strike="noStrike"/>
                    </a:p>
                  </a:txBody>
                  <a:tcPr marT="91425" marB="91425" marR="91425" marL="91425">
                    <a:solidFill>
                      <a:srgbClr val="32AFA9"/>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100.000 đồng</a:t>
                      </a:r>
                      <a:endParaRPr sz="1350" u="none" cap="none" strike="noStrike"/>
                    </a:p>
                  </a:txBody>
                  <a:tcPr marT="91425" marB="91425" marR="91425" marL="91425">
                    <a:solidFill>
                      <a:srgbClr val="32AFA9"/>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60 tuổi</a:t>
                      </a:r>
                      <a:endParaRPr sz="1350" u="none" cap="none" strike="noStrike"/>
                    </a:p>
                  </a:txBody>
                  <a:tcPr marT="91425" marB="91425" marR="91425" marL="91425">
                    <a:solidFill>
                      <a:srgbClr val="32AFA9"/>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100.000 đồng</a:t>
                      </a:r>
                      <a:endParaRPr sz="1350" u="none" cap="none" strike="noStrike"/>
                    </a:p>
                  </a:txBody>
                  <a:tcPr marT="91425" marB="91425" marR="91425" marL="91425">
                    <a:solidFill>
                      <a:srgbClr val="32AFA9"/>
                    </a:solidFill>
                  </a:tcPr>
                </a:tc>
              </a:tr>
              <a:tr h="392100">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61 tuổi</a:t>
                      </a:r>
                      <a:endParaRPr sz="135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80.000 đồng</a:t>
                      </a:r>
                      <a:endParaRPr sz="1350" u="none" cap="none" strike="noStrike"/>
                    </a:p>
                  </a:txBody>
                  <a:tcPr marT="91425" marB="91425" marR="91425" marL="91425">
                    <a:solidFill>
                      <a:srgbClr val="A4D4AE"/>
                    </a:solidFill>
                  </a:tcPr>
                </a:tc>
              </a:tr>
              <a:tr h="554925">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120 tuổi</a:t>
                      </a:r>
                      <a:endParaRPr sz="1350" u="none" cap="none" strike="noStrike"/>
                    </a:p>
                  </a:txBody>
                  <a:tcPr marT="91425" marB="91425" marR="91425" marL="91425">
                    <a:solidFill>
                      <a:srgbClr val="A4D4AE"/>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Giá vé: 80.000 đồng</a:t>
                      </a:r>
                      <a:endParaRPr sz="1350" u="none" cap="none" strike="noStrike"/>
                    </a:p>
                  </a:txBody>
                  <a:tcPr marT="91425" marB="91425" marR="91425" marL="91425">
                    <a:solidFill>
                      <a:srgbClr val="A4D4AE"/>
                    </a:solidFill>
                  </a:tcPr>
                </a:tc>
              </a:tr>
              <a:tr h="554925">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Nhập 121 tuổi</a:t>
                      </a:r>
                      <a:endParaRPr sz="1350" u="none" cap="none" strike="noStrike"/>
                    </a:p>
                  </a:txBody>
                  <a:tcPr marT="91425" marB="91425" marR="91425" marL="91425">
                    <a:solidFill>
                      <a:srgbClr val="ED8484"/>
                    </a:solidFill>
                  </a:tcPr>
                </a:tc>
                <a:tc>
                  <a:txBody>
                    <a:bodyPr/>
                    <a:lstStyle/>
                    <a:p>
                      <a:pPr indent="0" lvl="0" marL="0" marR="0" rtl="0" algn="ctr">
                        <a:lnSpc>
                          <a:spcPct val="115000"/>
                        </a:lnSpc>
                        <a:spcBef>
                          <a:spcPts val="0"/>
                        </a:spcBef>
                        <a:spcAft>
                          <a:spcPts val="0"/>
                        </a:spcAft>
                        <a:buClr>
                          <a:srgbClr val="000000"/>
                        </a:buClr>
                        <a:buSzPts val="1350"/>
                        <a:buFont typeface="Arial"/>
                        <a:buNone/>
                      </a:pPr>
                      <a:r>
                        <a:rPr lang="en-US" sz="1350" u="none" cap="none" strike="noStrike"/>
                        <a:t>Báo lỗi</a:t>
                      </a:r>
                      <a:endParaRPr sz="1350" u="none" cap="none" strike="noStrike"/>
                    </a:p>
                  </a:txBody>
                  <a:tcPr marT="91425" marB="91425" marR="91425" marL="91425">
                    <a:solidFill>
                      <a:srgbClr val="ED8484"/>
                    </a:solidFill>
                  </a:tcPr>
                </a:tc>
              </a:tr>
            </a:tbl>
          </a:graphicData>
        </a:graphic>
      </p:graphicFrame>
      <p:grpSp>
        <p:nvGrpSpPr>
          <p:cNvPr id="535" name="Google Shape;535;g15c7f0fab53_0_32"/>
          <p:cNvGrpSpPr/>
          <p:nvPr/>
        </p:nvGrpSpPr>
        <p:grpSpPr>
          <a:xfrm>
            <a:off x="6096000" y="165201"/>
            <a:ext cx="6216956" cy="708298"/>
            <a:chOff x="642754" y="4151657"/>
            <a:chExt cx="5540174" cy="1060658"/>
          </a:xfrm>
        </p:grpSpPr>
        <p:grpSp>
          <p:nvGrpSpPr>
            <p:cNvPr id="536" name="Google Shape;536;g15c7f0fab53_0_32"/>
            <p:cNvGrpSpPr/>
            <p:nvPr/>
          </p:nvGrpSpPr>
          <p:grpSpPr>
            <a:xfrm>
              <a:off x="642754" y="4223274"/>
              <a:ext cx="5289581" cy="989041"/>
              <a:chOff x="508001" y="4223274"/>
              <a:chExt cx="5289581" cy="989041"/>
            </a:xfrm>
          </p:grpSpPr>
          <p:sp>
            <p:nvSpPr>
              <p:cNvPr id="537" name="Google Shape;537;g15c7f0fab53_0_32"/>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38" name="Google Shape;538;g15c7f0fab53_0_32"/>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39" name="Google Shape;539;g15c7f0fab53_0_32"/>
            <p:cNvGrpSpPr/>
            <p:nvPr/>
          </p:nvGrpSpPr>
          <p:grpSpPr>
            <a:xfrm>
              <a:off x="842194" y="4151657"/>
              <a:ext cx="894759" cy="905639"/>
              <a:chOff x="707441" y="4151657"/>
              <a:chExt cx="894759" cy="905639"/>
            </a:xfrm>
          </p:grpSpPr>
          <p:sp>
            <p:nvSpPr>
              <p:cNvPr id="540" name="Google Shape;540;g15c7f0fab53_0_32"/>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41" name="Google Shape;541;g15c7f0fab53_0_32"/>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42" name="Google Shape;542;g15c7f0fab53_0_32"/>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15c7f0fab53_0_44"/>
          <p:cNvSpPr txBox="1"/>
          <p:nvPr>
            <p:ph type="title"/>
          </p:nvPr>
        </p:nvSpPr>
        <p:spPr>
          <a:xfrm>
            <a:off x="171451" y="2200274"/>
            <a:ext cx="5762626" cy="1438276"/>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1800"/>
              </a:spcBef>
              <a:spcAft>
                <a:spcPts val="0"/>
              </a:spcAft>
              <a:buClr>
                <a:schemeClr val="dk1"/>
              </a:buClr>
              <a:buSzPts val="1571"/>
              <a:buFont typeface="Arial"/>
              <a:buNone/>
            </a:pPr>
            <a:r>
              <a:rPr b="1" lang="en-US" sz="2000">
                <a:latin typeface="Be Vietnam Pro"/>
                <a:ea typeface="Be Vietnam Pro"/>
                <a:cs typeface="Be Vietnam Pro"/>
                <a:sym typeface="Be Vietnam Pro"/>
              </a:rPr>
              <a:t>Bảng quyết định (Decision table)</a:t>
            </a:r>
            <a:endParaRPr b="1" sz="2000">
              <a:latin typeface="Be Vietnam Pro"/>
              <a:ea typeface="Be Vietnam Pro"/>
              <a:cs typeface="Be Vietnam Pro"/>
              <a:sym typeface="Be Vietnam Pro"/>
            </a:endParaRPr>
          </a:p>
          <a:p>
            <a:pPr indent="-342900" lvl="0" marL="800100" rtl="0" algn="l">
              <a:lnSpc>
                <a:spcPct val="100000"/>
              </a:lnSpc>
              <a:spcBef>
                <a:spcPts val="1800"/>
              </a:spcBef>
              <a:spcAft>
                <a:spcPts val="0"/>
              </a:spcAft>
              <a:buClr>
                <a:schemeClr val="dk1"/>
              </a:buClr>
              <a:buSzPts val="1571"/>
              <a:buFont typeface="Noto Sans Symbols"/>
              <a:buChar char="❑"/>
            </a:pPr>
            <a:r>
              <a:rPr lang="en-US" sz="2000">
                <a:latin typeface="Be Vietnam Pro"/>
                <a:ea typeface="Be Vietnam Pro"/>
                <a:cs typeface="Be Vietnam Pro"/>
                <a:sym typeface="Be Vietnam Pro"/>
              </a:rPr>
              <a:t>Được sử dụng cho các chức năng đáp ứng sự kết hợp của các yếu tố đầu vào hoặc các biến cố.</a:t>
            </a:r>
            <a:br>
              <a:rPr lang="en-US" sz="2000">
                <a:latin typeface="Be Vietnam Pro"/>
                <a:ea typeface="Be Vietnam Pro"/>
                <a:cs typeface="Be Vietnam Pro"/>
                <a:sym typeface="Be Vietnam Pro"/>
              </a:rPr>
            </a:br>
            <a:br>
              <a:rPr lang="en-US" sz="2000">
                <a:latin typeface="Be Vietnam Pro"/>
                <a:ea typeface="Be Vietnam Pro"/>
                <a:cs typeface="Be Vietnam Pro"/>
                <a:sym typeface="Be Vietnam Pro"/>
              </a:rPr>
            </a:br>
            <a:r>
              <a:rPr lang="en-US" sz="2000">
                <a:solidFill>
                  <a:schemeClr val="dk1"/>
                </a:solidFill>
                <a:highlight>
                  <a:srgbClr val="FFFFFF"/>
                </a:highlight>
                <a:latin typeface="Be Vietnam Pro"/>
                <a:ea typeface="Be Vietnam Pro"/>
                <a:cs typeface="Be Vietnam Pro"/>
                <a:sym typeface="Be Vietnam Pro"/>
              </a:rPr>
              <a:t>Chúng ta sẽ có được bảng quyết định các hành vi hệ thống cho form đăng nhập như sau:</a:t>
            </a:r>
            <a:br>
              <a:rPr lang="en-US" sz="2000">
                <a:solidFill>
                  <a:schemeClr val="dk1"/>
                </a:solidFill>
                <a:highlight>
                  <a:srgbClr val="FFFFFF"/>
                </a:highlight>
                <a:latin typeface="Be Vietnam Pro"/>
                <a:ea typeface="Be Vietnam Pro"/>
                <a:cs typeface="Be Vietnam Pro"/>
                <a:sym typeface="Be Vietnam Pro"/>
              </a:rPr>
            </a:br>
            <a:br>
              <a:rPr lang="en-US" sz="2000">
                <a:highlight>
                  <a:srgbClr val="FFFFFF"/>
                </a:highlight>
                <a:latin typeface="Be Vietnam Pro"/>
                <a:ea typeface="Be Vietnam Pro"/>
                <a:cs typeface="Be Vietnam Pro"/>
                <a:sym typeface="Be Vietnam Pro"/>
              </a:rPr>
            </a:br>
            <a:endParaRPr sz="2000">
              <a:highlight>
                <a:srgbClr val="FFFFFF"/>
              </a:highlight>
              <a:latin typeface="Be Vietnam Pro"/>
              <a:ea typeface="Be Vietnam Pro"/>
              <a:cs typeface="Be Vietnam Pro"/>
              <a:sym typeface="Be Vietnam Pro"/>
            </a:endParaRPr>
          </a:p>
          <a:p>
            <a:pPr indent="0" lvl="0" marL="0" rtl="0" algn="l">
              <a:lnSpc>
                <a:spcPct val="90000"/>
              </a:lnSpc>
              <a:spcBef>
                <a:spcPts val="1800"/>
              </a:spcBef>
              <a:spcAft>
                <a:spcPts val="0"/>
              </a:spcAft>
              <a:buSzPts val="1800"/>
              <a:buNone/>
            </a:pPr>
            <a:r>
              <a:t/>
            </a:r>
            <a:endParaRPr sz="2000">
              <a:latin typeface="Be Vietnam Pro"/>
              <a:ea typeface="Be Vietnam Pro"/>
              <a:cs typeface="Be Vietnam Pro"/>
              <a:sym typeface="Be Vietnam Pro"/>
            </a:endParaRPr>
          </a:p>
        </p:txBody>
      </p:sp>
      <p:graphicFrame>
        <p:nvGraphicFramePr>
          <p:cNvPr id="549" name="Google Shape;549;g15c7f0fab53_0_44"/>
          <p:cNvGraphicFramePr/>
          <p:nvPr/>
        </p:nvGraphicFramePr>
        <p:xfrm>
          <a:off x="695324" y="4295775"/>
          <a:ext cx="3000000" cy="3000000"/>
        </p:xfrm>
        <a:graphic>
          <a:graphicData uri="http://schemas.openxmlformats.org/drawingml/2006/table">
            <a:tbl>
              <a:tblPr>
                <a:solidFill>
                  <a:srgbClr val="FFFFFF"/>
                </a:solidFill>
                <a:tableStyleId>{A7A9F97C-25F6-4710-8AAD-0FDC6027060E}</a:tableStyleId>
              </a:tblPr>
              <a:tblGrid>
                <a:gridCol w="1390600"/>
                <a:gridCol w="954025"/>
                <a:gridCol w="985375"/>
                <a:gridCol w="1068200"/>
                <a:gridCol w="1002475"/>
              </a:tblGrid>
              <a:tr h="342900">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highlight>
                            <a:srgbClr val="FFFFFF"/>
                          </a:highlight>
                        </a:rPr>
                        <a:t>Điều kiện</a:t>
                      </a:r>
                      <a:endParaRPr b="1"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highlight>
                            <a:srgbClr val="FFFFFF"/>
                          </a:highlight>
                        </a:rPr>
                        <a:t>Quy tắc 1</a:t>
                      </a:r>
                      <a:endParaRPr b="1"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highlight>
                            <a:srgbClr val="FFFFFF"/>
                          </a:highlight>
                        </a:rPr>
                        <a:t>Quy tắc 2</a:t>
                      </a:r>
                      <a:endParaRPr b="1"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highlight>
                            <a:srgbClr val="FFFFFF"/>
                          </a:highlight>
                        </a:rPr>
                        <a:t>Quy tắc 3</a:t>
                      </a:r>
                      <a:endParaRPr b="1"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highlight>
                            <a:srgbClr val="FFFFFF"/>
                          </a:highlight>
                        </a:rPr>
                        <a:t>Quy tắc 4</a:t>
                      </a:r>
                      <a:endParaRPr b="1"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43682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Email (T/F)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T</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T</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43682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Mật khẩu (T/F)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T</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T</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F</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43682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Kết quả (E/H)</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H</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E</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E</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highlight>
                            <a:srgbClr val="FFFFFF"/>
                          </a:highlight>
                        </a:rPr>
                        <a:t>E</a:t>
                      </a:r>
                      <a:endParaRPr sz="1400" u="none" cap="none" strike="noStrike">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bl>
          </a:graphicData>
        </a:graphic>
      </p:graphicFrame>
      <p:sp>
        <p:nvSpPr>
          <p:cNvPr id="550" name="Google Shape;550;g15c7f0fab53_0_44"/>
          <p:cNvSpPr txBox="1"/>
          <p:nvPr/>
        </p:nvSpPr>
        <p:spPr>
          <a:xfrm>
            <a:off x="6362700" y="3950728"/>
            <a:ext cx="5406600" cy="2331900"/>
          </a:xfrm>
          <a:prstGeom prst="rect">
            <a:avLst/>
          </a:prstGeom>
          <a:noFill/>
          <a:ln>
            <a:noFill/>
          </a:ln>
        </p:spPr>
        <p:txBody>
          <a:bodyPr anchorCtr="0" anchor="t" bIns="91425" lIns="91425" spcFirstLastPara="1" rIns="91425" wrap="square" tIns="91425">
            <a:spAutoFit/>
          </a:bodyPr>
          <a:lstStyle/>
          <a:p>
            <a:pPr indent="0" lvl="0" marL="228600" marR="0" rtl="0" algn="l">
              <a:lnSpc>
                <a:spcPct val="115000"/>
              </a:lnSpc>
              <a:spcBef>
                <a:spcPts val="1800"/>
              </a:spcBef>
              <a:spcAft>
                <a:spcPts val="0"/>
              </a:spcAft>
              <a:buClr>
                <a:schemeClr val="dk1"/>
              </a:buClr>
              <a:buSzPts val="1100"/>
              <a:buFont typeface="Arial"/>
              <a:buNone/>
            </a:pPr>
            <a:r>
              <a:rPr b="1" i="0" lang="en-US" sz="1400" u="none" cap="none" strike="noStrike">
                <a:solidFill>
                  <a:schemeClr val="dk1"/>
                </a:solidFill>
                <a:highlight>
                  <a:srgbClr val="FFFFFF"/>
                </a:highlight>
                <a:latin typeface="Arial"/>
                <a:ea typeface="Arial"/>
                <a:cs typeface="Arial"/>
                <a:sym typeface="Arial"/>
              </a:rPr>
              <a:t>❁ </a:t>
            </a:r>
            <a:r>
              <a:rPr b="1" i="1" lang="en-US" sz="1400" u="none" cap="none" strike="noStrike">
                <a:solidFill>
                  <a:schemeClr val="dk1"/>
                </a:solidFill>
                <a:highlight>
                  <a:srgbClr val="FFFFFF"/>
                </a:highlight>
                <a:latin typeface="Arial"/>
                <a:ea typeface="Arial"/>
                <a:cs typeface="Arial"/>
                <a:sym typeface="Arial"/>
              </a:rPr>
              <a:t>Chú thích:</a:t>
            </a:r>
            <a:endParaRPr b="1" i="1" sz="1400" u="none" cap="none" strike="noStrike">
              <a:solidFill>
                <a:schemeClr val="dk1"/>
              </a:solidFill>
              <a:highlight>
                <a:srgbClr val="FFFFFF"/>
              </a:highlight>
              <a:latin typeface="Arial"/>
              <a:ea typeface="Arial"/>
              <a:cs typeface="Arial"/>
              <a:sym typeface="Arial"/>
            </a:endParaRPr>
          </a:p>
          <a:p>
            <a:pPr indent="0" lvl="0" marL="685800" marR="0" rtl="0" algn="l">
              <a:lnSpc>
                <a:spcPct val="115000"/>
              </a:lnSpc>
              <a:spcBef>
                <a:spcPts val="1200"/>
              </a:spcBef>
              <a:spcAft>
                <a:spcPts val="0"/>
              </a:spcAft>
              <a:buClr>
                <a:schemeClr val="dk1"/>
              </a:buClr>
              <a:buSzPts val="1100"/>
              <a:buFont typeface="Arial"/>
              <a:buNone/>
            </a:pPr>
            <a:r>
              <a:rPr b="0" i="0" lang="en-US" sz="1000" u="none" cap="none" strike="noStrike">
                <a:solidFill>
                  <a:schemeClr val="dk1"/>
                </a:solidFill>
                <a:highlight>
                  <a:srgbClr val="FFFFFF"/>
                </a:highlight>
                <a:latin typeface="Arial"/>
                <a:ea typeface="Arial"/>
                <a:cs typeface="Arial"/>
                <a:sym typeface="Arial"/>
              </a:rPr>
              <a:t>·</a:t>
            </a:r>
            <a:r>
              <a:rPr b="0" i="0" lang="en-US" sz="700" u="none" cap="none" strike="noStrike">
                <a:solidFill>
                  <a:schemeClr val="dk1"/>
                </a:solidFill>
                <a:highlight>
                  <a:srgbClr val="FFFFFF"/>
                </a:highlight>
                <a:latin typeface="Times New Roman"/>
                <a:ea typeface="Times New Roman"/>
                <a:cs typeface="Times New Roman"/>
                <a:sym typeface="Times New Roman"/>
              </a:rPr>
              <a:t>        </a:t>
            </a:r>
            <a:r>
              <a:rPr b="1" i="0" lang="en-US" sz="1400" u="none" cap="none" strike="noStrike">
                <a:solidFill>
                  <a:schemeClr val="dk1"/>
                </a:solidFill>
                <a:highlight>
                  <a:srgbClr val="FFFFFF"/>
                </a:highlight>
                <a:latin typeface="Arial"/>
                <a:ea typeface="Arial"/>
                <a:cs typeface="Arial"/>
                <a:sym typeface="Arial"/>
              </a:rPr>
              <a:t>T - True:</a:t>
            </a:r>
            <a:r>
              <a:rPr b="0" i="0" lang="en-US" sz="1400" u="none" cap="none" strike="noStrike">
                <a:solidFill>
                  <a:schemeClr val="dk1"/>
                </a:solidFill>
                <a:highlight>
                  <a:srgbClr val="FFFFFF"/>
                </a:highlight>
                <a:latin typeface="Arial"/>
                <a:ea typeface="Arial"/>
                <a:cs typeface="Arial"/>
                <a:sym typeface="Arial"/>
              </a:rPr>
              <a:t> Nhập đúng email và mật khẩu.</a:t>
            </a:r>
            <a:endParaRPr b="0" i="0" sz="1400" u="none" cap="none" strike="noStrike">
              <a:solidFill>
                <a:schemeClr val="dk1"/>
              </a:solidFill>
              <a:highlight>
                <a:srgbClr val="FFFFFF"/>
              </a:highlight>
              <a:latin typeface="Arial"/>
              <a:ea typeface="Arial"/>
              <a:cs typeface="Arial"/>
              <a:sym typeface="Arial"/>
            </a:endParaRPr>
          </a:p>
          <a:p>
            <a:pPr indent="0" lvl="0" marL="685800" marR="0" rtl="0" algn="l">
              <a:lnSpc>
                <a:spcPct val="115000"/>
              </a:lnSpc>
              <a:spcBef>
                <a:spcPts val="1200"/>
              </a:spcBef>
              <a:spcAft>
                <a:spcPts val="0"/>
              </a:spcAft>
              <a:buClr>
                <a:schemeClr val="dk1"/>
              </a:buClr>
              <a:buSzPts val="1100"/>
              <a:buFont typeface="Arial"/>
              <a:buNone/>
            </a:pPr>
            <a:r>
              <a:rPr b="0" i="0" lang="en-US" sz="1000" u="none" cap="none" strike="noStrike">
                <a:solidFill>
                  <a:schemeClr val="dk1"/>
                </a:solidFill>
                <a:highlight>
                  <a:srgbClr val="FFFFFF"/>
                </a:highlight>
                <a:latin typeface="Arial"/>
                <a:ea typeface="Arial"/>
                <a:cs typeface="Arial"/>
                <a:sym typeface="Arial"/>
              </a:rPr>
              <a:t>·</a:t>
            </a:r>
            <a:r>
              <a:rPr b="0" i="0" lang="en-US" sz="700" u="none" cap="none" strike="noStrike">
                <a:solidFill>
                  <a:schemeClr val="dk1"/>
                </a:solidFill>
                <a:highlight>
                  <a:srgbClr val="FFFFFF"/>
                </a:highlight>
                <a:latin typeface="Times New Roman"/>
                <a:ea typeface="Times New Roman"/>
                <a:cs typeface="Times New Roman"/>
                <a:sym typeface="Times New Roman"/>
              </a:rPr>
              <a:t>        </a:t>
            </a:r>
            <a:r>
              <a:rPr b="1" i="0" lang="en-US" sz="1400" u="none" cap="none" strike="noStrike">
                <a:solidFill>
                  <a:schemeClr val="dk1"/>
                </a:solidFill>
                <a:highlight>
                  <a:srgbClr val="FFFFFF"/>
                </a:highlight>
                <a:latin typeface="Arial"/>
                <a:ea typeface="Arial"/>
                <a:cs typeface="Arial"/>
                <a:sym typeface="Arial"/>
              </a:rPr>
              <a:t>F - False:</a:t>
            </a:r>
            <a:r>
              <a:rPr b="0" i="0" lang="en-US" sz="1400" u="none" cap="none" strike="noStrike">
                <a:solidFill>
                  <a:schemeClr val="dk1"/>
                </a:solidFill>
                <a:highlight>
                  <a:srgbClr val="FFFFFF"/>
                </a:highlight>
                <a:latin typeface="Arial"/>
                <a:ea typeface="Arial"/>
                <a:cs typeface="Arial"/>
                <a:sym typeface="Arial"/>
              </a:rPr>
              <a:t> Email hoặc mật khẩu bị sai.</a:t>
            </a:r>
            <a:endParaRPr b="0" i="0" sz="1400" u="none" cap="none" strike="noStrike">
              <a:solidFill>
                <a:schemeClr val="dk1"/>
              </a:solidFill>
              <a:highlight>
                <a:srgbClr val="FFFFFF"/>
              </a:highlight>
              <a:latin typeface="Arial"/>
              <a:ea typeface="Arial"/>
              <a:cs typeface="Arial"/>
              <a:sym typeface="Arial"/>
            </a:endParaRPr>
          </a:p>
          <a:p>
            <a:pPr indent="0" lvl="0" marL="685800" marR="0" rtl="0" algn="l">
              <a:lnSpc>
                <a:spcPct val="115000"/>
              </a:lnSpc>
              <a:spcBef>
                <a:spcPts val="1200"/>
              </a:spcBef>
              <a:spcAft>
                <a:spcPts val="0"/>
              </a:spcAft>
              <a:buClr>
                <a:schemeClr val="dk1"/>
              </a:buClr>
              <a:buSzPts val="1100"/>
              <a:buFont typeface="Arial"/>
              <a:buNone/>
            </a:pPr>
            <a:r>
              <a:rPr b="0" i="0" lang="en-US" sz="1000" u="none" cap="none" strike="noStrike">
                <a:solidFill>
                  <a:schemeClr val="dk1"/>
                </a:solidFill>
                <a:highlight>
                  <a:srgbClr val="FFFFFF"/>
                </a:highlight>
                <a:latin typeface="Arial"/>
                <a:ea typeface="Arial"/>
                <a:cs typeface="Arial"/>
                <a:sym typeface="Arial"/>
              </a:rPr>
              <a:t>·</a:t>
            </a:r>
            <a:r>
              <a:rPr b="0" i="0" lang="en-US" sz="700" u="none" cap="none" strike="noStrike">
                <a:solidFill>
                  <a:schemeClr val="dk1"/>
                </a:solidFill>
                <a:highlight>
                  <a:srgbClr val="FFFFFF"/>
                </a:highlight>
                <a:latin typeface="Times New Roman"/>
                <a:ea typeface="Times New Roman"/>
                <a:cs typeface="Times New Roman"/>
                <a:sym typeface="Times New Roman"/>
              </a:rPr>
              <a:t>        </a:t>
            </a:r>
            <a:r>
              <a:rPr b="1" i="0" lang="en-US" sz="1400" u="none" cap="none" strike="noStrike">
                <a:solidFill>
                  <a:schemeClr val="dk1"/>
                </a:solidFill>
                <a:highlight>
                  <a:srgbClr val="FFFFFF"/>
                </a:highlight>
                <a:latin typeface="Arial"/>
                <a:ea typeface="Arial"/>
                <a:cs typeface="Arial"/>
                <a:sym typeface="Arial"/>
              </a:rPr>
              <a:t>E - Error:</a:t>
            </a:r>
            <a:r>
              <a:rPr b="0" i="0" lang="en-US" sz="1400" u="none" cap="none" strike="noStrike">
                <a:solidFill>
                  <a:schemeClr val="dk1"/>
                </a:solidFill>
                <a:highlight>
                  <a:srgbClr val="FFFFFF"/>
                </a:highlight>
                <a:latin typeface="Arial"/>
                <a:ea typeface="Arial"/>
                <a:cs typeface="Arial"/>
                <a:sym typeface="Arial"/>
              </a:rPr>
              <a:t> Hiển thị lỗi.</a:t>
            </a:r>
            <a:endParaRPr b="0" i="0" sz="1400" u="none" cap="none" strike="noStrike">
              <a:solidFill>
                <a:schemeClr val="dk1"/>
              </a:solidFill>
              <a:highlight>
                <a:srgbClr val="FFFFFF"/>
              </a:highlight>
              <a:latin typeface="Arial"/>
              <a:ea typeface="Arial"/>
              <a:cs typeface="Arial"/>
              <a:sym typeface="Arial"/>
            </a:endParaRPr>
          </a:p>
          <a:p>
            <a:pPr indent="0" lvl="0" marL="685800" marR="0" rtl="0" algn="l">
              <a:lnSpc>
                <a:spcPct val="115000"/>
              </a:lnSpc>
              <a:spcBef>
                <a:spcPts val="1200"/>
              </a:spcBef>
              <a:spcAft>
                <a:spcPts val="0"/>
              </a:spcAft>
              <a:buClr>
                <a:schemeClr val="dk1"/>
              </a:buClr>
              <a:buSzPts val="1100"/>
              <a:buFont typeface="Arial"/>
              <a:buNone/>
            </a:pPr>
            <a:r>
              <a:rPr b="0" i="0" lang="en-US" sz="1000" u="none" cap="none" strike="noStrike">
                <a:solidFill>
                  <a:schemeClr val="dk1"/>
                </a:solidFill>
                <a:highlight>
                  <a:srgbClr val="FFFFFF"/>
                </a:highlight>
                <a:latin typeface="Arial"/>
                <a:ea typeface="Arial"/>
                <a:cs typeface="Arial"/>
                <a:sym typeface="Arial"/>
              </a:rPr>
              <a:t>·</a:t>
            </a:r>
            <a:r>
              <a:rPr b="0" i="0" lang="en-US" sz="700" u="none" cap="none" strike="noStrike">
                <a:solidFill>
                  <a:schemeClr val="dk1"/>
                </a:solidFill>
                <a:highlight>
                  <a:srgbClr val="FFFFFF"/>
                </a:highlight>
                <a:latin typeface="Times New Roman"/>
                <a:ea typeface="Times New Roman"/>
                <a:cs typeface="Times New Roman"/>
                <a:sym typeface="Times New Roman"/>
              </a:rPr>
              <a:t>        </a:t>
            </a:r>
            <a:r>
              <a:rPr b="1" i="0" lang="en-US" sz="1400" u="none" cap="none" strike="noStrike">
                <a:solidFill>
                  <a:schemeClr val="dk1"/>
                </a:solidFill>
                <a:highlight>
                  <a:srgbClr val="FFFFFF"/>
                </a:highlight>
                <a:latin typeface="Arial"/>
                <a:ea typeface="Arial"/>
                <a:cs typeface="Arial"/>
                <a:sym typeface="Arial"/>
              </a:rPr>
              <a:t>H - Home:</a:t>
            </a:r>
            <a:r>
              <a:rPr b="0" i="0" lang="en-US" sz="1400" u="none" cap="none" strike="noStrike">
                <a:solidFill>
                  <a:schemeClr val="dk1"/>
                </a:solidFill>
                <a:highlight>
                  <a:srgbClr val="FFFFFF"/>
                </a:highlight>
                <a:latin typeface="Arial"/>
                <a:ea typeface="Arial"/>
                <a:cs typeface="Arial"/>
                <a:sym typeface="Arial"/>
              </a:rPr>
              <a:t> Hiển thị trang chủ.</a:t>
            </a:r>
            <a:endParaRPr b="0" i="0" sz="14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60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551" name="Google Shape;551;g15c7f0fab53_0_44"/>
          <p:cNvPicPr preferRelativeResize="0"/>
          <p:nvPr/>
        </p:nvPicPr>
        <p:blipFill rotWithShape="1">
          <a:blip r:embed="rId3">
            <a:alphaModFix/>
          </a:blip>
          <a:srcRect b="3583" l="0" r="0" t="-1"/>
          <a:stretch/>
        </p:blipFill>
        <p:spPr>
          <a:xfrm>
            <a:off x="6686550" y="1724025"/>
            <a:ext cx="4391025" cy="1914526"/>
          </a:xfrm>
          <a:prstGeom prst="rect">
            <a:avLst/>
          </a:prstGeom>
          <a:noFill/>
          <a:ln>
            <a:noFill/>
          </a:ln>
        </p:spPr>
      </p:pic>
      <p:grpSp>
        <p:nvGrpSpPr>
          <p:cNvPr id="552" name="Google Shape;552;g15c7f0fab53_0_44"/>
          <p:cNvGrpSpPr/>
          <p:nvPr/>
        </p:nvGrpSpPr>
        <p:grpSpPr>
          <a:xfrm>
            <a:off x="6096000" y="165201"/>
            <a:ext cx="6216956" cy="708298"/>
            <a:chOff x="642754" y="4151657"/>
            <a:chExt cx="5540174" cy="1060658"/>
          </a:xfrm>
        </p:grpSpPr>
        <p:grpSp>
          <p:nvGrpSpPr>
            <p:cNvPr id="553" name="Google Shape;553;g15c7f0fab53_0_44"/>
            <p:cNvGrpSpPr/>
            <p:nvPr/>
          </p:nvGrpSpPr>
          <p:grpSpPr>
            <a:xfrm>
              <a:off x="642754" y="4223274"/>
              <a:ext cx="5289581" cy="989041"/>
              <a:chOff x="508001" y="4223274"/>
              <a:chExt cx="5289581" cy="989041"/>
            </a:xfrm>
          </p:grpSpPr>
          <p:sp>
            <p:nvSpPr>
              <p:cNvPr id="554" name="Google Shape;554;g15c7f0fab53_0_44"/>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55" name="Google Shape;555;g15c7f0fab53_0_44"/>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56" name="Google Shape;556;g15c7f0fab53_0_44"/>
            <p:cNvGrpSpPr/>
            <p:nvPr/>
          </p:nvGrpSpPr>
          <p:grpSpPr>
            <a:xfrm>
              <a:off x="842194" y="4151657"/>
              <a:ext cx="894759" cy="905639"/>
              <a:chOff x="707441" y="4151657"/>
              <a:chExt cx="894759" cy="905639"/>
            </a:xfrm>
          </p:grpSpPr>
          <p:sp>
            <p:nvSpPr>
              <p:cNvPr id="557" name="Google Shape;557;g15c7f0fab53_0_44"/>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58" name="Google Shape;558;g15c7f0fab53_0_44"/>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59" name="Google Shape;559;g15c7f0fab53_0_44"/>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g15c7f0fab53_0_60"/>
          <p:cNvSpPr txBox="1"/>
          <p:nvPr>
            <p:ph type="title"/>
          </p:nvPr>
        </p:nvSpPr>
        <p:spPr>
          <a:xfrm>
            <a:off x="523568" y="1898266"/>
            <a:ext cx="9537290" cy="2064774"/>
          </a:xfrm>
          <a:prstGeom prst="rect">
            <a:avLst/>
          </a:prstGeom>
          <a:noFill/>
          <a:ln>
            <a:noFill/>
          </a:ln>
        </p:spPr>
        <p:txBody>
          <a:bodyPr anchorCtr="0" anchor="ctr" bIns="45700" lIns="91425" spcFirstLastPara="1" rIns="91425" wrap="square" tIns="45700">
            <a:normAutofit/>
          </a:bodyPr>
          <a:lstStyle/>
          <a:p>
            <a:pPr indent="-285750" lvl="0" marL="1200150" rtl="0" algn="l">
              <a:lnSpc>
                <a:spcPct val="115000"/>
              </a:lnSpc>
              <a:spcBef>
                <a:spcPts val="1200"/>
              </a:spcBef>
              <a:spcAft>
                <a:spcPts val="0"/>
              </a:spcAft>
              <a:buClr>
                <a:schemeClr val="dk1"/>
              </a:buClr>
              <a:buSzPts val="1414"/>
              <a:buFont typeface="Noto Sans Symbols"/>
              <a:buChar char="❑"/>
            </a:pPr>
            <a:r>
              <a:rPr lang="en-US" sz="1800">
                <a:latin typeface="Be Vietnam Pro"/>
                <a:ea typeface="Be Vietnam Pro"/>
                <a:cs typeface="Be Vietnam Pro"/>
                <a:sym typeface="Be Vietnam Pro"/>
              </a:rPr>
              <a:t>Sử dụng khi hệ thống được xác định dưới dạng một số trạng thái hữu hạn và quá trình chuyển đổi giữa các trạng thái được điều chỉnh bởi các quy tắc của hệ thống.</a:t>
            </a:r>
            <a:endParaRPr sz="1800">
              <a:latin typeface="Be Vietnam Pro"/>
              <a:ea typeface="Be Vietnam Pro"/>
              <a:cs typeface="Be Vietnam Pro"/>
              <a:sym typeface="Be Vietnam Pro"/>
            </a:endParaRPr>
          </a:p>
          <a:p>
            <a:pPr indent="0" lvl="0" marL="0" rtl="0" algn="l">
              <a:lnSpc>
                <a:spcPct val="90000"/>
              </a:lnSpc>
              <a:spcBef>
                <a:spcPts val="1200"/>
              </a:spcBef>
              <a:spcAft>
                <a:spcPts val="0"/>
              </a:spcAft>
              <a:buSzPts val="1800"/>
              <a:buNone/>
            </a:pPr>
            <a:r>
              <a:t/>
            </a:r>
            <a:endParaRPr sz="1800">
              <a:latin typeface="Be Vietnam Pro"/>
              <a:ea typeface="Be Vietnam Pro"/>
              <a:cs typeface="Be Vietnam Pro"/>
              <a:sym typeface="Be Vietnam Pro"/>
            </a:endParaRPr>
          </a:p>
        </p:txBody>
      </p:sp>
      <p:sp>
        <p:nvSpPr>
          <p:cNvPr id="566" name="Google Shape;566;g15c7f0fab53_0_60"/>
          <p:cNvSpPr txBox="1"/>
          <p:nvPr>
            <p:ph idx="1" type="body"/>
          </p:nvPr>
        </p:nvSpPr>
        <p:spPr>
          <a:xfrm>
            <a:off x="1189703" y="3809376"/>
            <a:ext cx="9812593" cy="1913200"/>
          </a:xfrm>
          <a:prstGeom prst="rect">
            <a:avLst/>
          </a:prstGeom>
          <a:noFill/>
          <a:ln>
            <a:noFill/>
          </a:ln>
        </p:spPr>
        <p:txBody>
          <a:bodyPr anchorCtr="0" anchor="t" bIns="45700" lIns="91425" spcFirstLastPara="1" rIns="91425" wrap="square" tIns="45700">
            <a:noAutofit/>
          </a:bodyPr>
          <a:lstStyle/>
          <a:p>
            <a:pPr indent="0" lvl="0" marL="228600" rtl="0" algn="l">
              <a:lnSpc>
                <a:spcPct val="115000"/>
              </a:lnSpc>
              <a:spcBef>
                <a:spcPts val="600"/>
              </a:spcBef>
              <a:spcAft>
                <a:spcPts val="0"/>
              </a:spcAft>
              <a:buClr>
                <a:schemeClr val="dk1"/>
              </a:buClr>
              <a:buSzPts val="1100"/>
              <a:buFont typeface="Arial"/>
              <a:buNone/>
            </a:pPr>
            <a:r>
              <a:rPr b="1" lang="en-US" sz="1800">
                <a:solidFill>
                  <a:srgbClr val="1B1B1B"/>
                </a:solidFill>
                <a:highlight>
                  <a:srgbClr val="FFFFFF"/>
                </a:highlight>
                <a:latin typeface="Be Vietnam Pro"/>
                <a:ea typeface="Be Vietnam Pro"/>
                <a:cs typeface="Be Vietnam Pro"/>
                <a:sym typeface="Be Vietnam Pro"/>
              </a:rPr>
              <a:t>Ví dụ  :</a:t>
            </a:r>
            <a:endParaRPr/>
          </a:p>
          <a:p>
            <a:pPr indent="0" lvl="0" marL="228600" rtl="0" algn="l">
              <a:lnSpc>
                <a:spcPct val="115000"/>
              </a:lnSpc>
              <a:spcBef>
                <a:spcPts val="600"/>
              </a:spcBef>
              <a:spcAft>
                <a:spcPts val="0"/>
              </a:spcAft>
              <a:buClr>
                <a:schemeClr val="dk1"/>
              </a:buClr>
              <a:buSzPts val="1100"/>
              <a:buFont typeface="Arial"/>
              <a:buNone/>
            </a:pPr>
            <a:r>
              <a:rPr lang="en-US" sz="1800">
                <a:solidFill>
                  <a:srgbClr val="1B1B1B"/>
                </a:solidFill>
                <a:highlight>
                  <a:srgbClr val="FFFFFF"/>
                </a:highlight>
                <a:latin typeface="Be Vietnam Pro"/>
                <a:ea typeface="Be Vietnam Pro"/>
                <a:cs typeface="Be Vietnam Pro"/>
                <a:sym typeface="Be Vietnam Pro"/>
              </a:rPr>
              <a:t>Nhập mã PIN ở cây ATM. Nếu người dùng nhập mật khẩu không hợp lệ trong lần thử đầu tiên hoặc lần thứ hai, người dùng sẽ được yêu cầu nhập lại mật khẩu, nếu người dùng nhập mật khẩu không đúng lần thứ 3, tài khoản sẽ bị chặn.</a:t>
            </a:r>
            <a:endParaRPr sz="1800">
              <a:solidFill>
                <a:srgbClr val="1B1B1B"/>
              </a:solidFill>
              <a:highlight>
                <a:srgbClr val="FFFFFF"/>
              </a:highlight>
              <a:latin typeface="Be Vietnam Pro"/>
              <a:ea typeface="Be Vietnam Pro"/>
              <a:cs typeface="Be Vietnam Pro"/>
              <a:sym typeface="Be Vietnam Pro"/>
            </a:endParaRPr>
          </a:p>
          <a:p>
            <a:pPr indent="0" lvl="0" marL="0" rtl="0" algn="l">
              <a:lnSpc>
                <a:spcPct val="90000"/>
              </a:lnSpc>
              <a:spcBef>
                <a:spcPts val="1000"/>
              </a:spcBef>
              <a:spcAft>
                <a:spcPts val="0"/>
              </a:spcAft>
              <a:buSzPts val="1800"/>
              <a:buNone/>
            </a:pPr>
            <a:r>
              <a:t/>
            </a:r>
            <a:endParaRPr sz="1800">
              <a:latin typeface="Be Vietnam Pro"/>
              <a:ea typeface="Be Vietnam Pro"/>
              <a:cs typeface="Be Vietnam Pro"/>
              <a:sym typeface="Be Vietnam Pro"/>
            </a:endParaRPr>
          </a:p>
        </p:txBody>
      </p:sp>
      <p:sp>
        <p:nvSpPr>
          <p:cNvPr id="567" name="Google Shape;567;g15c7f0fab53_0_60"/>
          <p:cNvSpPr txBox="1"/>
          <p:nvPr/>
        </p:nvSpPr>
        <p:spPr>
          <a:xfrm>
            <a:off x="1435510" y="1651819"/>
            <a:ext cx="8996516"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000" u="none" cap="none" strike="noStrike">
                <a:solidFill>
                  <a:srgbClr val="000000"/>
                </a:solidFill>
                <a:latin typeface="Be Vietnam Pro"/>
                <a:ea typeface="Be Vietnam Pro"/>
                <a:cs typeface="Be Vietnam Pro"/>
                <a:sym typeface="Be Vietnam Pro"/>
              </a:rPr>
              <a:t>Chuyển đổi trạng thái (  State transition )</a:t>
            </a:r>
            <a:endParaRPr b="0" i="0" sz="2000" u="none" cap="none" strike="noStrike">
              <a:solidFill>
                <a:srgbClr val="000000"/>
              </a:solidFill>
              <a:latin typeface="Arial"/>
              <a:ea typeface="Arial"/>
              <a:cs typeface="Arial"/>
              <a:sym typeface="Arial"/>
            </a:endParaRPr>
          </a:p>
        </p:txBody>
      </p:sp>
      <p:grpSp>
        <p:nvGrpSpPr>
          <p:cNvPr id="568" name="Google Shape;568;g15c7f0fab53_0_60"/>
          <p:cNvGrpSpPr/>
          <p:nvPr/>
        </p:nvGrpSpPr>
        <p:grpSpPr>
          <a:xfrm>
            <a:off x="6096000" y="165201"/>
            <a:ext cx="6216956" cy="708298"/>
            <a:chOff x="642754" y="4151657"/>
            <a:chExt cx="5540174" cy="1060658"/>
          </a:xfrm>
        </p:grpSpPr>
        <p:grpSp>
          <p:nvGrpSpPr>
            <p:cNvPr id="569" name="Google Shape;569;g15c7f0fab53_0_60"/>
            <p:cNvGrpSpPr/>
            <p:nvPr/>
          </p:nvGrpSpPr>
          <p:grpSpPr>
            <a:xfrm>
              <a:off x="642754" y="4223274"/>
              <a:ext cx="5289581" cy="989041"/>
              <a:chOff x="508001" y="4223274"/>
              <a:chExt cx="5289581" cy="989041"/>
            </a:xfrm>
          </p:grpSpPr>
          <p:sp>
            <p:nvSpPr>
              <p:cNvPr id="570" name="Google Shape;570;g15c7f0fab53_0_60"/>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71" name="Google Shape;571;g15c7f0fab53_0_60"/>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72" name="Google Shape;572;g15c7f0fab53_0_60"/>
            <p:cNvGrpSpPr/>
            <p:nvPr/>
          </p:nvGrpSpPr>
          <p:grpSpPr>
            <a:xfrm>
              <a:off x="842194" y="4151657"/>
              <a:ext cx="894759" cy="905639"/>
              <a:chOff x="707441" y="4151657"/>
              <a:chExt cx="894759" cy="905639"/>
            </a:xfrm>
          </p:grpSpPr>
          <p:sp>
            <p:nvSpPr>
              <p:cNvPr id="573" name="Google Shape;573;g15c7f0fab53_0_60"/>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74" name="Google Shape;574;g15c7f0fab53_0_60"/>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75" name="Google Shape;575;g15c7f0fab53_0_60"/>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graphicFrame>
        <p:nvGraphicFramePr>
          <p:cNvPr id="580" name="Google Shape;580;p5"/>
          <p:cNvGraphicFramePr/>
          <p:nvPr/>
        </p:nvGraphicFramePr>
        <p:xfrm>
          <a:off x="6794089" y="1403055"/>
          <a:ext cx="3000000" cy="3000000"/>
        </p:xfrm>
        <a:graphic>
          <a:graphicData uri="http://schemas.openxmlformats.org/drawingml/2006/table">
            <a:tbl>
              <a:tblPr>
                <a:solidFill>
                  <a:srgbClr val="FFFFFF"/>
                </a:solidFill>
                <a:tableStyleId>{A7A9F97C-25F6-4710-8AAD-0FDC6027060E}</a:tableStyleId>
              </a:tblPr>
              <a:tblGrid>
                <a:gridCol w="1487400"/>
                <a:gridCol w="1361400"/>
                <a:gridCol w="672400"/>
                <a:gridCol w="913125"/>
              </a:tblGrid>
              <a:tr h="4718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rgbClr val="1B1B1B"/>
                          </a:solidFill>
                          <a:highlight>
                            <a:srgbClr val="FFFFFF"/>
                          </a:highlight>
                        </a:rPr>
                        <a:t>Insert cart</a:t>
                      </a:r>
                      <a:endParaRPr b="1"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rgbClr val="1B1B1B"/>
                          </a:solidFill>
                          <a:highlight>
                            <a:srgbClr val="FFFFFF"/>
                          </a:highlight>
                        </a:rPr>
                        <a:t>Vali PIN</a:t>
                      </a:r>
                      <a:endParaRPr b="1"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b="1" lang="en-US" sz="1400" u="none" cap="none" strike="noStrike">
                          <a:solidFill>
                            <a:srgbClr val="1B1B1B"/>
                          </a:solidFill>
                          <a:highlight>
                            <a:srgbClr val="FFFFFF"/>
                          </a:highlight>
                        </a:rPr>
                        <a:t>Invalid PIN</a:t>
                      </a:r>
                      <a:endParaRPr b="1"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355350">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S1 Start state</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S2</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355350">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S2 Wait for PIN</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S6</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S3</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355350">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S3 1st try invalid</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S6</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S4</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355350">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S4 2nd try invalid</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S6</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S5</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355350">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S5 3rd try invalid</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S7</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47187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S6 Access account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r h="471875">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S7 Eat cart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S1 (for new card)</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400"/>
                        <a:buFont typeface="Arial"/>
                        <a:buNone/>
                      </a:pPr>
                      <a:r>
                        <a:rPr lang="en-US" sz="1400" u="none" cap="none" strike="noStrike">
                          <a:solidFill>
                            <a:srgbClr val="1B1B1B"/>
                          </a:solidFill>
                          <a:highlight>
                            <a:srgbClr val="FFFFFF"/>
                          </a:highlight>
                        </a:rPr>
                        <a:t>-</a:t>
                      </a:r>
                      <a:endParaRPr sz="1400" u="none" cap="none" strike="noStrike">
                        <a:solidFill>
                          <a:srgbClr val="1B1B1B"/>
                        </a:solidFill>
                        <a:highlight>
                          <a:srgbClr val="FFFFFF"/>
                        </a:highlight>
                      </a:endParaRPr>
                    </a:p>
                  </a:txBody>
                  <a:tcPr marT="9525" marB="9525" marR="9525" marL="9525">
                    <a:lnL cap="flat" cmpd="sng" w="12625">
                      <a:solidFill>
                        <a:srgbClr val="D6D6D7"/>
                      </a:solidFill>
                      <a:prstDash val="solid"/>
                      <a:round/>
                      <a:headEnd len="sm" w="sm" type="none"/>
                      <a:tailEnd len="sm" w="sm" type="none"/>
                    </a:lnL>
                    <a:lnR cap="flat" cmpd="sng" w="12625">
                      <a:solidFill>
                        <a:srgbClr val="D6D6D7"/>
                      </a:solidFill>
                      <a:prstDash val="solid"/>
                      <a:round/>
                      <a:headEnd len="sm" w="sm" type="none"/>
                      <a:tailEnd len="sm" w="sm" type="none"/>
                    </a:lnR>
                    <a:lnT cap="flat" cmpd="sng" w="12625">
                      <a:solidFill>
                        <a:srgbClr val="D6D6D7"/>
                      </a:solidFill>
                      <a:prstDash val="solid"/>
                      <a:round/>
                      <a:headEnd len="sm" w="sm" type="none"/>
                      <a:tailEnd len="sm" w="sm" type="none"/>
                    </a:lnT>
                    <a:lnB cap="flat" cmpd="sng" w="12625">
                      <a:solidFill>
                        <a:srgbClr val="D6D6D7"/>
                      </a:solidFill>
                      <a:prstDash val="solid"/>
                      <a:round/>
                      <a:headEnd len="sm" w="sm" type="none"/>
                      <a:tailEnd len="sm" w="sm" type="none"/>
                    </a:lnB>
                  </a:tcPr>
                </a:tc>
              </a:tr>
            </a:tbl>
          </a:graphicData>
        </a:graphic>
      </p:graphicFrame>
      <p:pic>
        <p:nvPicPr>
          <p:cNvPr id="581" name="Google Shape;581;p5"/>
          <p:cNvPicPr preferRelativeResize="0"/>
          <p:nvPr/>
        </p:nvPicPr>
        <p:blipFill rotWithShape="1">
          <a:blip r:embed="rId3">
            <a:alphaModFix/>
          </a:blip>
          <a:srcRect b="0" l="0" r="0" t="0"/>
          <a:stretch/>
        </p:blipFill>
        <p:spPr>
          <a:xfrm>
            <a:off x="812699" y="1403056"/>
            <a:ext cx="5283301" cy="2636043"/>
          </a:xfrm>
          <a:prstGeom prst="rect">
            <a:avLst/>
          </a:prstGeom>
          <a:noFill/>
          <a:ln>
            <a:noFill/>
          </a:ln>
        </p:spPr>
      </p:pic>
      <p:sp>
        <p:nvSpPr>
          <p:cNvPr id="582" name="Google Shape;582;p5"/>
          <p:cNvSpPr txBox="1"/>
          <p:nvPr/>
        </p:nvSpPr>
        <p:spPr>
          <a:xfrm>
            <a:off x="936579" y="4873577"/>
            <a:ext cx="9839700" cy="1417500"/>
          </a:xfrm>
          <a:prstGeom prst="rect">
            <a:avLst/>
          </a:prstGeom>
          <a:noFill/>
          <a:ln>
            <a:noFill/>
          </a:ln>
        </p:spPr>
        <p:txBody>
          <a:bodyPr anchorCtr="0" anchor="t" bIns="91425" lIns="91425" spcFirstLastPara="1" rIns="91425" wrap="square" tIns="91425">
            <a:spAutoFit/>
          </a:bodyPr>
          <a:lstStyle/>
          <a:p>
            <a:pPr indent="0" lvl="0" marL="457200" marR="0" rtl="0" algn="just">
              <a:lnSpc>
                <a:spcPct val="115000"/>
              </a:lnSpc>
              <a:spcBef>
                <a:spcPts val="1800"/>
              </a:spcBef>
              <a:spcAft>
                <a:spcPts val="0"/>
              </a:spcAft>
              <a:buClr>
                <a:schemeClr val="dk1"/>
              </a:buClr>
              <a:buSzPts val="1100"/>
              <a:buFont typeface="Arial"/>
              <a:buNone/>
            </a:pPr>
            <a:r>
              <a:rPr b="0" i="0" lang="en-US" sz="1800" u="none" cap="none" strike="noStrike">
                <a:solidFill>
                  <a:schemeClr val="dk1"/>
                </a:solidFill>
                <a:highlight>
                  <a:srgbClr val="FFFFFF"/>
                </a:highlight>
                <a:latin typeface="Arial"/>
                <a:ea typeface="Arial"/>
                <a:cs typeface="Arial"/>
                <a:sym typeface="Arial"/>
              </a:rPr>
              <a:t>Khi người dùng nhập mã PIN chính xác, trạng thái được chuyển sang S</a:t>
            </a:r>
            <a:r>
              <a:rPr lang="en-US" sz="1800">
                <a:solidFill>
                  <a:schemeClr val="dk1"/>
                </a:solidFill>
                <a:highlight>
                  <a:srgbClr val="FFFFFF"/>
                </a:highlight>
              </a:rPr>
              <a:t>6</a:t>
            </a:r>
            <a:r>
              <a:rPr b="0" i="0" lang="en-US" sz="1800" u="none" cap="none" strike="noStrike">
                <a:solidFill>
                  <a:schemeClr val="dk1"/>
                </a:solidFill>
                <a:highlight>
                  <a:srgbClr val="FFFFFF"/>
                </a:highlight>
                <a:latin typeface="Arial"/>
                <a:ea typeface="Arial"/>
                <a:cs typeface="Arial"/>
                <a:sym typeface="Arial"/>
              </a:rPr>
              <a:t>: được cấp quyền truy cập. Nếu người dùng nhập sai mã PIN sẽ được chuyển sang trạng thái tiếp theo. Nếu nhập sai mã PIN lần thứ 3 sẽ đạt đến trạng thái bị chặn tài khoản.</a:t>
            </a:r>
            <a:endParaRPr b="0" i="0" sz="18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83" name="Google Shape;583;p5"/>
          <p:cNvGrpSpPr/>
          <p:nvPr/>
        </p:nvGrpSpPr>
        <p:grpSpPr>
          <a:xfrm>
            <a:off x="6096000" y="165201"/>
            <a:ext cx="6216956" cy="708298"/>
            <a:chOff x="642754" y="4151657"/>
            <a:chExt cx="5540174" cy="1060658"/>
          </a:xfrm>
        </p:grpSpPr>
        <p:grpSp>
          <p:nvGrpSpPr>
            <p:cNvPr id="584" name="Google Shape;584;p5"/>
            <p:cNvGrpSpPr/>
            <p:nvPr/>
          </p:nvGrpSpPr>
          <p:grpSpPr>
            <a:xfrm>
              <a:off x="642754" y="4223274"/>
              <a:ext cx="5289581" cy="989041"/>
              <a:chOff x="508001" y="4223274"/>
              <a:chExt cx="5289581" cy="989041"/>
            </a:xfrm>
          </p:grpSpPr>
          <p:sp>
            <p:nvSpPr>
              <p:cNvPr id="585" name="Google Shape;585;p5"/>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586" name="Google Shape;586;p5"/>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587" name="Google Shape;587;p5"/>
            <p:cNvGrpSpPr/>
            <p:nvPr/>
          </p:nvGrpSpPr>
          <p:grpSpPr>
            <a:xfrm>
              <a:off x="842194" y="4151657"/>
              <a:ext cx="894759" cy="905639"/>
              <a:chOff x="707441" y="4151657"/>
              <a:chExt cx="894759" cy="905639"/>
            </a:xfrm>
          </p:grpSpPr>
          <p:sp>
            <p:nvSpPr>
              <p:cNvPr id="588" name="Google Shape;588;p5"/>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589" name="Google Shape;589;p5"/>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590" name="Google Shape;590;p5"/>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15c7f0fab53_0_77"/>
          <p:cNvSpPr txBox="1"/>
          <p:nvPr>
            <p:ph type="title"/>
          </p:nvPr>
        </p:nvSpPr>
        <p:spPr>
          <a:xfrm>
            <a:off x="725250" y="1447800"/>
            <a:ext cx="7590075" cy="420902"/>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1200"/>
              </a:spcBef>
              <a:spcAft>
                <a:spcPts val="0"/>
              </a:spcAft>
              <a:buClr>
                <a:schemeClr val="dk1"/>
              </a:buClr>
              <a:buSzPts val="1414"/>
              <a:buFont typeface="Arial"/>
              <a:buNone/>
            </a:pPr>
            <a:r>
              <a:rPr b="1" lang="en-US" sz="1800">
                <a:latin typeface="Be Vietnam Pro"/>
                <a:ea typeface="Be Vietnam Pro"/>
                <a:cs typeface="Be Vietnam Pro"/>
                <a:sym typeface="Be Vietnam Pro"/>
              </a:rPr>
              <a:t>Đoán lỗi ( Error guessing)</a:t>
            </a:r>
            <a:endParaRPr b="1" sz="1800">
              <a:latin typeface="Be Vietnam Pro"/>
              <a:ea typeface="Be Vietnam Pro"/>
              <a:cs typeface="Be Vietnam Pro"/>
              <a:sym typeface="Be Vietnam Pro"/>
            </a:endParaRPr>
          </a:p>
        </p:txBody>
      </p:sp>
      <p:sp>
        <p:nvSpPr>
          <p:cNvPr id="597" name="Google Shape;597;g15c7f0fab53_0_77"/>
          <p:cNvSpPr txBox="1"/>
          <p:nvPr>
            <p:ph idx="1" type="body"/>
          </p:nvPr>
        </p:nvSpPr>
        <p:spPr>
          <a:xfrm>
            <a:off x="725250" y="2004800"/>
            <a:ext cx="9591675" cy="1100350"/>
          </a:xfrm>
          <a:prstGeom prst="rect">
            <a:avLst/>
          </a:prstGeom>
          <a:noFill/>
          <a:ln>
            <a:noFill/>
          </a:ln>
        </p:spPr>
        <p:txBody>
          <a:bodyPr anchorCtr="0" anchor="t" bIns="45700" lIns="91425" spcFirstLastPara="1" rIns="91425" wrap="square" tIns="45700">
            <a:noAutofit/>
          </a:bodyPr>
          <a:lstStyle/>
          <a:p>
            <a:pPr indent="-285750" lvl="0" marL="742950" rtl="0" algn="l">
              <a:lnSpc>
                <a:spcPct val="115000"/>
              </a:lnSpc>
              <a:spcBef>
                <a:spcPts val="1200"/>
              </a:spcBef>
              <a:spcAft>
                <a:spcPts val="1200"/>
              </a:spcAft>
              <a:buSzPts val="1100"/>
              <a:buFont typeface="Noto Sans Symbols"/>
              <a:buChar char="❑"/>
            </a:pPr>
            <a:r>
              <a:rPr lang="en-US" sz="1800">
                <a:latin typeface="Be Vietnam Pro"/>
                <a:ea typeface="Be Vietnam Pro"/>
                <a:cs typeface="Be Vietnam Pro"/>
                <a:sym typeface="Be Vietnam Pro"/>
              </a:rPr>
              <a:t>Tester có thể sử dụng kinh nghiệm của mình  về hành vi và chức năng của ứng dụng để đoán các khu vực dễ bị lỗi.</a:t>
            </a:r>
            <a:endParaRPr sz="1800">
              <a:latin typeface="Be Vietnam Pro"/>
              <a:ea typeface="Be Vietnam Pro"/>
              <a:cs typeface="Be Vietnam Pro"/>
              <a:sym typeface="Be Vietnam Pro"/>
            </a:endParaRPr>
          </a:p>
        </p:txBody>
      </p:sp>
      <p:pic>
        <p:nvPicPr>
          <p:cNvPr id="598" name="Google Shape;598;g15c7f0fab53_0_77"/>
          <p:cNvPicPr preferRelativeResize="0"/>
          <p:nvPr/>
        </p:nvPicPr>
        <p:blipFill rotWithShape="1">
          <a:blip r:embed="rId3">
            <a:alphaModFix/>
          </a:blip>
          <a:srcRect b="0" l="0" r="0" t="0"/>
          <a:stretch/>
        </p:blipFill>
        <p:spPr>
          <a:xfrm>
            <a:off x="3112841" y="2686050"/>
            <a:ext cx="5802559" cy="3910872"/>
          </a:xfrm>
          <a:prstGeom prst="rect">
            <a:avLst/>
          </a:prstGeom>
          <a:noFill/>
          <a:ln>
            <a:noFill/>
          </a:ln>
        </p:spPr>
      </p:pic>
      <p:grpSp>
        <p:nvGrpSpPr>
          <p:cNvPr id="599" name="Google Shape;599;g15c7f0fab53_0_77"/>
          <p:cNvGrpSpPr/>
          <p:nvPr/>
        </p:nvGrpSpPr>
        <p:grpSpPr>
          <a:xfrm>
            <a:off x="6096000" y="165201"/>
            <a:ext cx="6216956" cy="708298"/>
            <a:chOff x="642754" y="4151657"/>
            <a:chExt cx="5540174" cy="1060658"/>
          </a:xfrm>
        </p:grpSpPr>
        <p:grpSp>
          <p:nvGrpSpPr>
            <p:cNvPr id="600" name="Google Shape;600;g15c7f0fab53_0_77"/>
            <p:cNvGrpSpPr/>
            <p:nvPr/>
          </p:nvGrpSpPr>
          <p:grpSpPr>
            <a:xfrm>
              <a:off x="642754" y="4223274"/>
              <a:ext cx="5289581" cy="989041"/>
              <a:chOff x="508001" y="4223274"/>
              <a:chExt cx="5289581" cy="989041"/>
            </a:xfrm>
          </p:grpSpPr>
          <p:sp>
            <p:nvSpPr>
              <p:cNvPr id="601" name="Google Shape;601;g15c7f0fab53_0_77"/>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02" name="Google Shape;602;g15c7f0fab53_0_77"/>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03" name="Google Shape;603;g15c7f0fab53_0_77"/>
            <p:cNvGrpSpPr/>
            <p:nvPr/>
          </p:nvGrpSpPr>
          <p:grpSpPr>
            <a:xfrm>
              <a:off x="842194" y="4151657"/>
              <a:ext cx="894759" cy="905639"/>
              <a:chOff x="707441" y="4151657"/>
              <a:chExt cx="894759" cy="905639"/>
            </a:xfrm>
          </p:grpSpPr>
          <p:sp>
            <p:nvSpPr>
              <p:cNvPr id="604" name="Google Shape;604;g15c7f0fab53_0_77"/>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605" name="Google Shape;605;g15c7f0fab53_0_77"/>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06" name="Google Shape;606;g15c7f0fab53_0_77"/>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15c7f0fab53_0_84"/>
          <p:cNvSpPr txBox="1"/>
          <p:nvPr>
            <p:ph type="title"/>
          </p:nvPr>
        </p:nvSpPr>
        <p:spPr>
          <a:xfrm>
            <a:off x="838200" y="1181099"/>
            <a:ext cx="9658350" cy="509727"/>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800">
                <a:solidFill>
                  <a:srgbClr val="1C1C1C"/>
                </a:solidFill>
                <a:highlight>
                  <a:srgbClr val="FFFFFF"/>
                </a:highlight>
                <a:latin typeface="Be Vietnam Pro"/>
                <a:ea typeface="Be Vietnam Pro"/>
                <a:cs typeface="Be Vietnam Pro"/>
                <a:sym typeface="Be Vietnam Pro"/>
              </a:rPr>
              <a:t>1.</a:t>
            </a:r>
            <a:r>
              <a:rPr lang="en-US" sz="1800">
                <a:solidFill>
                  <a:srgbClr val="1C1C1C"/>
                </a:solidFill>
                <a:highlight>
                  <a:srgbClr val="FFFFFF"/>
                </a:highlight>
                <a:latin typeface="Be Vietnam Pro"/>
                <a:ea typeface="Be Vietnam Pro"/>
                <a:cs typeface="Be Vietnam Pro"/>
                <a:sym typeface="Be Vietnam Pro"/>
              </a:rPr>
              <a:t>   </a:t>
            </a:r>
            <a:r>
              <a:rPr b="1" lang="en-US" sz="1800">
                <a:solidFill>
                  <a:srgbClr val="1C1C1C"/>
                </a:solidFill>
                <a:highlight>
                  <a:srgbClr val="FFFFFF"/>
                </a:highlight>
                <a:latin typeface="Be Vietnam Pro"/>
                <a:ea typeface="Be Vietnam Pro"/>
                <a:cs typeface="Be Vietnam Pro"/>
                <a:sym typeface="Be Vietnam Pro"/>
              </a:rPr>
              <a:t>Phương pháp hộp trắng Whilte box testing</a:t>
            </a:r>
            <a:endParaRPr b="1" sz="1800">
              <a:solidFill>
                <a:srgbClr val="1C1C1C"/>
              </a:solidFill>
              <a:highlight>
                <a:srgbClr val="FFFFFF"/>
              </a:highlight>
              <a:latin typeface="Be Vietnam Pro"/>
              <a:ea typeface="Be Vietnam Pro"/>
              <a:cs typeface="Be Vietnam Pro"/>
              <a:sym typeface="Be Vietnam Pro"/>
            </a:endParaRPr>
          </a:p>
        </p:txBody>
      </p:sp>
      <p:sp>
        <p:nvSpPr>
          <p:cNvPr id="613" name="Google Shape;613;g15c7f0fab53_0_84"/>
          <p:cNvSpPr txBox="1"/>
          <p:nvPr>
            <p:ph idx="1" type="body"/>
          </p:nvPr>
        </p:nvSpPr>
        <p:spPr>
          <a:xfrm>
            <a:off x="838200" y="1825625"/>
            <a:ext cx="10515600" cy="12509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414"/>
              <a:buFont typeface="Arial"/>
              <a:buNone/>
            </a:pPr>
            <a:r>
              <a:rPr b="1" lang="en-US" sz="1800">
                <a:highlight>
                  <a:srgbClr val="FFFFFF"/>
                </a:highlight>
                <a:latin typeface="Be Vietnam Pro"/>
                <a:ea typeface="Be Vietnam Pro"/>
                <a:cs typeface="Be Vietnam Pro"/>
                <a:sym typeface="Be Vietnam Pro"/>
              </a:rPr>
              <a:t>Kiểm thử hộp trắng (White box testing)</a:t>
            </a:r>
            <a:r>
              <a:rPr lang="en-US" sz="1800">
                <a:highlight>
                  <a:srgbClr val="FFFFFF"/>
                </a:highlight>
                <a:latin typeface="Be Vietnam Pro"/>
                <a:ea typeface="Be Vietnam Pro"/>
                <a:cs typeface="Be Vietnam Pro"/>
                <a:sym typeface="Be Vietnam Pro"/>
              </a:rPr>
              <a:t> là phương pháp kiểm thử phần mềm nhằm kiểm tra thuật toán, cấu trúc code bên trong của sản phẩm. Hộp trắng tượng trưng cho khả năng nhìn xuyên qua lớp vỏ bên ngoài của phần mềm để thấy được hoạt động bên trong của chúng. </a:t>
            </a:r>
            <a:endParaRPr sz="1800">
              <a:highlight>
                <a:srgbClr val="FFFFFF"/>
              </a:highlight>
              <a:latin typeface="Be Vietnam Pro"/>
              <a:ea typeface="Be Vietnam Pro"/>
              <a:cs typeface="Be Vietnam Pro"/>
              <a:sym typeface="Be Vietnam Pro"/>
            </a:endParaRPr>
          </a:p>
          <a:p>
            <a:pPr indent="0" lvl="0" marL="0" rtl="0" algn="l">
              <a:lnSpc>
                <a:spcPct val="90000"/>
              </a:lnSpc>
              <a:spcBef>
                <a:spcPts val="1000"/>
              </a:spcBef>
              <a:spcAft>
                <a:spcPts val="0"/>
              </a:spcAft>
              <a:buSzPts val="1800"/>
              <a:buNone/>
            </a:pPr>
            <a:r>
              <a:t/>
            </a:r>
            <a:endParaRPr sz="1800">
              <a:latin typeface="Be Vietnam Pro"/>
              <a:ea typeface="Be Vietnam Pro"/>
              <a:cs typeface="Be Vietnam Pro"/>
              <a:sym typeface="Be Vietnam Pro"/>
            </a:endParaRPr>
          </a:p>
        </p:txBody>
      </p:sp>
      <p:sp>
        <p:nvSpPr>
          <p:cNvPr id="614" name="Google Shape;614;g15c7f0fab53_0_84"/>
          <p:cNvSpPr txBox="1"/>
          <p:nvPr/>
        </p:nvSpPr>
        <p:spPr>
          <a:xfrm>
            <a:off x="838200" y="3471920"/>
            <a:ext cx="10515599" cy="176811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000000"/>
                </a:solidFill>
                <a:highlight>
                  <a:srgbClr val="FFFFFF"/>
                </a:highlight>
                <a:latin typeface="Be Vietnam Pro"/>
                <a:ea typeface="Be Vietnam Pro"/>
                <a:cs typeface="Be Vietnam Pro"/>
                <a:sym typeface="Be Vietnam Pro"/>
              </a:rPr>
              <a:t>Một số kỹ thuật kiểm thử phủ sóng mà người kiểm thử có thể sử dụng:</a:t>
            </a:r>
            <a:endParaRPr/>
          </a:p>
          <a:p>
            <a:pPr indent="0" lvl="0" marL="0" marR="0" rtl="0" algn="l">
              <a:lnSpc>
                <a:spcPct val="115000"/>
              </a:lnSpc>
              <a:spcBef>
                <a:spcPts val="1100"/>
              </a:spcBef>
              <a:spcAft>
                <a:spcPts val="0"/>
              </a:spcAft>
              <a:buClr>
                <a:srgbClr val="000000"/>
              </a:buClr>
              <a:buSzPts val="1800"/>
              <a:buFont typeface="Arial"/>
              <a:buNone/>
            </a:pPr>
            <a:r>
              <a:rPr b="1" i="0" lang="en-US" sz="1800" u="none" cap="none" strike="noStrike">
                <a:solidFill>
                  <a:srgbClr val="000000"/>
                </a:solidFill>
                <a:highlight>
                  <a:srgbClr val="FFFFFF"/>
                </a:highlight>
                <a:latin typeface="Be Vietnam Pro"/>
                <a:ea typeface="Be Vietnam Pro"/>
                <a:cs typeface="Be Vietnam Pro"/>
                <a:sym typeface="Be Vietnam Pro"/>
              </a:rPr>
              <a:t>Bao phủ nhánh (Path Coverage)</a:t>
            </a:r>
            <a:r>
              <a:rPr b="0" i="0" lang="en-US" sz="1800" u="none" cap="none" strike="noStrike">
                <a:solidFill>
                  <a:srgbClr val="000000"/>
                </a:solidFill>
                <a:highlight>
                  <a:srgbClr val="FFFFFF"/>
                </a:highlight>
                <a:latin typeface="Be Vietnam Pro"/>
                <a:ea typeface="Be Vietnam Pro"/>
                <a:cs typeface="Be Vietnam Pro"/>
                <a:sym typeface="Be Vietnam Pro"/>
              </a:rPr>
              <a:t>      </a:t>
            </a:r>
            <a:endParaRPr b="0" i="0" sz="1800" u="none" cap="none" strike="noStrike">
              <a:solidFill>
                <a:srgbClr val="000000"/>
              </a:solidFill>
              <a:highlight>
                <a:srgbClr val="FFFFFF"/>
              </a:highlight>
              <a:latin typeface="Be Vietnam Pro"/>
              <a:ea typeface="Be Vietnam Pro"/>
              <a:cs typeface="Be Vietnam Pro"/>
              <a:sym typeface="Be Vietnam Pro"/>
            </a:endParaRPr>
          </a:p>
          <a:p>
            <a:pPr indent="0" lvl="0" marL="0" marR="0" rtl="0" algn="l">
              <a:lnSpc>
                <a:spcPct val="115000"/>
              </a:lnSpc>
              <a:spcBef>
                <a:spcPts val="1100"/>
              </a:spcBef>
              <a:spcAft>
                <a:spcPts val="0"/>
              </a:spcAft>
              <a:buClr>
                <a:srgbClr val="000000"/>
              </a:buClr>
              <a:buSzPts val="1800"/>
              <a:buFont typeface="Arial"/>
              <a:buNone/>
            </a:pPr>
            <a:r>
              <a:rPr b="1" i="0" lang="en-US" sz="1800" u="none" cap="none" strike="noStrike">
                <a:solidFill>
                  <a:srgbClr val="000000"/>
                </a:solidFill>
                <a:highlight>
                  <a:srgbClr val="FFFFFF"/>
                </a:highlight>
                <a:latin typeface="Be Vietnam Pro"/>
                <a:ea typeface="Be Vietnam Pro"/>
                <a:cs typeface="Be Vietnam Pro"/>
                <a:sym typeface="Be Vietnam Pro"/>
              </a:rPr>
              <a:t>Bao phủ câu lệnh (Statement Coverage)</a:t>
            </a:r>
            <a:r>
              <a:rPr b="0" i="0" lang="en-US" sz="1800" u="none" cap="none" strike="noStrike">
                <a:solidFill>
                  <a:srgbClr val="000000"/>
                </a:solidFill>
                <a:highlight>
                  <a:srgbClr val="FFFFFF"/>
                </a:highlight>
                <a:latin typeface="Be Vietnam Pro"/>
                <a:ea typeface="Be Vietnam Pro"/>
                <a:cs typeface="Be Vietnam Pro"/>
                <a:sym typeface="Be Vietnam Pro"/>
              </a:rPr>
              <a:t>        </a:t>
            </a:r>
            <a:endParaRPr b="0" i="0" sz="1800" u="none" cap="none" strike="noStrike">
              <a:solidFill>
                <a:srgbClr val="000000"/>
              </a:solidFill>
              <a:highlight>
                <a:srgbClr val="FFFFFF"/>
              </a:highlight>
              <a:latin typeface="Be Vietnam Pro"/>
              <a:ea typeface="Be Vietnam Pro"/>
              <a:cs typeface="Be Vietnam Pro"/>
              <a:sym typeface="Be Vietnam Pro"/>
            </a:endParaRPr>
          </a:p>
          <a:p>
            <a:pPr indent="0" lvl="0" marL="0" marR="0" rtl="0" algn="l">
              <a:lnSpc>
                <a:spcPct val="115000"/>
              </a:lnSpc>
              <a:spcBef>
                <a:spcPts val="1100"/>
              </a:spcBef>
              <a:spcAft>
                <a:spcPts val="0"/>
              </a:spcAft>
              <a:buClr>
                <a:srgbClr val="000000"/>
              </a:buClr>
              <a:buSzPts val="1800"/>
              <a:buFont typeface="Arial"/>
              <a:buNone/>
            </a:pPr>
            <a:r>
              <a:rPr b="1" i="0" lang="en-US" sz="1800" u="none" cap="none" strike="noStrike">
                <a:solidFill>
                  <a:srgbClr val="000000"/>
                </a:solidFill>
                <a:highlight>
                  <a:srgbClr val="FFFFFF"/>
                </a:highlight>
                <a:latin typeface="Be Vietnam Pro"/>
                <a:ea typeface="Be Vietnam Pro"/>
                <a:cs typeface="Be Vietnam Pro"/>
                <a:sym typeface="Be Vietnam Pro"/>
              </a:rPr>
              <a:t>Phạm vi chi nhánh (Branch Coverage)</a:t>
            </a:r>
            <a:endParaRPr b="0" i="0" sz="1800" u="none" cap="none" strike="noStrike">
              <a:solidFill>
                <a:srgbClr val="000000"/>
              </a:solidFill>
              <a:highlight>
                <a:srgbClr val="FFFFFF"/>
              </a:highlight>
              <a:latin typeface="Be Vietnam Pro"/>
              <a:ea typeface="Be Vietnam Pro"/>
              <a:cs typeface="Be Vietnam Pro"/>
              <a:sym typeface="Be Vietnam Pro"/>
            </a:endParaRPr>
          </a:p>
        </p:txBody>
      </p:sp>
      <p:grpSp>
        <p:nvGrpSpPr>
          <p:cNvPr id="615" name="Google Shape;615;g15c7f0fab53_0_84"/>
          <p:cNvGrpSpPr/>
          <p:nvPr/>
        </p:nvGrpSpPr>
        <p:grpSpPr>
          <a:xfrm>
            <a:off x="6096000" y="165201"/>
            <a:ext cx="6216956" cy="708298"/>
            <a:chOff x="642754" y="4151657"/>
            <a:chExt cx="5540174" cy="1060658"/>
          </a:xfrm>
        </p:grpSpPr>
        <p:grpSp>
          <p:nvGrpSpPr>
            <p:cNvPr id="616" name="Google Shape;616;g15c7f0fab53_0_84"/>
            <p:cNvGrpSpPr/>
            <p:nvPr/>
          </p:nvGrpSpPr>
          <p:grpSpPr>
            <a:xfrm>
              <a:off x="642754" y="4223274"/>
              <a:ext cx="5289581" cy="989041"/>
              <a:chOff x="508001" y="4223274"/>
              <a:chExt cx="5289581" cy="989041"/>
            </a:xfrm>
          </p:grpSpPr>
          <p:sp>
            <p:nvSpPr>
              <p:cNvPr id="617" name="Google Shape;617;g15c7f0fab53_0_84"/>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18" name="Google Shape;618;g15c7f0fab53_0_84"/>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19" name="Google Shape;619;g15c7f0fab53_0_84"/>
            <p:cNvGrpSpPr/>
            <p:nvPr/>
          </p:nvGrpSpPr>
          <p:grpSpPr>
            <a:xfrm>
              <a:off x="842194" y="4151657"/>
              <a:ext cx="894759" cy="905639"/>
              <a:chOff x="707441" y="4151657"/>
              <a:chExt cx="894759" cy="905639"/>
            </a:xfrm>
          </p:grpSpPr>
          <p:sp>
            <p:nvSpPr>
              <p:cNvPr id="620" name="Google Shape;620;g15c7f0fab53_0_84"/>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621" name="Google Shape;621;g15c7f0fab53_0_84"/>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22" name="Google Shape;622;g15c7f0fab53_0_84"/>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15c7f0fab53_0_98"/>
          <p:cNvSpPr txBox="1"/>
          <p:nvPr>
            <p:ph type="title"/>
          </p:nvPr>
        </p:nvSpPr>
        <p:spPr>
          <a:xfrm>
            <a:off x="8156870" y="1314450"/>
            <a:ext cx="3376952" cy="400049"/>
          </a:xfrm>
          <a:prstGeom prst="rect">
            <a:avLst/>
          </a:prstGeom>
          <a:noFill/>
          <a:ln>
            <a:noFill/>
          </a:ln>
        </p:spPr>
        <p:txBody>
          <a:bodyPr anchorCtr="0" anchor="ctr" bIns="45700" lIns="91425" spcFirstLastPara="1" rIns="91425" wrap="square" tIns="45700">
            <a:noAutofit/>
          </a:bodyPr>
          <a:lstStyle/>
          <a:p>
            <a:pPr indent="0" lvl="0" marL="457200" rtl="0" algn="l">
              <a:lnSpc>
                <a:spcPct val="115000"/>
              </a:lnSpc>
              <a:spcBef>
                <a:spcPts val="1800"/>
              </a:spcBef>
              <a:spcAft>
                <a:spcPts val="0"/>
              </a:spcAft>
              <a:buClr>
                <a:schemeClr val="dk1"/>
              </a:buClr>
              <a:buSzPts val="1414"/>
              <a:buFont typeface="Arial"/>
              <a:buNone/>
            </a:pPr>
            <a:r>
              <a:rPr b="1" lang="en-US" sz="1800">
                <a:solidFill>
                  <a:srgbClr val="1B1B1B"/>
                </a:solidFill>
                <a:highlight>
                  <a:srgbClr val="FFFFFF"/>
                </a:highlight>
                <a:latin typeface="Be Vietnam Pro"/>
                <a:ea typeface="Be Vietnam Pro"/>
                <a:cs typeface="Be Vietnam Pro"/>
                <a:sym typeface="Be Vietnam Pro"/>
              </a:rPr>
              <a:t>Đồ thị luồng điều khiển</a:t>
            </a:r>
            <a:endParaRPr b="1" sz="1800">
              <a:solidFill>
                <a:srgbClr val="1B1B1B"/>
              </a:solidFill>
              <a:highlight>
                <a:srgbClr val="FFFFFF"/>
              </a:highlight>
              <a:latin typeface="Be Vietnam Pro"/>
              <a:ea typeface="Be Vietnam Pro"/>
              <a:cs typeface="Be Vietnam Pro"/>
              <a:sym typeface="Be Vietnam Pro"/>
            </a:endParaRPr>
          </a:p>
        </p:txBody>
      </p:sp>
      <p:sp>
        <p:nvSpPr>
          <p:cNvPr id="629" name="Google Shape;629;g15c7f0fab53_0_98"/>
          <p:cNvSpPr txBox="1"/>
          <p:nvPr>
            <p:ph idx="1" type="body"/>
          </p:nvPr>
        </p:nvSpPr>
        <p:spPr>
          <a:xfrm>
            <a:off x="397039" y="1419225"/>
            <a:ext cx="3384386" cy="36879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800"/>
              </a:spcBef>
              <a:spcAft>
                <a:spcPts val="0"/>
              </a:spcAft>
              <a:buClr>
                <a:schemeClr val="dk1"/>
              </a:buClr>
              <a:buSzPts val="1414"/>
              <a:buFont typeface="Arial"/>
              <a:buNone/>
            </a:pPr>
            <a:r>
              <a:rPr b="1" lang="en-US" sz="1800">
                <a:solidFill>
                  <a:srgbClr val="1B1B1B"/>
                </a:solidFill>
                <a:highlight>
                  <a:srgbClr val="FFFFFF"/>
                </a:highlight>
                <a:latin typeface="Be Vietnam Pro"/>
                <a:ea typeface="Be Vietnam Pro"/>
                <a:cs typeface="Be Vietnam Pro"/>
                <a:sym typeface="Be Vietnam Pro"/>
              </a:rPr>
              <a:t>VD : Bao phủ nhánh </a:t>
            </a:r>
            <a:endParaRPr/>
          </a:p>
          <a:p>
            <a:pPr indent="0" lvl="0" marL="0" rtl="0" algn="l">
              <a:lnSpc>
                <a:spcPct val="100000"/>
              </a:lnSpc>
              <a:spcBef>
                <a:spcPts val="1800"/>
              </a:spcBef>
              <a:spcAft>
                <a:spcPts val="0"/>
              </a:spcAft>
              <a:buClr>
                <a:schemeClr val="dk1"/>
              </a:buClr>
              <a:buSzPts val="1414"/>
              <a:buFont typeface="Arial"/>
              <a:buNone/>
            </a:pPr>
            <a:r>
              <a:rPr lang="en-US" sz="1800">
                <a:solidFill>
                  <a:srgbClr val="1B1B1B"/>
                </a:solidFill>
                <a:highlight>
                  <a:srgbClr val="FFFFFF"/>
                </a:highlight>
                <a:latin typeface="Be Vietnam Pro"/>
                <a:ea typeface="Be Vietnam Pro"/>
                <a:cs typeface="Be Vietnam Pro"/>
                <a:sym typeface="Be Vietnam Pro"/>
              </a:rPr>
              <a:t>path 1: 1-2-3T-4-5F-7F-9-10-13</a:t>
            </a:r>
            <a:endParaRPr/>
          </a:p>
          <a:p>
            <a:pPr indent="0" lvl="0" marL="0" rtl="0" algn="l">
              <a:lnSpc>
                <a:spcPct val="100000"/>
              </a:lnSpc>
              <a:spcBef>
                <a:spcPts val="1800"/>
              </a:spcBef>
              <a:spcAft>
                <a:spcPts val="0"/>
              </a:spcAft>
              <a:buClr>
                <a:schemeClr val="dk1"/>
              </a:buClr>
              <a:buSzPts val="1414"/>
              <a:buFont typeface="Arial"/>
              <a:buNone/>
            </a:pPr>
            <a:r>
              <a:rPr lang="en-US" sz="1800">
                <a:solidFill>
                  <a:srgbClr val="1B1B1B"/>
                </a:solidFill>
                <a:highlight>
                  <a:srgbClr val="FFFFFF"/>
                </a:highlight>
                <a:latin typeface="Be Vietnam Pro"/>
                <a:ea typeface="Be Vietnam Pro"/>
                <a:cs typeface="Be Vietnam Pro"/>
                <a:sym typeface="Be Vietnam Pro"/>
              </a:rPr>
              <a:t>path 2: 1-2-3T-4-5F-7T-8-11-3T-4-5F-7F-9-10-13</a:t>
            </a:r>
            <a:endParaRPr/>
          </a:p>
          <a:p>
            <a:pPr indent="0" lvl="0" marL="0" rtl="0" algn="l">
              <a:lnSpc>
                <a:spcPct val="100000"/>
              </a:lnSpc>
              <a:spcBef>
                <a:spcPts val="1800"/>
              </a:spcBef>
              <a:spcAft>
                <a:spcPts val="0"/>
              </a:spcAft>
              <a:buClr>
                <a:schemeClr val="dk1"/>
              </a:buClr>
              <a:buSzPts val="1414"/>
              <a:buFont typeface="Arial"/>
              <a:buNone/>
            </a:pPr>
            <a:r>
              <a:rPr lang="en-US" sz="1800">
                <a:solidFill>
                  <a:srgbClr val="1B1B1B"/>
                </a:solidFill>
                <a:highlight>
                  <a:srgbClr val="FFFFFF"/>
                </a:highlight>
                <a:latin typeface="Be Vietnam Pro"/>
                <a:ea typeface="Be Vietnam Pro"/>
                <a:cs typeface="Be Vietnam Pro"/>
                <a:sym typeface="Be Vietnam Pro"/>
              </a:rPr>
              <a:t>path 3: 1-2-3T-4-5F-7T-8-11-3F-12-13</a:t>
            </a:r>
            <a:endParaRPr/>
          </a:p>
          <a:p>
            <a:pPr indent="0" lvl="0" marL="0" rtl="0" algn="l">
              <a:lnSpc>
                <a:spcPct val="100000"/>
              </a:lnSpc>
              <a:spcBef>
                <a:spcPts val="1800"/>
              </a:spcBef>
              <a:spcAft>
                <a:spcPts val="0"/>
              </a:spcAft>
              <a:buClr>
                <a:schemeClr val="dk1"/>
              </a:buClr>
              <a:buSzPts val="1414"/>
              <a:buFont typeface="Arial"/>
              <a:buNone/>
            </a:pPr>
            <a:r>
              <a:rPr lang="en-US" sz="1800">
                <a:solidFill>
                  <a:srgbClr val="1B1B1B"/>
                </a:solidFill>
                <a:highlight>
                  <a:srgbClr val="FFFFFF"/>
                </a:highlight>
                <a:latin typeface="Be Vietnam Pro"/>
                <a:ea typeface="Be Vietnam Pro"/>
                <a:cs typeface="Be Vietnam Pro"/>
                <a:sym typeface="Be Vietnam Pro"/>
              </a:rPr>
              <a:t>path 4: 1-2-3T-4-5T-6-11-3T-4-5F-7F-9-10-13</a:t>
            </a:r>
            <a:endParaRPr sz="1800">
              <a:solidFill>
                <a:srgbClr val="1B1B1B"/>
              </a:solidFill>
              <a:highlight>
                <a:srgbClr val="FFFFFF"/>
              </a:highlight>
              <a:latin typeface="Be Vietnam Pro"/>
              <a:ea typeface="Be Vietnam Pro"/>
              <a:cs typeface="Be Vietnam Pro"/>
              <a:sym typeface="Be Vietnam Pro"/>
            </a:endParaRPr>
          </a:p>
          <a:p>
            <a:pPr indent="0" lvl="0" marL="0" rtl="0" algn="l">
              <a:lnSpc>
                <a:spcPct val="100000"/>
              </a:lnSpc>
              <a:spcBef>
                <a:spcPts val="1000"/>
              </a:spcBef>
              <a:spcAft>
                <a:spcPts val="0"/>
              </a:spcAft>
              <a:buSzPts val="1800"/>
              <a:buNone/>
            </a:pPr>
            <a:r>
              <a:t/>
            </a:r>
            <a:endParaRPr sz="1800">
              <a:latin typeface="Be Vietnam Pro"/>
              <a:ea typeface="Be Vietnam Pro"/>
              <a:cs typeface="Be Vietnam Pro"/>
              <a:sym typeface="Be Vietnam Pro"/>
            </a:endParaRPr>
          </a:p>
        </p:txBody>
      </p:sp>
      <p:pic>
        <p:nvPicPr>
          <p:cNvPr id="630" name="Google Shape;630;g15c7f0fab53_0_98"/>
          <p:cNvPicPr preferRelativeResize="0"/>
          <p:nvPr/>
        </p:nvPicPr>
        <p:blipFill rotWithShape="1">
          <a:blip r:embed="rId3">
            <a:alphaModFix/>
          </a:blip>
          <a:srcRect b="0" l="0" r="0" t="0"/>
          <a:stretch/>
        </p:blipFill>
        <p:spPr>
          <a:xfrm>
            <a:off x="7984589" y="1967850"/>
            <a:ext cx="3721514" cy="4015600"/>
          </a:xfrm>
          <a:prstGeom prst="rect">
            <a:avLst/>
          </a:prstGeom>
          <a:noFill/>
          <a:ln>
            <a:noFill/>
          </a:ln>
        </p:spPr>
      </p:pic>
      <p:sp>
        <p:nvSpPr>
          <p:cNvPr id="631" name="Google Shape;631;g15c7f0fab53_0_98"/>
          <p:cNvSpPr txBox="1"/>
          <p:nvPr/>
        </p:nvSpPr>
        <p:spPr>
          <a:xfrm>
            <a:off x="4215152" y="1419225"/>
            <a:ext cx="3091345" cy="3933354"/>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rgbClr val="1B1B1B"/>
                </a:solidFill>
                <a:highlight>
                  <a:srgbClr val="FFFFFF"/>
                </a:highlight>
                <a:latin typeface="Be Vietnam Pro"/>
                <a:ea typeface="Be Vietnam Pro"/>
                <a:cs typeface="Be Vietnam Pro"/>
                <a:sym typeface="Be Vietnam Pro"/>
              </a:rPr>
              <a:t>VD : Bao phủ chi nhánh (C1)</a:t>
            </a:r>
            <a:endParaRPr b="1"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15000"/>
              </a:lnSpc>
              <a:spcBef>
                <a:spcPts val="1800"/>
              </a:spcBef>
              <a:spcAft>
                <a:spcPts val="0"/>
              </a:spcAft>
              <a:buClr>
                <a:schemeClr val="dk1"/>
              </a:buClr>
              <a:buSzPts val="1100"/>
              <a:buFont typeface="Arial"/>
              <a:buNone/>
            </a:pPr>
            <a:r>
              <a:rPr b="0" i="0" lang="en-US" sz="1800" u="none" cap="none" strike="noStrike">
                <a:solidFill>
                  <a:srgbClr val="1B1B1B"/>
                </a:solidFill>
                <a:highlight>
                  <a:srgbClr val="FFFFFF"/>
                </a:highlight>
                <a:latin typeface="Be Vietnam Pro"/>
                <a:ea typeface="Be Vietnam Pro"/>
                <a:cs typeface="Be Vietnam Pro"/>
                <a:sym typeface="Be Vietnam Pro"/>
              </a:rPr>
              <a:t>path 6: 1-2-3T-4-5T-6-11-3F-12-13</a:t>
            </a:r>
            <a:endParaRPr b="0"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15000"/>
              </a:lnSpc>
              <a:spcBef>
                <a:spcPts val="1800"/>
              </a:spcBef>
              <a:spcAft>
                <a:spcPts val="0"/>
              </a:spcAft>
              <a:buClr>
                <a:schemeClr val="dk1"/>
              </a:buClr>
              <a:buSzPts val="1100"/>
              <a:buFont typeface="Arial"/>
              <a:buNone/>
            </a:pPr>
            <a:r>
              <a:rPr b="0" i="0" lang="en-US" sz="1800" u="none" cap="none" strike="noStrike">
                <a:solidFill>
                  <a:srgbClr val="1B1B1B"/>
                </a:solidFill>
                <a:highlight>
                  <a:srgbClr val="FFFFFF"/>
                </a:highlight>
                <a:latin typeface="Be Vietnam Pro"/>
                <a:ea typeface="Be Vietnam Pro"/>
                <a:cs typeface="Be Vietnam Pro"/>
                <a:sym typeface="Be Vietnam Pro"/>
              </a:rPr>
              <a:t>path 7: 1-2-3F-12-13</a:t>
            </a:r>
            <a:endParaRPr b="0"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15000"/>
              </a:lnSpc>
              <a:spcBef>
                <a:spcPts val="1800"/>
              </a:spcBef>
              <a:spcAft>
                <a:spcPts val="0"/>
              </a:spcAft>
              <a:buClr>
                <a:schemeClr val="dk1"/>
              </a:buClr>
              <a:buSzPts val="1100"/>
              <a:buFont typeface="Arial"/>
              <a:buNone/>
            </a:pPr>
            <a:r>
              <a:rPr b="0" i="0" lang="en-US" sz="1800" u="none" cap="none" strike="noStrike">
                <a:solidFill>
                  <a:srgbClr val="1B1B1B"/>
                </a:solidFill>
                <a:highlight>
                  <a:srgbClr val="FFFFFF"/>
                </a:highlight>
                <a:latin typeface="Be Vietnam Pro"/>
                <a:ea typeface="Be Vietnam Pro"/>
                <a:cs typeface="Be Vietnam Pro"/>
                <a:sym typeface="Be Vietnam Pro"/>
              </a:rPr>
              <a:t>path 8: 1-2-3T-4-5F-7T-8-11-3T-4-5F-7T-8-11-3F-12-13</a:t>
            </a:r>
            <a:endParaRPr b="0"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1B1B1B"/>
              </a:solidFill>
              <a:latin typeface="Be Vietnam Pro"/>
              <a:ea typeface="Be Vietnam Pro"/>
              <a:cs typeface="Be Vietnam Pro"/>
              <a:sym typeface="Be Vietnam Pro"/>
            </a:endParaRPr>
          </a:p>
        </p:txBody>
      </p:sp>
      <p:sp>
        <p:nvSpPr>
          <p:cNvPr id="632" name="Google Shape;632;g15c7f0fab53_0_98"/>
          <p:cNvSpPr txBox="1"/>
          <p:nvPr/>
        </p:nvSpPr>
        <p:spPr>
          <a:xfrm>
            <a:off x="286025" y="4985705"/>
            <a:ext cx="7587550" cy="1560397"/>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800"/>
              </a:spcBef>
              <a:spcAft>
                <a:spcPts val="0"/>
              </a:spcAft>
              <a:buClr>
                <a:schemeClr val="dk1"/>
              </a:buClr>
              <a:buSzPts val="1100"/>
              <a:buFont typeface="Arial"/>
              <a:buNone/>
            </a:pPr>
            <a:r>
              <a:rPr b="1" i="0" lang="en-US" sz="1800" u="none" cap="none" strike="noStrike">
                <a:solidFill>
                  <a:srgbClr val="1B1B1B"/>
                </a:solidFill>
                <a:highlight>
                  <a:srgbClr val="FFFFFF"/>
                </a:highlight>
                <a:latin typeface="Be Vietnam Pro"/>
                <a:ea typeface="Be Vietnam Pro"/>
                <a:cs typeface="Be Vietnam Pro"/>
                <a:sym typeface="Be Vietnam Pro"/>
              </a:rPr>
              <a:t>Bao phủ câu lệnh (C0)</a:t>
            </a:r>
            <a:endParaRPr b="1"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15000"/>
              </a:lnSpc>
              <a:spcBef>
                <a:spcPts val="1800"/>
              </a:spcBef>
              <a:spcAft>
                <a:spcPts val="0"/>
              </a:spcAft>
              <a:buClr>
                <a:schemeClr val="dk1"/>
              </a:buClr>
              <a:buSzPts val="1100"/>
              <a:buFont typeface="Arial"/>
              <a:buNone/>
            </a:pPr>
            <a:r>
              <a:rPr b="0" i="0" lang="en-US" sz="1800" u="none" cap="none" strike="noStrike">
                <a:solidFill>
                  <a:srgbClr val="1B1B1B"/>
                </a:solidFill>
                <a:highlight>
                  <a:srgbClr val="FFFFFF"/>
                </a:highlight>
                <a:latin typeface="Be Vietnam Pro"/>
                <a:ea typeface="Be Vietnam Pro"/>
                <a:cs typeface="Be Vietnam Pro"/>
                <a:sym typeface="Be Vietnam Pro"/>
              </a:rPr>
              <a:t>path 5: 1-2-3T-4-5T-6-11-3T-4-5F-7T-8-11-3F-12-13</a:t>
            </a:r>
            <a:endParaRPr b="0" i="0" sz="1800" u="none" cap="none" strike="noStrike">
              <a:solidFill>
                <a:srgbClr val="1B1B1B"/>
              </a:solidFill>
              <a:highlight>
                <a:srgbClr val="FFFFFF"/>
              </a:highlight>
              <a:latin typeface="Be Vietnam Pro"/>
              <a:ea typeface="Be Vietnam Pro"/>
              <a:cs typeface="Be Vietnam Pro"/>
              <a:sym typeface="Be Vietnam Pr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Be Vietnam Pro"/>
              <a:ea typeface="Be Vietnam Pro"/>
              <a:cs typeface="Be Vietnam Pro"/>
              <a:sym typeface="Be Vietnam Pro"/>
            </a:endParaRPr>
          </a:p>
        </p:txBody>
      </p:sp>
      <p:grpSp>
        <p:nvGrpSpPr>
          <p:cNvPr id="633" name="Google Shape;633;g15c7f0fab53_0_98"/>
          <p:cNvGrpSpPr/>
          <p:nvPr/>
        </p:nvGrpSpPr>
        <p:grpSpPr>
          <a:xfrm>
            <a:off x="6096000" y="165201"/>
            <a:ext cx="6216956" cy="708298"/>
            <a:chOff x="642754" y="4151657"/>
            <a:chExt cx="5540174" cy="1060658"/>
          </a:xfrm>
        </p:grpSpPr>
        <p:grpSp>
          <p:nvGrpSpPr>
            <p:cNvPr id="634" name="Google Shape;634;g15c7f0fab53_0_98"/>
            <p:cNvGrpSpPr/>
            <p:nvPr/>
          </p:nvGrpSpPr>
          <p:grpSpPr>
            <a:xfrm>
              <a:off x="642754" y="4223274"/>
              <a:ext cx="5289581" cy="989041"/>
              <a:chOff x="508001" y="4223274"/>
              <a:chExt cx="5289581" cy="989041"/>
            </a:xfrm>
          </p:grpSpPr>
          <p:sp>
            <p:nvSpPr>
              <p:cNvPr id="635" name="Google Shape;635;g15c7f0fab53_0_98"/>
              <p:cNvSpPr/>
              <p:nvPr/>
            </p:nvSpPr>
            <p:spPr>
              <a:xfrm>
                <a:off x="508001" y="4223274"/>
                <a:ext cx="5289581"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36" name="Google Shape;636;g15c7f0fab53_0_98"/>
              <p:cNvSpPr/>
              <p:nvPr/>
            </p:nvSpPr>
            <p:spPr>
              <a:xfrm>
                <a:off x="5666133" y="4223274"/>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37" name="Google Shape;637;g15c7f0fab53_0_98"/>
            <p:cNvGrpSpPr/>
            <p:nvPr/>
          </p:nvGrpSpPr>
          <p:grpSpPr>
            <a:xfrm>
              <a:off x="842194" y="4151657"/>
              <a:ext cx="894759" cy="905639"/>
              <a:chOff x="707441" y="4151657"/>
              <a:chExt cx="894759" cy="905639"/>
            </a:xfrm>
          </p:grpSpPr>
          <p:sp>
            <p:nvSpPr>
              <p:cNvPr id="638" name="Google Shape;638;g15c7f0fab53_0_98"/>
              <p:cNvSpPr/>
              <p:nvPr/>
            </p:nvSpPr>
            <p:spPr>
              <a:xfrm>
                <a:off x="778151" y="4151657"/>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rgbClr val="5481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III</a:t>
                </a:r>
                <a:endParaRPr b="1" i="0" sz="3200" u="none" cap="none" strike="noStrike">
                  <a:solidFill>
                    <a:schemeClr val="dk1"/>
                  </a:solidFill>
                  <a:latin typeface="Calibri"/>
                  <a:ea typeface="Calibri"/>
                  <a:cs typeface="Calibri"/>
                  <a:sym typeface="Calibri"/>
                </a:endParaRPr>
              </a:p>
            </p:txBody>
          </p:sp>
          <p:sp>
            <p:nvSpPr>
              <p:cNvPr id="639" name="Google Shape;639;g15c7f0fab53_0_98"/>
              <p:cNvSpPr/>
              <p:nvPr/>
            </p:nvSpPr>
            <p:spPr>
              <a:xfrm>
                <a:off x="707441" y="4151657"/>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7B7B7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40" name="Google Shape;640;g15c7f0fab53_0_98"/>
            <p:cNvSpPr txBox="1"/>
            <p:nvPr/>
          </p:nvSpPr>
          <p:spPr>
            <a:xfrm>
              <a:off x="2007103" y="4465012"/>
              <a:ext cx="4175825" cy="531147"/>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CÁC KỸ THUẬT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grpSp>
        <p:nvGrpSpPr>
          <p:cNvPr id="645" name="Google Shape;645;p31"/>
          <p:cNvGrpSpPr/>
          <p:nvPr/>
        </p:nvGrpSpPr>
        <p:grpSpPr>
          <a:xfrm>
            <a:off x="641686" y="1403210"/>
            <a:ext cx="4570583" cy="2156707"/>
            <a:chOff x="641685" y="1403209"/>
            <a:chExt cx="4570582" cy="2156706"/>
          </a:xfrm>
        </p:grpSpPr>
        <p:sp>
          <p:nvSpPr>
            <p:cNvPr id="646" name="Google Shape;646;p31"/>
            <p:cNvSpPr/>
            <p:nvPr/>
          </p:nvSpPr>
          <p:spPr>
            <a:xfrm>
              <a:off x="641685" y="1403209"/>
              <a:ext cx="4570582" cy="2156706"/>
            </a:xfrm>
            <a:prstGeom prst="roundRect">
              <a:avLst>
                <a:gd fmla="val 12000" name="adj"/>
              </a:avLst>
            </a:prstGeom>
            <a:solidFill>
              <a:schemeClr val="lt1"/>
            </a:solidFill>
            <a:ln>
              <a:noFill/>
            </a:ln>
            <a:effectLst>
              <a:outerShdw blurRad="711200" sx="102000" rotWithShape="0" algn="tl" dir="2700000" dist="254000" sy="102000">
                <a:srgbClr val="000000">
                  <a:alpha val="901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647" name="Google Shape;647;p31"/>
            <p:cNvSpPr txBox="1"/>
            <p:nvPr/>
          </p:nvSpPr>
          <p:spPr>
            <a:xfrm>
              <a:off x="2545319" y="1913223"/>
              <a:ext cx="991296"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3A3C87"/>
                  </a:solidFill>
                  <a:latin typeface="Be Vietnam Pro"/>
                  <a:ea typeface="Be Vietnam Pro"/>
                  <a:cs typeface="Be Vietnam Pro"/>
                  <a:sym typeface="Be Vietnam Pro"/>
                </a:rPr>
                <a:t>01</a:t>
              </a:r>
              <a:endParaRPr b="0" i="0" sz="4400" u="none" cap="none" strike="noStrike">
                <a:solidFill>
                  <a:srgbClr val="000000"/>
                </a:solidFill>
                <a:latin typeface="Be Vietnam Pro"/>
                <a:ea typeface="Be Vietnam Pro"/>
                <a:cs typeface="Be Vietnam Pro"/>
                <a:sym typeface="Be Vietnam Pro"/>
              </a:endParaRPr>
            </a:p>
          </p:txBody>
        </p:sp>
        <p:sp>
          <p:nvSpPr>
            <p:cNvPr id="648" name="Google Shape;648;p31"/>
            <p:cNvSpPr txBox="1"/>
            <p:nvPr/>
          </p:nvSpPr>
          <p:spPr>
            <a:xfrm>
              <a:off x="1386110" y="2902648"/>
              <a:ext cx="3309713"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600"/>
                <a:buFont typeface="Arial"/>
                <a:buNone/>
              </a:pPr>
              <a:r>
                <a:rPr b="0" i="0" lang="en-US" sz="1800" u="none" cap="none" strike="noStrike">
                  <a:solidFill>
                    <a:schemeClr val="dk1"/>
                  </a:solidFill>
                  <a:latin typeface="Be Vietnam Pro"/>
                  <a:ea typeface="Be Vietnam Pro"/>
                  <a:cs typeface="Be Vietnam Pro"/>
                  <a:sym typeface="Be Vietnam Pro"/>
                </a:rPr>
                <a:t>KẾ HOẠCH KIỂM THỬ LÀ GÌ ?</a:t>
              </a:r>
              <a:endParaRPr b="0" i="0" sz="1800" u="none" cap="none" strike="noStrike">
                <a:solidFill>
                  <a:schemeClr val="dk1"/>
                </a:solidFill>
                <a:latin typeface="Be Vietnam Pro"/>
                <a:ea typeface="Be Vietnam Pro"/>
                <a:cs typeface="Be Vietnam Pro"/>
                <a:sym typeface="Be Vietnam Pro"/>
              </a:endParaRPr>
            </a:p>
          </p:txBody>
        </p:sp>
      </p:grpSp>
      <p:grpSp>
        <p:nvGrpSpPr>
          <p:cNvPr id="649" name="Google Shape;649;p31"/>
          <p:cNvGrpSpPr/>
          <p:nvPr/>
        </p:nvGrpSpPr>
        <p:grpSpPr>
          <a:xfrm>
            <a:off x="641686" y="3779902"/>
            <a:ext cx="4570583" cy="2156707"/>
            <a:chOff x="641685" y="3779900"/>
            <a:chExt cx="4570582" cy="2156706"/>
          </a:xfrm>
        </p:grpSpPr>
        <p:sp>
          <p:nvSpPr>
            <p:cNvPr id="650" name="Google Shape;650;p31"/>
            <p:cNvSpPr/>
            <p:nvPr/>
          </p:nvSpPr>
          <p:spPr>
            <a:xfrm>
              <a:off x="641685" y="3779900"/>
              <a:ext cx="4570582" cy="2156706"/>
            </a:xfrm>
            <a:prstGeom prst="roundRect">
              <a:avLst>
                <a:gd fmla="val 12000" name="adj"/>
              </a:avLst>
            </a:prstGeom>
            <a:solidFill>
              <a:schemeClr val="lt1"/>
            </a:solidFill>
            <a:ln>
              <a:noFill/>
            </a:ln>
            <a:effectLst>
              <a:outerShdw blurRad="711200" sx="102000" rotWithShape="0" algn="tl" dir="2700000" dist="254000" sy="102000">
                <a:srgbClr val="000000">
                  <a:alpha val="901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651" name="Google Shape;651;p31"/>
            <p:cNvSpPr txBox="1"/>
            <p:nvPr/>
          </p:nvSpPr>
          <p:spPr>
            <a:xfrm>
              <a:off x="2545319" y="4349766"/>
              <a:ext cx="991296"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3A3C87"/>
                  </a:solidFill>
                  <a:latin typeface="Be Vietnam Pro"/>
                  <a:ea typeface="Be Vietnam Pro"/>
                  <a:cs typeface="Be Vietnam Pro"/>
                  <a:sym typeface="Be Vietnam Pro"/>
                </a:rPr>
                <a:t>02</a:t>
              </a:r>
              <a:endParaRPr b="0" i="0" sz="1400" u="none" cap="none" strike="noStrike">
                <a:solidFill>
                  <a:srgbClr val="000000"/>
                </a:solidFill>
                <a:latin typeface="Be Vietnam Pro"/>
                <a:ea typeface="Be Vietnam Pro"/>
                <a:cs typeface="Be Vietnam Pro"/>
                <a:sym typeface="Be Vietnam Pro"/>
              </a:endParaRPr>
            </a:p>
          </p:txBody>
        </p:sp>
        <p:sp>
          <p:nvSpPr>
            <p:cNvPr id="652" name="Google Shape;652;p31"/>
            <p:cNvSpPr txBox="1"/>
            <p:nvPr/>
          </p:nvSpPr>
          <p:spPr>
            <a:xfrm>
              <a:off x="1386110" y="5279339"/>
              <a:ext cx="3446380"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600"/>
                <a:buFont typeface="Arial"/>
                <a:buNone/>
              </a:pPr>
              <a:r>
                <a:rPr b="0" i="0" lang="en-US" sz="1800" u="none" cap="none" strike="noStrike">
                  <a:solidFill>
                    <a:schemeClr val="dk1"/>
                  </a:solidFill>
                  <a:latin typeface="Be Vietnam Pro"/>
                  <a:ea typeface="Be Vietnam Pro"/>
                  <a:cs typeface="Be Vietnam Pro"/>
                  <a:sym typeface="Be Vietnam Pro"/>
                </a:rPr>
                <a:t>CHIẾN LƯỢC KIỂM THỬ LÀ GÌ ?</a:t>
              </a:r>
              <a:endParaRPr b="0" i="0" sz="1800" u="none" cap="none" strike="noStrike">
                <a:solidFill>
                  <a:schemeClr val="dk1"/>
                </a:solidFill>
                <a:latin typeface="Be Vietnam Pro"/>
                <a:ea typeface="Be Vietnam Pro"/>
                <a:cs typeface="Be Vietnam Pro"/>
                <a:sym typeface="Be Vietnam Pro"/>
              </a:endParaRPr>
            </a:p>
          </p:txBody>
        </p:sp>
      </p:grpSp>
      <p:pic>
        <p:nvPicPr>
          <p:cNvPr id="653" name="Google Shape;653;p31"/>
          <p:cNvPicPr preferRelativeResize="0"/>
          <p:nvPr/>
        </p:nvPicPr>
        <p:blipFill rotWithShape="1">
          <a:blip r:embed="rId3">
            <a:alphaModFix/>
          </a:blip>
          <a:srcRect b="0" l="0" r="0" t="0"/>
          <a:stretch/>
        </p:blipFill>
        <p:spPr>
          <a:xfrm>
            <a:off x="5533584" y="1467269"/>
            <a:ext cx="2892301" cy="4338451"/>
          </a:xfrm>
          <a:custGeom>
            <a:rect b="b" l="l" r="r" t="t"/>
            <a:pathLst>
              <a:path extrusionOk="0" h="5419176" w="4878982">
                <a:moveTo>
                  <a:pt x="0" y="0"/>
                </a:moveTo>
                <a:lnTo>
                  <a:pt x="4878982" y="0"/>
                </a:lnTo>
                <a:lnTo>
                  <a:pt x="4878982" y="5419176"/>
                </a:lnTo>
                <a:lnTo>
                  <a:pt x="0" y="5419176"/>
                </a:lnTo>
                <a:close/>
              </a:path>
            </a:pathLst>
          </a:custGeom>
          <a:noFill/>
          <a:ln>
            <a:noFill/>
          </a:ln>
          <a:effectLst>
            <a:outerShdw blurRad="1270000" rotWithShape="0" algn="tr" dir="8100000" dist="38100">
              <a:srgbClr val="000000">
                <a:alpha val="14117"/>
              </a:srgbClr>
            </a:outerShdw>
          </a:effectLst>
        </p:spPr>
      </p:pic>
      <p:pic>
        <p:nvPicPr>
          <p:cNvPr id="654" name="Google Shape;654;p31"/>
          <p:cNvPicPr preferRelativeResize="0"/>
          <p:nvPr/>
        </p:nvPicPr>
        <p:blipFill rotWithShape="1">
          <a:blip r:embed="rId4">
            <a:alphaModFix/>
          </a:blip>
          <a:srcRect b="0" l="0" r="0" t="0"/>
          <a:stretch/>
        </p:blipFill>
        <p:spPr>
          <a:xfrm>
            <a:off x="8806661" y="1470901"/>
            <a:ext cx="2893264" cy="4334819"/>
          </a:xfrm>
          <a:custGeom>
            <a:rect b="b" l="l" r="r" t="t"/>
            <a:pathLst>
              <a:path extrusionOk="0" h="5419176" w="4878982">
                <a:moveTo>
                  <a:pt x="0" y="0"/>
                </a:moveTo>
                <a:lnTo>
                  <a:pt x="4878982" y="0"/>
                </a:lnTo>
                <a:lnTo>
                  <a:pt x="4878982" y="5419176"/>
                </a:lnTo>
                <a:lnTo>
                  <a:pt x="0" y="5419176"/>
                </a:lnTo>
                <a:close/>
              </a:path>
            </a:pathLst>
          </a:custGeom>
          <a:noFill/>
          <a:ln>
            <a:noFill/>
          </a:ln>
          <a:effectLst>
            <a:outerShdw blurRad="1270000" rotWithShape="0" algn="tr" dir="8100000" dist="38100">
              <a:srgbClr val="000000">
                <a:alpha val="14117"/>
              </a:srgbClr>
            </a:outerShdw>
          </a:effectLst>
        </p:spPr>
      </p:pic>
      <p:grpSp>
        <p:nvGrpSpPr>
          <p:cNvPr id="655" name="Google Shape;655;p31"/>
          <p:cNvGrpSpPr/>
          <p:nvPr/>
        </p:nvGrpSpPr>
        <p:grpSpPr>
          <a:xfrm>
            <a:off x="6096000" y="116541"/>
            <a:ext cx="5935752" cy="745847"/>
            <a:chOff x="642754" y="5327442"/>
            <a:chExt cx="5557932" cy="1115169"/>
          </a:xfrm>
        </p:grpSpPr>
        <p:grpSp>
          <p:nvGrpSpPr>
            <p:cNvPr id="656" name="Google Shape;656;p31"/>
            <p:cNvGrpSpPr/>
            <p:nvPr/>
          </p:nvGrpSpPr>
          <p:grpSpPr>
            <a:xfrm>
              <a:off x="642754" y="5399059"/>
              <a:ext cx="5557932" cy="989041"/>
              <a:chOff x="508001" y="5399059"/>
              <a:chExt cx="5557932" cy="989041"/>
            </a:xfrm>
          </p:grpSpPr>
          <p:sp>
            <p:nvSpPr>
              <p:cNvPr id="657" name="Google Shape;657;p31"/>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58" name="Google Shape;658;p31"/>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59" name="Google Shape;659;p31"/>
            <p:cNvGrpSpPr/>
            <p:nvPr/>
          </p:nvGrpSpPr>
          <p:grpSpPr>
            <a:xfrm>
              <a:off x="842194" y="5327442"/>
              <a:ext cx="894759" cy="905639"/>
              <a:chOff x="707441" y="5327442"/>
              <a:chExt cx="894759" cy="905639"/>
            </a:xfrm>
          </p:grpSpPr>
          <p:sp>
            <p:nvSpPr>
              <p:cNvPr id="660" name="Google Shape;660;p31"/>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661" name="Google Shape;661;p31"/>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62" name="Google Shape;662;p31"/>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grpSp>
        <p:nvGrpSpPr>
          <p:cNvPr id="667" name="Google Shape;667;p24"/>
          <p:cNvGrpSpPr/>
          <p:nvPr/>
        </p:nvGrpSpPr>
        <p:grpSpPr>
          <a:xfrm>
            <a:off x="836338" y="1511178"/>
            <a:ext cx="6866703" cy="1555177"/>
            <a:chOff x="836337" y="1511177"/>
            <a:chExt cx="6866703" cy="1555177"/>
          </a:xfrm>
        </p:grpSpPr>
        <p:sp>
          <p:nvSpPr>
            <p:cNvPr id="668" name="Google Shape;668;p24"/>
            <p:cNvSpPr/>
            <p:nvPr/>
          </p:nvSpPr>
          <p:spPr>
            <a:xfrm>
              <a:off x="1613925" y="1823076"/>
              <a:ext cx="6089115" cy="960484"/>
            </a:xfrm>
            <a:prstGeom prst="parallelogram">
              <a:avLst>
                <a:gd fmla="val 25000" name="adj"/>
              </a:avLst>
            </a:prstGeom>
            <a:gradFill>
              <a:gsLst>
                <a:gs pos="0">
                  <a:srgbClr val="3A3C87">
                    <a:alpha val="54117"/>
                  </a:srgbClr>
                </a:gs>
                <a:gs pos="100000">
                  <a:srgbClr val="3A3C87"/>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69" name="Google Shape;669;p24"/>
            <p:cNvSpPr/>
            <p:nvPr/>
          </p:nvSpPr>
          <p:spPr>
            <a:xfrm>
              <a:off x="836337" y="1511177"/>
              <a:ext cx="1555177" cy="1555177"/>
            </a:xfrm>
            <a:prstGeom prst="ellipse">
              <a:avLst/>
            </a:prstGeom>
            <a:solidFill>
              <a:srgbClr val="3A3C8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70" name="Google Shape;670;p24"/>
            <p:cNvSpPr txBox="1"/>
            <p:nvPr/>
          </p:nvSpPr>
          <p:spPr>
            <a:xfrm>
              <a:off x="2947801" y="2108320"/>
              <a:ext cx="4272147"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Arial"/>
                  <a:ea typeface="Arial"/>
                  <a:cs typeface="Arial"/>
                  <a:sym typeface="Arial"/>
                </a:rPr>
                <a:t>KẾ HOẠCH KIỂM THỬ LÀ GÌ ?</a:t>
              </a:r>
              <a:endParaRPr b="1" i="0" sz="2000" u="none" cap="none" strike="noStrike">
                <a:solidFill>
                  <a:schemeClr val="lt1"/>
                </a:solidFill>
                <a:latin typeface="Arial"/>
                <a:ea typeface="Arial"/>
                <a:cs typeface="Arial"/>
                <a:sym typeface="Arial"/>
              </a:endParaRPr>
            </a:p>
          </p:txBody>
        </p:sp>
      </p:grpSp>
      <p:sp>
        <p:nvSpPr>
          <p:cNvPr id="671" name="Google Shape;671;p24"/>
          <p:cNvSpPr txBox="1"/>
          <p:nvPr/>
        </p:nvSpPr>
        <p:spPr>
          <a:xfrm>
            <a:off x="438051" y="1894635"/>
            <a:ext cx="2351750" cy="769441"/>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FFFFFF"/>
                </a:solidFill>
                <a:latin typeface="Arial Black"/>
                <a:ea typeface="Arial Black"/>
                <a:cs typeface="Arial Black"/>
                <a:sym typeface="Arial Black"/>
              </a:rPr>
              <a:t>01</a:t>
            </a:r>
            <a:endParaRPr b="1" i="0" sz="4400" u="none" cap="none" strike="noStrike">
              <a:solidFill>
                <a:srgbClr val="FFFFFF"/>
              </a:solidFill>
              <a:latin typeface="Arial Black"/>
              <a:ea typeface="Arial Black"/>
              <a:cs typeface="Arial Black"/>
              <a:sym typeface="Arial Black"/>
            </a:endParaRPr>
          </a:p>
        </p:txBody>
      </p:sp>
      <p:sp>
        <p:nvSpPr>
          <p:cNvPr id="672" name="Google Shape;672;p24"/>
          <p:cNvSpPr txBox="1"/>
          <p:nvPr/>
        </p:nvSpPr>
        <p:spPr>
          <a:xfrm>
            <a:off x="836338" y="3449812"/>
            <a:ext cx="10488887" cy="253915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Kế hoạch kiểm thử là một tài liệu mô tả các hành động khác nhau sẽ được thực hiện trong quá trình kiểm thử - từ chiến lược phát triển đến các tiêu chí phát hiện lỗi một cách chi tiết. </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Tài liệu này cũng chỉ rõ các phương pháp để giải quyết bất kỳ rủi ro nào được phát hiện.</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Nó xác định cách tiếp cận, nội dung và lịch trình thời gian của các hoạt động kiểm thử đã được lên kế hoạch.</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Về cơ bản, nó ghi lại toàn bộ quá trình lập kế hoạch kiểm thử cần được thực hiện trên sản phẩm.</a:t>
            </a:r>
            <a:endParaRPr b="0" i="0" sz="1400" u="none" cap="none" strike="noStrike">
              <a:solidFill>
                <a:srgbClr val="000000"/>
              </a:solidFill>
              <a:latin typeface="Arial"/>
              <a:ea typeface="Arial"/>
              <a:cs typeface="Arial"/>
              <a:sym typeface="Arial"/>
            </a:endParaRPr>
          </a:p>
        </p:txBody>
      </p:sp>
      <p:grpSp>
        <p:nvGrpSpPr>
          <p:cNvPr id="673" name="Google Shape;673;p24"/>
          <p:cNvGrpSpPr/>
          <p:nvPr/>
        </p:nvGrpSpPr>
        <p:grpSpPr>
          <a:xfrm>
            <a:off x="6096000" y="116541"/>
            <a:ext cx="5935752" cy="745847"/>
            <a:chOff x="642754" y="5327442"/>
            <a:chExt cx="5557932" cy="1115169"/>
          </a:xfrm>
        </p:grpSpPr>
        <p:grpSp>
          <p:nvGrpSpPr>
            <p:cNvPr id="674" name="Google Shape;674;p24"/>
            <p:cNvGrpSpPr/>
            <p:nvPr/>
          </p:nvGrpSpPr>
          <p:grpSpPr>
            <a:xfrm>
              <a:off x="642754" y="5399059"/>
              <a:ext cx="5557932" cy="989041"/>
              <a:chOff x="508001" y="5399059"/>
              <a:chExt cx="5557932" cy="989041"/>
            </a:xfrm>
          </p:grpSpPr>
          <p:sp>
            <p:nvSpPr>
              <p:cNvPr id="675" name="Google Shape;675;p24"/>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76" name="Google Shape;676;p24"/>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77" name="Google Shape;677;p24"/>
            <p:cNvGrpSpPr/>
            <p:nvPr/>
          </p:nvGrpSpPr>
          <p:grpSpPr>
            <a:xfrm>
              <a:off x="842194" y="5327442"/>
              <a:ext cx="894759" cy="905639"/>
              <a:chOff x="707441" y="5327442"/>
              <a:chExt cx="894759" cy="905639"/>
            </a:xfrm>
          </p:grpSpPr>
          <p:sp>
            <p:nvSpPr>
              <p:cNvPr id="678" name="Google Shape;678;p24"/>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679" name="Google Shape;679;p24"/>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80" name="Google Shape;680;p24"/>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75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6"/>
          <p:cNvSpPr/>
          <p:nvPr/>
        </p:nvSpPr>
        <p:spPr>
          <a:xfrm>
            <a:off x="1613926" y="1793827"/>
            <a:ext cx="5851121" cy="960484"/>
          </a:xfrm>
          <a:prstGeom prst="parallelogram">
            <a:avLst>
              <a:gd fmla="val 25000" name="adj"/>
            </a:avLst>
          </a:prstGeom>
          <a:gradFill>
            <a:gsLst>
              <a:gs pos="0">
                <a:srgbClr val="FDCE06">
                  <a:alpha val="54117"/>
                </a:srgbClr>
              </a:gs>
              <a:gs pos="100000">
                <a:srgbClr val="FDCE06"/>
              </a:gs>
            </a:gsLst>
            <a:lin ang="27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6" name="Google Shape;686;p6"/>
          <p:cNvSpPr/>
          <p:nvPr/>
        </p:nvSpPr>
        <p:spPr>
          <a:xfrm>
            <a:off x="801984" y="1496481"/>
            <a:ext cx="1555177" cy="1555177"/>
          </a:xfrm>
          <a:prstGeom prst="ellipse">
            <a:avLst/>
          </a:prstGeom>
          <a:solidFill>
            <a:srgbClr val="FDCE0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87" name="Google Shape;687;p6"/>
          <p:cNvSpPr txBox="1"/>
          <p:nvPr/>
        </p:nvSpPr>
        <p:spPr>
          <a:xfrm>
            <a:off x="438051" y="1894635"/>
            <a:ext cx="2351750" cy="769441"/>
          </a:xfrm>
          <a:prstGeom prst="rect">
            <a:avLst/>
          </a:prstGeom>
          <a:noFill/>
          <a:ln>
            <a:noFill/>
          </a:ln>
        </p:spPr>
        <p:txBody>
          <a:bodyPr anchorCtr="0" anchor="t" bIns="45700" lIns="0" spcFirstLastPara="1" rIns="0"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chemeClr val="dk1"/>
                </a:solidFill>
                <a:latin typeface="Arial Black"/>
                <a:ea typeface="Arial Black"/>
                <a:cs typeface="Arial Black"/>
                <a:sym typeface="Arial Black"/>
              </a:rPr>
              <a:t>02</a:t>
            </a:r>
            <a:endParaRPr b="1" i="0" sz="4400" u="none" cap="none" strike="noStrike">
              <a:solidFill>
                <a:schemeClr val="dk1"/>
              </a:solidFill>
              <a:latin typeface="Arial Black"/>
              <a:ea typeface="Arial Black"/>
              <a:cs typeface="Arial Black"/>
              <a:sym typeface="Arial Black"/>
            </a:endParaRPr>
          </a:p>
        </p:txBody>
      </p:sp>
      <p:sp>
        <p:nvSpPr>
          <p:cNvPr id="688" name="Google Shape;688;p6"/>
          <p:cNvSpPr txBox="1"/>
          <p:nvPr/>
        </p:nvSpPr>
        <p:spPr>
          <a:xfrm>
            <a:off x="2721094" y="2074034"/>
            <a:ext cx="4272147" cy="40006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CHIẾN LƯỢC KIỂM THỬ LÀ GÌ ?</a:t>
            </a:r>
            <a:endParaRPr b="1" i="0" sz="2000" u="none" cap="none" strike="noStrike">
              <a:solidFill>
                <a:schemeClr val="dk1"/>
              </a:solidFill>
              <a:latin typeface="Arial"/>
              <a:ea typeface="Arial"/>
              <a:cs typeface="Arial"/>
              <a:sym typeface="Arial"/>
            </a:endParaRPr>
          </a:p>
        </p:txBody>
      </p:sp>
      <p:sp>
        <p:nvSpPr>
          <p:cNvPr id="689" name="Google Shape;689;p6"/>
          <p:cNvSpPr txBox="1"/>
          <p:nvPr/>
        </p:nvSpPr>
        <p:spPr>
          <a:xfrm>
            <a:off x="885824" y="3631107"/>
            <a:ext cx="10848976" cy="226215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Chiến lược thử nghiệm là một tập hợp các chỉ dẫn, hướng dẫn hoặc nguyên tắc xác định thiết kế kiểm thử và cách thức tiến hành quá trình kiểm thử.</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Nó thiết lập các tiêu chuẩn quy trinh kiểm thử. </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Các tài liệu như kế hoạch kiểm thử lấy nội dung của chúng từ tài liệu chiến lược kiểm thử.</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Nó có thể bao gồm các nguyên tắc được sử dụng để trình bày chi tiết về phạm vi và tổng quan của quá trình kiểm thử, phương pháp kiểm thử, thông số kỹ thuật cho môi trường kiểm thử,…</a:t>
            </a:r>
            <a:endParaRPr b="0" i="0" sz="1400" u="none" cap="none" strike="noStrike">
              <a:solidFill>
                <a:srgbClr val="000000"/>
              </a:solidFill>
              <a:latin typeface="Arial"/>
              <a:ea typeface="Arial"/>
              <a:cs typeface="Arial"/>
              <a:sym typeface="Arial"/>
            </a:endParaRPr>
          </a:p>
        </p:txBody>
      </p:sp>
      <p:grpSp>
        <p:nvGrpSpPr>
          <p:cNvPr id="690" name="Google Shape;690;p6"/>
          <p:cNvGrpSpPr/>
          <p:nvPr/>
        </p:nvGrpSpPr>
        <p:grpSpPr>
          <a:xfrm>
            <a:off x="6096000" y="116541"/>
            <a:ext cx="5935752" cy="745847"/>
            <a:chOff x="642754" y="5327442"/>
            <a:chExt cx="5557932" cy="1115169"/>
          </a:xfrm>
        </p:grpSpPr>
        <p:grpSp>
          <p:nvGrpSpPr>
            <p:cNvPr id="691" name="Google Shape;691;p6"/>
            <p:cNvGrpSpPr/>
            <p:nvPr/>
          </p:nvGrpSpPr>
          <p:grpSpPr>
            <a:xfrm>
              <a:off x="642754" y="5399059"/>
              <a:ext cx="5557932" cy="989041"/>
              <a:chOff x="508001" y="5399059"/>
              <a:chExt cx="5557932" cy="989041"/>
            </a:xfrm>
          </p:grpSpPr>
          <p:sp>
            <p:nvSpPr>
              <p:cNvPr id="692" name="Google Shape;692;p6"/>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693" name="Google Shape;693;p6"/>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694" name="Google Shape;694;p6"/>
            <p:cNvGrpSpPr/>
            <p:nvPr/>
          </p:nvGrpSpPr>
          <p:grpSpPr>
            <a:xfrm>
              <a:off x="842194" y="5327442"/>
              <a:ext cx="894759" cy="905639"/>
              <a:chOff x="707441" y="5327442"/>
              <a:chExt cx="894759" cy="905639"/>
            </a:xfrm>
          </p:grpSpPr>
          <p:sp>
            <p:nvSpPr>
              <p:cNvPr id="695" name="Google Shape;695;p6"/>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696" name="Google Shape;696;p6"/>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697" name="Google Shape;697;p6"/>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pic>
        <p:nvPicPr>
          <p:cNvPr id="702" name="Google Shape;702;p8"/>
          <p:cNvPicPr preferRelativeResize="0"/>
          <p:nvPr/>
        </p:nvPicPr>
        <p:blipFill rotWithShape="1">
          <a:blip r:embed="rId3">
            <a:alphaModFix/>
          </a:blip>
          <a:srcRect b="9039" l="-1324" r="0" t="0"/>
          <a:stretch/>
        </p:blipFill>
        <p:spPr>
          <a:xfrm>
            <a:off x="2219325" y="2369752"/>
            <a:ext cx="7653337" cy="3354773"/>
          </a:xfrm>
          <a:prstGeom prst="rect">
            <a:avLst/>
          </a:prstGeom>
          <a:noFill/>
          <a:ln>
            <a:noFill/>
          </a:ln>
        </p:spPr>
      </p:pic>
      <p:sp>
        <p:nvSpPr>
          <p:cNvPr id="703" name="Google Shape;703;p8"/>
          <p:cNvSpPr txBox="1"/>
          <p:nvPr/>
        </p:nvSpPr>
        <p:spPr>
          <a:xfrm>
            <a:off x="1304925" y="1630318"/>
            <a:ext cx="10125075"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400" u="none" cap="none" strike="noStrike">
                <a:solidFill>
                  <a:srgbClr val="000000"/>
                </a:solidFill>
                <a:latin typeface="Be Vietnam Pro"/>
                <a:ea typeface="Be Vietnam Pro"/>
                <a:cs typeface="Be Vietnam Pro"/>
                <a:sym typeface="Be Vietnam Pro"/>
              </a:rPr>
              <a:t>Sự khác biệt giữa kế hoạch thử nghiệm và chiến lược thử nghiệm</a:t>
            </a:r>
            <a:endParaRPr b="0" i="0" sz="2400" u="none" cap="none" strike="noStrike">
              <a:solidFill>
                <a:srgbClr val="000000"/>
              </a:solidFill>
              <a:latin typeface="Calibri"/>
              <a:ea typeface="Calibri"/>
              <a:cs typeface="Calibri"/>
              <a:sym typeface="Calibri"/>
            </a:endParaRPr>
          </a:p>
        </p:txBody>
      </p:sp>
      <p:grpSp>
        <p:nvGrpSpPr>
          <p:cNvPr id="704" name="Google Shape;704;p8"/>
          <p:cNvGrpSpPr/>
          <p:nvPr/>
        </p:nvGrpSpPr>
        <p:grpSpPr>
          <a:xfrm>
            <a:off x="6096000" y="116541"/>
            <a:ext cx="5935752" cy="745847"/>
            <a:chOff x="642754" y="5327442"/>
            <a:chExt cx="5557932" cy="1115169"/>
          </a:xfrm>
        </p:grpSpPr>
        <p:grpSp>
          <p:nvGrpSpPr>
            <p:cNvPr id="705" name="Google Shape;705;p8"/>
            <p:cNvGrpSpPr/>
            <p:nvPr/>
          </p:nvGrpSpPr>
          <p:grpSpPr>
            <a:xfrm>
              <a:off x="642754" y="5399059"/>
              <a:ext cx="5557932" cy="989041"/>
              <a:chOff x="508001" y="5399059"/>
              <a:chExt cx="5557932" cy="989041"/>
            </a:xfrm>
          </p:grpSpPr>
          <p:sp>
            <p:nvSpPr>
              <p:cNvPr id="706" name="Google Shape;706;p8"/>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07" name="Google Shape;707;p8"/>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708" name="Google Shape;708;p8"/>
            <p:cNvGrpSpPr/>
            <p:nvPr/>
          </p:nvGrpSpPr>
          <p:grpSpPr>
            <a:xfrm>
              <a:off x="842194" y="5327442"/>
              <a:ext cx="894759" cy="905639"/>
              <a:chOff x="707441" y="5327442"/>
              <a:chExt cx="894759" cy="905639"/>
            </a:xfrm>
          </p:grpSpPr>
          <p:sp>
            <p:nvSpPr>
              <p:cNvPr id="709" name="Google Shape;709;p8"/>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710" name="Google Shape;710;p8"/>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711" name="Google Shape;711;p8"/>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graphicFrame>
        <p:nvGraphicFramePr>
          <p:cNvPr id="716" name="Google Shape;716;p9"/>
          <p:cNvGraphicFramePr/>
          <p:nvPr/>
        </p:nvGraphicFramePr>
        <p:xfrm>
          <a:off x="514350" y="1409701"/>
          <a:ext cx="3000000" cy="3000000"/>
        </p:xfrm>
        <a:graphic>
          <a:graphicData uri="http://schemas.openxmlformats.org/drawingml/2006/table">
            <a:tbl>
              <a:tblPr bandRow="1" firstRow="1">
                <a:noFill/>
                <a:tableStyleId>{A7A9F97C-25F6-4710-8AAD-0FDC6027060E}</a:tableStyleId>
              </a:tblPr>
              <a:tblGrid>
                <a:gridCol w="2057400"/>
                <a:gridCol w="4603850"/>
                <a:gridCol w="4578250"/>
              </a:tblGrid>
              <a:tr h="1181025">
                <a:tc>
                  <a:txBody>
                    <a:bodyPr/>
                    <a:lstStyle/>
                    <a:p>
                      <a:pPr indent="0" lvl="0" marL="0" marR="0" rtl="0" algn="ctr">
                        <a:lnSpc>
                          <a:spcPct val="115000"/>
                        </a:lnSpc>
                        <a:spcBef>
                          <a:spcPts val="0"/>
                        </a:spcBef>
                        <a:spcAft>
                          <a:spcPts val="0"/>
                        </a:spcAft>
                        <a:buNone/>
                      </a:pPr>
                      <a:r>
                        <a:rPr b="1" lang="en-US" sz="1800" u="none" cap="none" strike="noStrike">
                          <a:solidFill>
                            <a:srgbClr val="000000"/>
                          </a:solidFill>
                          <a:latin typeface="Be Vietnam Pro"/>
                          <a:ea typeface="Be Vietnam Pro"/>
                          <a:cs typeface="Be Vietnam Pro"/>
                          <a:sym typeface="Be Vietnam Pro"/>
                        </a:rPr>
                        <a:t> </a:t>
                      </a:r>
                      <a:endParaRPr sz="1800" u="none" cap="none" strike="noStrike">
                        <a:latin typeface="Be Vietnam Pro"/>
                        <a:ea typeface="Be Vietnam Pro"/>
                        <a:cs typeface="Be Vietnam Pro"/>
                        <a:sym typeface="Be Vietnam Pro"/>
                      </a:endParaRPr>
                    </a:p>
                    <a:p>
                      <a:pPr indent="0" lvl="0" marL="0" marR="0" rtl="0" algn="ctr">
                        <a:lnSpc>
                          <a:spcPct val="115000"/>
                        </a:lnSpc>
                        <a:spcBef>
                          <a:spcPts val="800"/>
                        </a:spcBef>
                        <a:spcAft>
                          <a:spcPts val="0"/>
                        </a:spcAft>
                        <a:buNone/>
                      </a:pPr>
                      <a:r>
                        <a:rPr b="1" lang="en-US" sz="1800" u="none" cap="none" strike="noStrike">
                          <a:solidFill>
                            <a:srgbClr val="000000"/>
                          </a:solidFill>
                          <a:latin typeface="Be Vietnam Pro"/>
                          <a:ea typeface="Be Vietnam Pro"/>
                          <a:cs typeface="Be Vietnam Pro"/>
                          <a:sym typeface="Be Vietnam Pro"/>
                        </a:rPr>
                        <a:t> Tham số</a:t>
                      </a:r>
                      <a:endParaRPr sz="1800" u="none" cap="none" strike="noStrike">
                        <a:latin typeface="Be Vietnam Pro"/>
                        <a:ea typeface="Be Vietnam Pro"/>
                        <a:cs typeface="Be Vietnam Pro"/>
                        <a:sym typeface="Be Vietnam Pro"/>
                      </a:endParaRPr>
                    </a:p>
                  </a:txBody>
                  <a:tcPr marT="0" marB="0" marR="68575" marL="68575"/>
                </a:tc>
                <a:tc>
                  <a:txBody>
                    <a:bodyPr/>
                    <a:lstStyle/>
                    <a:p>
                      <a:pPr indent="0" lvl="0" marL="0" marR="0" rtl="0" algn="ctr">
                        <a:lnSpc>
                          <a:spcPct val="115000"/>
                        </a:lnSpc>
                        <a:spcBef>
                          <a:spcPts val="0"/>
                        </a:spcBef>
                        <a:spcAft>
                          <a:spcPts val="0"/>
                        </a:spcAft>
                        <a:buNone/>
                      </a:pPr>
                      <a:r>
                        <a:t/>
                      </a:r>
                      <a:endParaRPr b="1" sz="1800" u="none" cap="none" strike="noStrike">
                        <a:solidFill>
                          <a:srgbClr val="000000"/>
                        </a:solidFill>
                        <a:latin typeface="Be Vietnam Pro"/>
                        <a:ea typeface="Be Vietnam Pro"/>
                        <a:cs typeface="Be Vietnam Pro"/>
                        <a:sym typeface="Be Vietnam Pro"/>
                      </a:endParaRPr>
                    </a:p>
                    <a:p>
                      <a:pPr indent="0" lvl="0" marL="0" marR="0" rtl="0" algn="ctr">
                        <a:lnSpc>
                          <a:spcPct val="115000"/>
                        </a:lnSpc>
                        <a:spcBef>
                          <a:spcPts val="800"/>
                        </a:spcBef>
                        <a:spcAft>
                          <a:spcPts val="0"/>
                        </a:spcAft>
                        <a:buNone/>
                      </a:pPr>
                      <a:r>
                        <a:rPr b="1" lang="en-US" sz="1800" u="none" cap="none" strike="noStrike">
                          <a:solidFill>
                            <a:srgbClr val="000000"/>
                          </a:solidFill>
                          <a:latin typeface="Be Vietnam Pro"/>
                          <a:ea typeface="Be Vietnam Pro"/>
                          <a:cs typeface="Be Vietnam Pro"/>
                          <a:sym typeface="Be Vietnam Pro"/>
                        </a:rPr>
                        <a:t>Kế hoạch kiểm thử</a:t>
                      </a:r>
                      <a:endParaRPr b="1" sz="1800" u="none" cap="none" strike="noStrike">
                        <a:solidFill>
                          <a:srgbClr val="000000"/>
                        </a:solidFill>
                        <a:latin typeface="Be Vietnam Pro"/>
                        <a:ea typeface="Be Vietnam Pro"/>
                        <a:cs typeface="Be Vietnam Pro"/>
                        <a:sym typeface="Be Vietnam Pro"/>
                      </a:endParaRPr>
                    </a:p>
                    <a:p>
                      <a:pPr indent="0" lvl="0" marL="0" marR="0" rtl="0" algn="ctr">
                        <a:lnSpc>
                          <a:spcPct val="115000"/>
                        </a:lnSpc>
                        <a:spcBef>
                          <a:spcPts val="800"/>
                        </a:spcBef>
                        <a:spcAft>
                          <a:spcPts val="0"/>
                        </a:spcAft>
                        <a:buNone/>
                      </a:pPr>
                      <a:r>
                        <a:t/>
                      </a:r>
                      <a:endParaRPr b="1" sz="1800" u="none" cap="none" strike="noStrike">
                        <a:solidFill>
                          <a:srgbClr val="000000"/>
                        </a:solidFill>
                        <a:latin typeface="Be Vietnam Pro"/>
                        <a:ea typeface="Be Vietnam Pro"/>
                        <a:cs typeface="Be Vietnam Pro"/>
                        <a:sym typeface="Be Vietnam Pro"/>
                      </a:endParaRPr>
                    </a:p>
                  </a:txBody>
                  <a:tcPr marT="0" marB="0" marR="68575" marL="68575"/>
                </a:tc>
                <a:tc>
                  <a:txBody>
                    <a:bodyPr/>
                    <a:lstStyle/>
                    <a:p>
                      <a:pPr indent="0" lvl="0" marL="0" marR="0" rtl="0" algn="ctr">
                        <a:lnSpc>
                          <a:spcPct val="115000"/>
                        </a:lnSpc>
                        <a:spcBef>
                          <a:spcPts val="0"/>
                        </a:spcBef>
                        <a:spcAft>
                          <a:spcPts val="0"/>
                        </a:spcAft>
                        <a:buNone/>
                      </a:pPr>
                      <a:r>
                        <a:t/>
                      </a:r>
                      <a:endParaRPr b="0" sz="1800" u="none" cap="none" strike="noStrike">
                        <a:solidFill>
                          <a:srgbClr val="000000"/>
                        </a:solidFill>
                        <a:latin typeface="Be Vietnam Pro"/>
                        <a:ea typeface="Be Vietnam Pro"/>
                        <a:cs typeface="Be Vietnam Pro"/>
                        <a:sym typeface="Be Vietnam Pro"/>
                      </a:endParaRPr>
                    </a:p>
                    <a:p>
                      <a:pPr indent="0" lvl="0" marL="0" marR="0" rtl="0" algn="ctr">
                        <a:lnSpc>
                          <a:spcPct val="115000"/>
                        </a:lnSpc>
                        <a:spcBef>
                          <a:spcPts val="800"/>
                        </a:spcBef>
                        <a:spcAft>
                          <a:spcPts val="0"/>
                        </a:spcAft>
                        <a:buNone/>
                      </a:pPr>
                      <a:r>
                        <a:rPr b="1" lang="en-US" sz="1800" u="none" cap="none" strike="noStrike">
                          <a:solidFill>
                            <a:srgbClr val="000000"/>
                          </a:solidFill>
                          <a:latin typeface="Be Vietnam Pro"/>
                          <a:ea typeface="Be Vietnam Pro"/>
                          <a:cs typeface="Be Vietnam Pro"/>
                          <a:sym typeface="Be Vietnam Pro"/>
                        </a:rPr>
                        <a:t>Chiến lược kiểm thử</a:t>
                      </a:r>
                      <a:endParaRPr sz="1800" u="none" cap="none" strike="noStrike">
                        <a:latin typeface="Be Vietnam Pro"/>
                        <a:ea typeface="Be Vietnam Pro"/>
                        <a:cs typeface="Be Vietnam Pro"/>
                        <a:sym typeface="Be Vietnam Pro"/>
                      </a:endParaRPr>
                    </a:p>
                  </a:txBody>
                  <a:tcPr marT="0" marB="0" marR="68575" marL="68575"/>
                </a:tc>
              </a:tr>
              <a:tr h="109877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Sự định nghĩa</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Là một tài liệu bao gồm </a:t>
                      </a:r>
                      <a:r>
                        <a:rPr lang="en-US" sz="1800" u="none" cap="none" strike="noStrike">
                          <a:solidFill>
                            <a:srgbClr val="FF0000"/>
                          </a:solidFill>
                          <a:latin typeface="Be Vietnam Pro"/>
                          <a:ea typeface="Be Vietnam Pro"/>
                          <a:cs typeface="Be Vietnam Pro"/>
                          <a:sym typeface="Be Vietnam Pro"/>
                        </a:rPr>
                        <a:t>phạm vi </a:t>
                      </a:r>
                      <a:r>
                        <a:rPr lang="en-US" sz="1800" u="none" cap="none" strike="noStrike">
                          <a:solidFill>
                            <a:srgbClr val="000000"/>
                          </a:solidFill>
                          <a:latin typeface="Be Vietnam Pro"/>
                          <a:ea typeface="Be Vietnam Pro"/>
                          <a:cs typeface="Be Vietnam Pro"/>
                          <a:sym typeface="Be Vietnam Pro"/>
                        </a:rPr>
                        <a:t>và </a:t>
                      </a:r>
                      <a:r>
                        <a:rPr lang="en-US" sz="1800" u="none" cap="none" strike="noStrike">
                          <a:solidFill>
                            <a:srgbClr val="FF0000"/>
                          </a:solidFill>
                          <a:latin typeface="Be Vietnam Pro"/>
                          <a:ea typeface="Be Vietnam Pro"/>
                          <a:cs typeface="Be Vietnam Pro"/>
                          <a:sym typeface="Be Vietnam Pro"/>
                        </a:rPr>
                        <a:t>các</a:t>
                      </a:r>
                      <a:r>
                        <a:rPr lang="en-US" sz="1800" u="none" cap="none" strike="noStrike">
                          <a:solidFill>
                            <a:srgbClr val="000000"/>
                          </a:solidFill>
                          <a:latin typeface="Be Vietnam Pro"/>
                          <a:ea typeface="Be Vietnam Pro"/>
                          <a:cs typeface="Be Vietnam Pro"/>
                          <a:sym typeface="Be Vietnam Pro"/>
                        </a:rPr>
                        <a:t> </a:t>
                      </a:r>
                      <a:r>
                        <a:rPr lang="en-US" sz="1800" u="none" cap="none" strike="noStrike">
                          <a:solidFill>
                            <a:srgbClr val="FF0000"/>
                          </a:solidFill>
                          <a:latin typeface="Be Vietnam Pro"/>
                          <a:ea typeface="Be Vietnam Pro"/>
                          <a:cs typeface="Be Vietnam Pro"/>
                          <a:sym typeface="Be Vietnam Pro"/>
                        </a:rPr>
                        <a:t>hoạt động khác nhau </a:t>
                      </a:r>
                      <a:r>
                        <a:rPr lang="en-US" sz="1800" u="none" cap="none" strike="noStrike">
                          <a:solidFill>
                            <a:srgbClr val="000000"/>
                          </a:solidFill>
                          <a:latin typeface="Be Vietnam Pro"/>
                          <a:ea typeface="Be Vietnam Pro"/>
                          <a:cs typeface="Be Vietnam Pro"/>
                          <a:sym typeface="Be Vietnam Pro"/>
                        </a:rPr>
                        <a:t>liên quan đến quá trình kiểm thử.</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Là một tài liệu cấp cao bao gồm các </a:t>
                      </a:r>
                      <a:r>
                        <a:rPr lang="en-US" sz="1800" u="none" cap="none" strike="noStrike">
                          <a:solidFill>
                            <a:srgbClr val="FF0000"/>
                          </a:solidFill>
                          <a:latin typeface="Be Vietnam Pro"/>
                          <a:ea typeface="Be Vietnam Pro"/>
                          <a:cs typeface="Be Vietnam Pro"/>
                          <a:sym typeface="Be Vietnam Pro"/>
                        </a:rPr>
                        <a:t>hướng dẫn </a:t>
                      </a:r>
                      <a:r>
                        <a:rPr lang="en-US" sz="1800" u="none" cap="none" strike="noStrike">
                          <a:solidFill>
                            <a:srgbClr val="000000"/>
                          </a:solidFill>
                          <a:latin typeface="Be Vietnam Pro"/>
                          <a:ea typeface="Be Vietnam Pro"/>
                          <a:cs typeface="Be Vietnam Pro"/>
                          <a:sym typeface="Be Vietnam Pro"/>
                        </a:rPr>
                        <a:t>và </a:t>
                      </a:r>
                      <a:r>
                        <a:rPr lang="en-US" sz="1800" u="none" cap="none" strike="noStrike">
                          <a:solidFill>
                            <a:srgbClr val="FF0000"/>
                          </a:solidFill>
                          <a:latin typeface="Be Vietnam Pro"/>
                          <a:ea typeface="Be Vietnam Pro"/>
                          <a:cs typeface="Be Vietnam Pro"/>
                          <a:sym typeface="Be Vietnam Pro"/>
                        </a:rPr>
                        <a:t>nguyên tắc </a:t>
                      </a:r>
                      <a:r>
                        <a:rPr lang="en-US" sz="1800" u="none" cap="none" strike="noStrike">
                          <a:solidFill>
                            <a:srgbClr val="000000"/>
                          </a:solidFill>
                          <a:latin typeface="Be Vietnam Pro"/>
                          <a:ea typeface="Be Vietnam Pro"/>
                          <a:cs typeface="Be Vietnam Pro"/>
                          <a:sym typeface="Be Vietnam Pro"/>
                        </a:rPr>
                        <a:t>liên quan đến việc thực hiện quá trình kiểm thử.</a:t>
                      </a:r>
                      <a:endParaRPr sz="1800" u="none" cap="none" strike="noStrike">
                        <a:latin typeface="Be Vietnam Pro"/>
                        <a:ea typeface="Be Vietnam Pro"/>
                        <a:cs typeface="Be Vietnam Pro"/>
                        <a:sym typeface="Be Vietnam Pro"/>
                      </a:endParaRPr>
                    </a:p>
                  </a:txBody>
                  <a:tcPr marT="0" marB="0" marR="68575" marL="68575" anchor="ctr"/>
                </a:tc>
              </a:tr>
              <a:tr h="116162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Mục tiêu</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1B1B1B"/>
                          </a:solidFill>
                          <a:latin typeface="Be Vietnam Pro"/>
                          <a:ea typeface="Be Vietnam Pro"/>
                          <a:cs typeface="Be Vietnam Pro"/>
                          <a:sym typeface="Be Vietnam Pro"/>
                        </a:rPr>
                        <a:t>Xác định được các hoạt động, nguồn lực, phạm vi, tiêu chí chấp nhận của sản phẩm và các mốc thời gian bàn giao</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Xác định các nguyên tắc cần tuân thủ trong quá trình kiểm thử.</a:t>
                      </a:r>
                      <a:endParaRPr sz="1800" u="none" cap="none" strike="noStrike">
                        <a:latin typeface="Be Vietnam Pro"/>
                        <a:ea typeface="Be Vietnam Pro"/>
                        <a:cs typeface="Be Vietnam Pro"/>
                        <a:sym typeface="Be Vietnam Pro"/>
                      </a:endParaRPr>
                    </a:p>
                  </a:txBody>
                  <a:tcPr marT="0" marB="0" marR="68575" marL="68575" anchor="ctr"/>
                </a:tc>
              </a:tr>
              <a:tr h="137820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Mục đích</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được thực hiện để </a:t>
                      </a:r>
                      <a:r>
                        <a:rPr lang="en-US" sz="1800" u="none" cap="none" strike="noStrike">
                          <a:solidFill>
                            <a:srgbClr val="FF0000"/>
                          </a:solidFill>
                          <a:latin typeface="Be Vietnam Pro"/>
                          <a:ea typeface="Be Vietnam Pro"/>
                          <a:cs typeface="Be Vietnam Pro"/>
                          <a:sym typeface="Be Vietnam Pro"/>
                        </a:rPr>
                        <a:t>xác định </a:t>
                      </a:r>
                      <a:r>
                        <a:rPr lang="en-US" sz="1800" u="none" cap="none" strike="noStrike">
                          <a:solidFill>
                            <a:srgbClr val="000000"/>
                          </a:solidFill>
                          <a:latin typeface="Be Vietnam Pro"/>
                          <a:ea typeface="Be Vietnam Pro"/>
                          <a:cs typeface="Be Vietnam Pro"/>
                          <a:sym typeface="Be Vietnam Pro"/>
                        </a:rPr>
                        <a:t>những </a:t>
                      </a:r>
                      <a:r>
                        <a:rPr lang="en-US" sz="1800" u="none" cap="none" strike="noStrike">
                          <a:solidFill>
                            <a:srgbClr val="FF0000"/>
                          </a:solidFill>
                          <a:latin typeface="Be Vietnam Pro"/>
                          <a:ea typeface="Be Vietnam Pro"/>
                          <a:cs typeface="Be Vietnam Pro"/>
                          <a:sym typeface="Be Vietnam Pro"/>
                        </a:rPr>
                        <a:t>mâu thuẫn </a:t>
                      </a:r>
                      <a:r>
                        <a:rPr lang="en-US" sz="1800" u="none" cap="none" strike="noStrike">
                          <a:solidFill>
                            <a:srgbClr val="000000"/>
                          </a:solidFill>
                          <a:latin typeface="Be Vietnam Pro"/>
                          <a:ea typeface="Be Vietnam Pro"/>
                          <a:cs typeface="Be Vietnam Pro"/>
                          <a:sym typeface="Be Vietnam Pro"/>
                        </a:rPr>
                        <a:t>có thể có trong sản phẩm cuối cùng và </a:t>
                      </a:r>
                      <a:r>
                        <a:rPr lang="en-US" sz="1800" u="none" cap="none" strike="noStrike">
                          <a:solidFill>
                            <a:srgbClr val="FF0000"/>
                          </a:solidFill>
                          <a:latin typeface="Be Vietnam Pro"/>
                          <a:ea typeface="Be Vietnam Pro"/>
                          <a:cs typeface="Be Vietnam Pro"/>
                          <a:sym typeface="Be Vietnam Pro"/>
                        </a:rPr>
                        <a:t>giảm thiểu </a:t>
                      </a:r>
                      <a:r>
                        <a:rPr lang="en-US" sz="1800" u="none" cap="none" strike="noStrike">
                          <a:solidFill>
                            <a:srgbClr val="000000"/>
                          </a:solidFill>
                          <a:latin typeface="Be Vietnam Pro"/>
                          <a:ea typeface="Be Vietnam Pro"/>
                          <a:cs typeface="Be Vietnam Pro"/>
                          <a:sym typeface="Be Vietnam Pro"/>
                        </a:rPr>
                        <a:t>chúng thông qua quá trình kiểm thử.</a:t>
                      </a:r>
                      <a:endParaRPr sz="1800" u="none" cap="none" strike="noStrike">
                        <a:latin typeface="Be Vietnam Pro"/>
                        <a:ea typeface="Be Vietnam Pro"/>
                        <a:cs typeface="Be Vietnam Pro"/>
                        <a:sym typeface="Be Vietnam Pro"/>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là một kế hoạch hành động của quá trình thử nghiệm trên cơ sở </a:t>
                      </a:r>
                      <a:r>
                        <a:rPr lang="en-US" sz="1800" u="none" cap="none" strike="noStrike">
                          <a:solidFill>
                            <a:srgbClr val="FF0000"/>
                          </a:solidFill>
                          <a:latin typeface="Be Vietnam Pro"/>
                          <a:ea typeface="Be Vietnam Pro"/>
                          <a:cs typeface="Be Vietnam Pro"/>
                          <a:sym typeface="Be Vietnam Pro"/>
                        </a:rPr>
                        <a:t>dài hạn</a:t>
                      </a:r>
                      <a:r>
                        <a:rPr lang="en-US" sz="1800" u="none" cap="none" strike="noStrike">
                          <a:solidFill>
                            <a:srgbClr val="000000"/>
                          </a:solidFill>
                          <a:latin typeface="Be Vietnam Pro"/>
                          <a:ea typeface="Be Vietnam Pro"/>
                          <a:cs typeface="Be Vietnam Pro"/>
                          <a:sym typeface="Be Vietnam Pro"/>
                        </a:rPr>
                        <a:t>.</a:t>
                      </a:r>
                      <a:endParaRPr sz="1800" u="none" cap="none" strike="noStrike">
                        <a:latin typeface="Be Vietnam Pro"/>
                        <a:ea typeface="Be Vietnam Pro"/>
                        <a:cs typeface="Be Vietnam Pro"/>
                        <a:sym typeface="Be Vietnam Pro"/>
                      </a:endParaRPr>
                    </a:p>
                  </a:txBody>
                  <a:tcPr marT="0" marB="0" marR="68575" marL="68575" anchor="ctr"/>
                </a:tc>
              </a:tr>
            </a:tbl>
          </a:graphicData>
        </a:graphic>
      </p:graphicFrame>
      <p:grpSp>
        <p:nvGrpSpPr>
          <p:cNvPr id="717" name="Google Shape;717;p9"/>
          <p:cNvGrpSpPr/>
          <p:nvPr/>
        </p:nvGrpSpPr>
        <p:grpSpPr>
          <a:xfrm>
            <a:off x="6096000" y="116541"/>
            <a:ext cx="5935752" cy="745847"/>
            <a:chOff x="642754" y="5327442"/>
            <a:chExt cx="5557932" cy="1115169"/>
          </a:xfrm>
        </p:grpSpPr>
        <p:grpSp>
          <p:nvGrpSpPr>
            <p:cNvPr id="718" name="Google Shape;718;p9"/>
            <p:cNvGrpSpPr/>
            <p:nvPr/>
          </p:nvGrpSpPr>
          <p:grpSpPr>
            <a:xfrm>
              <a:off x="642754" y="5399059"/>
              <a:ext cx="5557932" cy="989041"/>
              <a:chOff x="508001" y="5399059"/>
              <a:chExt cx="5557932" cy="989041"/>
            </a:xfrm>
          </p:grpSpPr>
          <p:sp>
            <p:nvSpPr>
              <p:cNvPr id="719" name="Google Shape;719;p9"/>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20" name="Google Shape;720;p9"/>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721" name="Google Shape;721;p9"/>
            <p:cNvGrpSpPr/>
            <p:nvPr/>
          </p:nvGrpSpPr>
          <p:grpSpPr>
            <a:xfrm>
              <a:off x="842194" y="5327442"/>
              <a:ext cx="894759" cy="905639"/>
              <a:chOff x="707441" y="5327442"/>
              <a:chExt cx="894759" cy="905639"/>
            </a:xfrm>
          </p:grpSpPr>
          <p:sp>
            <p:nvSpPr>
              <p:cNvPr id="722" name="Google Shape;722;p9"/>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723" name="Google Shape;723;p9"/>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724" name="Google Shape;724;p9"/>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graphicFrame>
        <p:nvGraphicFramePr>
          <p:cNvPr id="729" name="Google Shape;729;p10"/>
          <p:cNvGraphicFramePr/>
          <p:nvPr/>
        </p:nvGraphicFramePr>
        <p:xfrm>
          <a:off x="542925" y="1304925"/>
          <a:ext cx="3000000" cy="3000000"/>
        </p:xfrm>
        <a:graphic>
          <a:graphicData uri="http://schemas.openxmlformats.org/drawingml/2006/table">
            <a:tbl>
              <a:tblPr bandRow="1" firstRow="1">
                <a:noFill/>
                <a:tableStyleId>{A7A9F97C-25F6-4710-8AAD-0FDC6027060E}</a:tableStyleId>
              </a:tblPr>
              <a:tblGrid>
                <a:gridCol w="2057425"/>
                <a:gridCol w="4589650"/>
                <a:gridCol w="4497175"/>
              </a:tblGrid>
              <a:tr h="53175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Mức độ</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Được sử dụng ở cấp độ dự án.</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Được sử dụng ở cấp độ tổ chức.</a:t>
                      </a:r>
                      <a:endParaRPr sz="1800" u="none" cap="none" strike="noStrike">
                        <a:latin typeface="Calibri"/>
                        <a:ea typeface="Calibri"/>
                        <a:cs typeface="Calibri"/>
                        <a:sym typeface="Calibri"/>
                      </a:endParaRPr>
                    </a:p>
                  </a:txBody>
                  <a:tcPr marT="0" marB="0" marR="68575" marL="68575" anchor="ctr"/>
                </a:tc>
              </a:tr>
              <a:tr h="108017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Phạm vi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xác định kỹ lưỡng toàn bộ các hoạt động kiểm thử.</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chỉ tập trung vào các phương pháp và chiến lược kiểm tra cấp cao.</a:t>
                      </a:r>
                      <a:endParaRPr sz="1800" u="none" cap="none" strike="noStrike">
                        <a:latin typeface="Calibri"/>
                        <a:ea typeface="Calibri"/>
                        <a:cs typeface="Calibri"/>
                        <a:sym typeface="Calibri"/>
                      </a:endParaRPr>
                    </a:p>
                  </a:txBody>
                  <a:tcPr marT="0" marB="0" marR="68575" marL="68575" anchor="ctr"/>
                </a:tc>
              </a:tr>
              <a:tr h="193707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Các thành phần</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Bao gồm : ID kế hoạch kiểm tra, các tính năng cần được kiểm tra, các kỹ thuật cần tuân theo, nhiệm vụ kiểm tra, tiêu chí đạt hoặc không đạt, lịch trình, v.v.</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Bao gồm - mục tiêu và phạm vi, tài liệu, quy trình kiểm tra, v.v.</a:t>
                      </a:r>
                      <a:endParaRPr sz="1800" u="none" cap="none" strike="noStrike">
                        <a:latin typeface="Calibri"/>
                        <a:ea typeface="Calibri"/>
                        <a:cs typeface="Calibri"/>
                        <a:sym typeface="Calibri"/>
                      </a:endParaRPr>
                    </a:p>
                  </a:txBody>
                  <a:tcPr marT="0" marB="0" marR="68575" marL="68575" anchor="ctr"/>
                </a:tc>
              </a:tr>
              <a:tr h="108017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Được thực hiện bởi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Người quản lý hoặc trưởng nhóm </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Phát triển bởi người quản lý dự án như một phần của quá trình kiểm thử.</a:t>
                      </a:r>
                      <a:endParaRPr sz="1800" u="none" cap="none" strike="noStrike">
                        <a:latin typeface="Calibri"/>
                        <a:ea typeface="Calibri"/>
                        <a:cs typeface="Calibri"/>
                        <a:sym typeface="Calibri"/>
                      </a:endParaRPr>
                    </a:p>
                  </a:txBody>
                  <a:tcPr marT="0" marB="0" marR="68575" marL="68575" anchor="ctr"/>
                </a:tc>
              </a:tr>
            </a:tbl>
          </a:graphicData>
        </a:graphic>
      </p:graphicFrame>
      <p:grpSp>
        <p:nvGrpSpPr>
          <p:cNvPr id="730" name="Google Shape;730;p10"/>
          <p:cNvGrpSpPr/>
          <p:nvPr/>
        </p:nvGrpSpPr>
        <p:grpSpPr>
          <a:xfrm>
            <a:off x="6096000" y="116541"/>
            <a:ext cx="5935752" cy="745847"/>
            <a:chOff x="642754" y="5327442"/>
            <a:chExt cx="5557932" cy="1115169"/>
          </a:xfrm>
        </p:grpSpPr>
        <p:grpSp>
          <p:nvGrpSpPr>
            <p:cNvPr id="731" name="Google Shape;731;p10"/>
            <p:cNvGrpSpPr/>
            <p:nvPr/>
          </p:nvGrpSpPr>
          <p:grpSpPr>
            <a:xfrm>
              <a:off x="642754" y="5399059"/>
              <a:ext cx="5557932" cy="989041"/>
              <a:chOff x="508001" y="5399059"/>
              <a:chExt cx="5557932" cy="989041"/>
            </a:xfrm>
          </p:grpSpPr>
          <p:sp>
            <p:nvSpPr>
              <p:cNvPr id="732" name="Google Shape;732;p10"/>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33" name="Google Shape;733;p10"/>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734" name="Google Shape;734;p10"/>
            <p:cNvGrpSpPr/>
            <p:nvPr/>
          </p:nvGrpSpPr>
          <p:grpSpPr>
            <a:xfrm>
              <a:off x="842194" y="5327442"/>
              <a:ext cx="894759" cy="905639"/>
              <a:chOff x="707441" y="5327442"/>
              <a:chExt cx="894759" cy="905639"/>
            </a:xfrm>
          </p:grpSpPr>
          <p:sp>
            <p:nvSpPr>
              <p:cNvPr id="735" name="Google Shape;735;p10"/>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736" name="Google Shape;736;p10"/>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737" name="Google Shape;737;p10"/>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graphicFrame>
        <p:nvGraphicFramePr>
          <p:cNvPr id="742" name="Google Shape;742;p11"/>
          <p:cNvGraphicFramePr/>
          <p:nvPr/>
        </p:nvGraphicFramePr>
        <p:xfrm>
          <a:off x="504826" y="1266826"/>
          <a:ext cx="3000000" cy="3000000"/>
        </p:xfrm>
        <a:graphic>
          <a:graphicData uri="http://schemas.openxmlformats.org/drawingml/2006/table">
            <a:tbl>
              <a:tblPr bandRow="1" firstRow="1">
                <a:noFill/>
                <a:tableStyleId>{A7A9F97C-25F6-4710-8AAD-0FDC6027060E}</a:tableStyleId>
              </a:tblPr>
              <a:tblGrid>
                <a:gridCol w="2026375"/>
                <a:gridCol w="4587500"/>
                <a:gridCol w="4587500"/>
              </a:tblGrid>
              <a:tr h="132297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Nguồn gốc</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được tạo ra với sự trợ giúp của</a:t>
                      </a:r>
                      <a:br>
                        <a:rPr lang="en-US" sz="1800" u="none" cap="none" strike="noStrike">
                          <a:solidFill>
                            <a:srgbClr val="000000"/>
                          </a:solidFill>
                          <a:latin typeface="Be Vietnam Pro"/>
                          <a:ea typeface="Be Vietnam Pro"/>
                          <a:cs typeface="Be Vietnam Pro"/>
                          <a:sym typeface="Be Vietnam Pro"/>
                        </a:rPr>
                      </a:br>
                      <a:r>
                        <a:rPr lang="en-US" sz="1800" u="none" cap="none" strike="noStrike">
                          <a:solidFill>
                            <a:srgbClr val="000000"/>
                          </a:solidFill>
                          <a:latin typeface="Be Vietnam Pro"/>
                          <a:ea typeface="Be Vietnam Pro"/>
                          <a:cs typeface="Be Vietnam Pro"/>
                          <a:sym typeface="Be Vietnam Pro"/>
                        </a:rPr>
                        <a:t>tài liệu Use case, tài liệu đặc tả yêu cầu phần mềm và tài liệu mô tả sản phẩm.</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có nguồn gốc từ tài liệu đặc tả yêu cầu nghiệp vụ.</a:t>
                      </a:r>
                      <a:endParaRPr sz="1800" u="none" cap="none" strike="noStrike">
                        <a:latin typeface="Calibri"/>
                        <a:ea typeface="Calibri"/>
                        <a:cs typeface="Calibri"/>
                        <a:sym typeface="Calibri"/>
                      </a:endParaRPr>
                    </a:p>
                  </a:txBody>
                  <a:tcPr marT="0" marB="0" marR="68575" marL="68575" anchor="ctr"/>
                </a:tc>
              </a:tr>
              <a:tr h="142032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Sự tồn tại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Một kế hoạch kiểm tra thường tồn tại riêng lẻ.</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Chiến lược kiểm thử có thể là một phần của kế hoạch thử nghiệm, trong một số trường hợp giống như các dự án nhỏ hơn.</a:t>
                      </a:r>
                      <a:endParaRPr sz="1800" u="none" cap="none" strike="noStrike">
                        <a:latin typeface="Calibri"/>
                        <a:ea typeface="Calibri"/>
                        <a:cs typeface="Calibri"/>
                        <a:sym typeface="Calibri"/>
                      </a:endParaRPr>
                    </a:p>
                  </a:txBody>
                  <a:tcPr marT="0" marB="0" marR="68575" marL="68575" anchor="ctr"/>
                </a:tc>
              </a:tr>
              <a:tr h="69920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Nền tảng</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dựa trên các chiến lược kiểm thử.</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dựa trên các tiêu chuẩn đã được xác định trước.</a:t>
                      </a:r>
                      <a:endParaRPr sz="1800" u="none" cap="none" strike="noStrike">
                        <a:latin typeface="Calibri"/>
                        <a:ea typeface="Calibri"/>
                        <a:cs typeface="Calibri"/>
                        <a:sym typeface="Calibri"/>
                      </a:endParaRPr>
                    </a:p>
                  </a:txBody>
                  <a:tcPr marT="0" marB="0" marR="68575" marL="68575" anchor="ctr"/>
                </a:tc>
              </a:tr>
              <a:tr h="132002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Thay đổi tính nhạy cảm</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là một tài liệu động và có thể được thay đổi nhiều lần tùy thuộc vào các thông số kỹ thuật kiểm thử.</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không thể được thay đổi vì nó là một tài liệu tĩnh.</a:t>
                      </a:r>
                      <a:endParaRPr sz="1800" u="none" cap="none" strike="noStrike">
                        <a:latin typeface="Calibri"/>
                        <a:ea typeface="Calibri"/>
                        <a:cs typeface="Calibri"/>
                        <a:sym typeface="Calibri"/>
                      </a:endParaRPr>
                    </a:p>
                  </a:txBody>
                  <a:tcPr marT="0" marB="0" marR="68575" marL="68575" anchor="ctr"/>
                </a:tc>
              </a:tr>
            </a:tbl>
          </a:graphicData>
        </a:graphic>
      </p:graphicFrame>
      <p:grpSp>
        <p:nvGrpSpPr>
          <p:cNvPr id="743" name="Google Shape;743;p11"/>
          <p:cNvGrpSpPr/>
          <p:nvPr/>
        </p:nvGrpSpPr>
        <p:grpSpPr>
          <a:xfrm>
            <a:off x="6096000" y="116541"/>
            <a:ext cx="5935752" cy="745847"/>
            <a:chOff x="642754" y="5327442"/>
            <a:chExt cx="5557932" cy="1115169"/>
          </a:xfrm>
        </p:grpSpPr>
        <p:grpSp>
          <p:nvGrpSpPr>
            <p:cNvPr id="744" name="Google Shape;744;p11"/>
            <p:cNvGrpSpPr/>
            <p:nvPr/>
          </p:nvGrpSpPr>
          <p:grpSpPr>
            <a:xfrm>
              <a:off x="642754" y="5399059"/>
              <a:ext cx="5557932" cy="989041"/>
              <a:chOff x="508001" y="5399059"/>
              <a:chExt cx="5557932" cy="989041"/>
            </a:xfrm>
          </p:grpSpPr>
          <p:sp>
            <p:nvSpPr>
              <p:cNvPr id="745" name="Google Shape;745;p11"/>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46" name="Google Shape;746;p11"/>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747" name="Google Shape;747;p11"/>
            <p:cNvGrpSpPr/>
            <p:nvPr/>
          </p:nvGrpSpPr>
          <p:grpSpPr>
            <a:xfrm>
              <a:off x="842194" y="5327442"/>
              <a:ext cx="894759" cy="905639"/>
              <a:chOff x="707441" y="5327442"/>
              <a:chExt cx="894759" cy="905639"/>
            </a:xfrm>
          </p:grpSpPr>
          <p:sp>
            <p:nvSpPr>
              <p:cNvPr id="748" name="Google Shape;748;p11"/>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749" name="Google Shape;749;p11"/>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750" name="Google Shape;750;p11"/>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graphicFrame>
        <p:nvGraphicFramePr>
          <p:cNvPr id="755" name="Google Shape;755;p12"/>
          <p:cNvGraphicFramePr/>
          <p:nvPr/>
        </p:nvGraphicFramePr>
        <p:xfrm>
          <a:off x="657225" y="1419224"/>
          <a:ext cx="3000000" cy="3000000"/>
        </p:xfrm>
        <a:graphic>
          <a:graphicData uri="http://schemas.openxmlformats.org/drawingml/2006/table">
            <a:tbl>
              <a:tblPr bandRow="1" firstRow="1">
                <a:noFill/>
                <a:tableStyleId>{A7A9F97C-25F6-4710-8AAD-0FDC6027060E}</a:tableStyleId>
              </a:tblPr>
              <a:tblGrid>
                <a:gridCol w="2171700"/>
                <a:gridCol w="4667250"/>
                <a:gridCol w="4038600"/>
              </a:tblGrid>
              <a:tr h="103745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Sự lặp lại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Được sử dụng bởi một dự án và rất hiếm khi lặp lại.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Được sử dụng bởi nhiều dự án và có thể được lặp lại nhiều lần.</a:t>
                      </a:r>
                      <a:endParaRPr sz="1800" u="none" cap="none" strike="noStrike">
                        <a:latin typeface="Calibri"/>
                        <a:ea typeface="Calibri"/>
                        <a:cs typeface="Calibri"/>
                        <a:sym typeface="Calibri"/>
                      </a:endParaRPr>
                    </a:p>
                  </a:txBody>
                  <a:tcPr marT="0" marB="0" marR="68575" marL="68575" anchor="ctr"/>
                </a:tc>
              </a:tr>
              <a:tr h="195710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Các loại</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Kế hoạch kiểm thử cấp độ ( đơn vị, tích hợp, hệ thống, chấp nhận )                                    </a:t>
                      </a:r>
                      <a:endParaRPr/>
                    </a:p>
                    <a:p>
                      <a:pPr indent="0" lvl="0" marL="0" marR="0" rtl="0" algn="l">
                        <a:lnSpc>
                          <a:spcPct val="115000"/>
                        </a:lnSpc>
                        <a:spcBef>
                          <a:spcPts val="800"/>
                        </a:spcBef>
                        <a:spcAft>
                          <a:spcPts val="0"/>
                        </a:spcAft>
                        <a:buNone/>
                      </a:pPr>
                      <a:r>
                        <a:rPr lang="en-US" sz="1800" u="none" cap="none" strike="noStrike">
                          <a:solidFill>
                            <a:srgbClr val="000000"/>
                          </a:solidFill>
                          <a:latin typeface="Be Vietnam Pro"/>
                          <a:ea typeface="Be Vietnam Pro"/>
                          <a:cs typeface="Be Vietnam Pro"/>
                          <a:sym typeface="Be Vietnam Pro"/>
                        </a:rPr>
                        <a:t>Kế hoạch kiểm thử loại cụ thể            </a:t>
                      </a:r>
                      <a:endParaRPr/>
                    </a:p>
                    <a:p>
                      <a:pPr indent="0" lvl="0" marL="0" marR="0" rtl="0" algn="l">
                        <a:lnSpc>
                          <a:spcPct val="115000"/>
                        </a:lnSpc>
                        <a:spcBef>
                          <a:spcPts val="800"/>
                        </a:spcBef>
                        <a:spcAft>
                          <a:spcPts val="0"/>
                        </a:spcAft>
                        <a:buNone/>
                      </a:pPr>
                      <a:r>
                        <a:rPr lang="en-US" sz="1800" u="none" cap="none" strike="noStrike">
                          <a:solidFill>
                            <a:srgbClr val="000000"/>
                          </a:solidFill>
                          <a:latin typeface="Be Vietnam Pro"/>
                          <a:ea typeface="Be Vietnam Pro"/>
                          <a:cs typeface="Be Vietnam Pro"/>
                          <a:sym typeface="Be Vietnam Pro"/>
                        </a:rPr>
                        <a:t>Kế hoạch kiểm thử tổng thể</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Phân tích                                                   Dựa trên mô hình                                 Phương pháp                                         Tuân thủ tiêu chuẩn phản ứng            Tham vấn                                               Phản đối hồi quy </a:t>
                      </a:r>
                      <a:endParaRPr sz="1800" u="none" cap="none" strike="noStrike">
                        <a:latin typeface="Calibri"/>
                        <a:ea typeface="Calibri"/>
                        <a:cs typeface="Calibri"/>
                        <a:sym typeface="Calibri"/>
                      </a:endParaRPr>
                    </a:p>
                  </a:txBody>
                  <a:tcPr marT="0" marB="0" marR="68575" marL="68575" anchor="ctr"/>
                </a:tc>
              </a:tr>
              <a:tr h="770825">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Ảnh hưởng</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chỉ ảnh hưởng đến một dự án duy nhất tại một thời điểm.</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ảnh hưởng đến nhiều dự án cùng một lúc.</a:t>
                      </a:r>
                      <a:endParaRPr sz="1800" u="none" cap="none" strike="noStrike">
                        <a:latin typeface="Calibri"/>
                        <a:ea typeface="Calibri"/>
                        <a:cs typeface="Calibri"/>
                        <a:sym typeface="Calibri"/>
                      </a:endParaRPr>
                    </a:p>
                  </a:txBody>
                  <a:tcPr marT="0" marB="0" marR="68575" marL="68575" anchor="ctr"/>
                </a:tc>
              </a:tr>
              <a:tr h="968550">
                <a:tc>
                  <a:txBody>
                    <a:bodyPr/>
                    <a:lstStyle/>
                    <a:p>
                      <a:pPr indent="0" lvl="0" marL="0" marR="0" rtl="0" algn="ctr">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Tường thuật</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thuật lại các thông số kỹ thuật phổ biến trong quá trình thử nghiệm của một dự án cụ thể.</a:t>
                      </a:r>
                      <a:endParaRPr sz="1800" u="none" cap="none" strike="noStrike">
                        <a:latin typeface="Calibri"/>
                        <a:ea typeface="Calibri"/>
                        <a:cs typeface="Calibri"/>
                        <a:sym typeface="Calibri"/>
                      </a:endParaRPr>
                    </a:p>
                  </a:txBody>
                  <a:tcPr marT="0" marB="0" marR="68575" marL="68575" anchor="ctr"/>
                </a:tc>
                <a:tc>
                  <a:txBody>
                    <a:bodyPr/>
                    <a:lstStyle/>
                    <a:p>
                      <a:pPr indent="0" lvl="0" marL="0" marR="0" rtl="0" algn="l">
                        <a:lnSpc>
                          <a:spcPct val="115000"/>
                        </a:lnSpc>
                        <a:spcBef>
                          <a:spcPts val="0"/>
                        </a:spcBef>
                        <a:spcAft>
                          <a:spcPts val="0"/>
                        </a:spcAft>
                        <a:buNone/>
                      </a:pPr>
                      <a:r>
                        <a:rPr lang="en-US" sz="1800" u="none" cap="none" strike="noStrike">
                          <a:solidFill>
                            <a:srgbClr val="000000"/>
                          </a:solidFill>
                          <a:latin typeface="Be Vietnam Pro"/>
                          <a:ea typeface="Be Vietnam Pro"/>
                          <a:cs typeface="Be Vietnam Pro"/>
                          <a:sym typeface="Be Vietnam Pro"/>
                        </a:rPr>
                        <a:t>Nó tường thuật các cách tiếp cận trong thử nghiệm.</a:t>
                      </a:r>
                      <a:endParaRPr sz="1800" u="none" cap="none" strike="noStrike">
                        <a:latin typeface="Calibri"/>
                        <a:ea typeface="Calibri"/>
                        <a:cs typeface="Calibri"/>
                        <a:sym typeface="Calibri"/>
                      </a:endParaRPr>
                    </a:p>
                  </a:txBody>
                  <a:tcPr marT="0" marB="0" marR="68575" marL="68575" anchor="ctr"/>
                </a:tc>
              </a:tr>
            </a:tbl>
          </a:graphicData>
        </a:graphic>
      </p:graphicFrame>
      <p:grpSp>
        <p:nvGrpSpPr>
          <p:cNvPr id="756" name="Google Shape;756;p12"/>
          <p:cNvGrpSpPr/>
          <p:nvPr/>
        </p:nvGrpSpPr>
        <p:grpSpPr>
          <a:xfrm>
            <a:off x="6096000" y="116541"/>
            <a:ext cx="5935752" cy="745847"/>
            <a:chOff x="642754" y="5327442"/>
            <a:chExt cx="5557932" cy="1115169"/>
          </a:xfrm>
        </p:grpSpPr>
        <p:grpSp>
          <p:nvGrpSpPr>
            <p:cNvPr id="757" name="Google Shape;757;p12"/>
            <p:cNvGrpSpPr/>
            <p:nvPr/>
          </p:nvGrpSpPr>
          <p:grpSpPr>
            <a:xfrm>
              <a:off x="642754" y="5399059"/>
              <a:ext cx="5557932" cy="989041"/>
              <a:chOff x="508001" y="5399059"/>
              <a:chExt cx="5557932" cy="989041"/>
            </a:xfrm>
          </p:grpSpPr>
          <p:sp>
            <p:nvSpPr>
              <p:cNvPr id="758" name="Google Shape;758;p12"/>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759" name="Google Shape;759;p12"/>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760" name="Google Shape;760;p12"/>
            <p:cNvGrpSpPr/>
            <p:nvPr/>
          </p:nvGrpSpPr>
          <p:grpSpPr>
            <a:xfrm>
              <a:off x="842194" y="5327442"/>
              <a:ext cx="894759" cy="905639"/>
              <a:chOff x="707441" y="5327442"/>
              <a:chExt cx="894759" cy="905639"/>
            </a:xfrm>
          </p:grpSpPr>
          <p:sp>
            <p:nvSpPr>
              <p:cNvPr id="761" name="Google Shape;761;p12"/>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762" name="Google Shape;762;p12"/>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763" name="Google Shape;763;p12"/>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KẾ HOẠCH VÀ CHIẾN LƯỢC</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5"/>
          <p:cNvSpPr/>
          <p:nvPr/>
        </p:nvSpPr>
        <p:spPr>
          <a:xfrm>
            <a:off x="4071433" y="1499765"/>
            <a:ext cx="4049133" cy="710678"/>
          </a:xfrm>
          <a:prstGeom prst="roundRect">
            <a:avLst>
              <a:gd fmla="val 5000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80000"/>
              </a:lnSpc>
              <a:spcBef>
                <a:spcPts val="0"/>
              </a:spcBef>
              <a:spcAft>
                <a:spcPts val="0"/>
              </a:spcAft>
              <a:buClr>
                <a:srgbClr val="000000"/>
              </a:buClr>
              <a:buSzPts val="1400"/>
              <a:buFont typeface="Arial"/>
              <a:buNone/>
            </a:pPr>
            <a:r>
              <a:rPr b="1" i="0" lang="en-US" sz="2400" u="none" cap="none" strike="noStrike">
                <a:solidFill>
                  <a:schemeClr val="lt1"/>
                </a:solidFill>
                <a:latin typeface="Be Vietnam Pro"/>
                <a:ea typeface="Be Vietnam Pro"/>
                <a:cs typeface="Be Vietnam Pro"/>
                <a:sym typeface="Be Vietnam Pro"/>
              </a:rPr>
              <a:t>Các giai đoạn STLC</a:t>
            </a:r>
            <a:endParaRPr b="0" i="0" sz="2400" u="none" cap="none" strike="noStrike">
              <a:solidFill>
                <a:srgbClr val="000000"/>
              </a:solidFill>
              <a:latin typeface="Be Vietnam Pro"/>
              <a:ea typeface="Be Vietnam Pro"/>
              <a:cs typeface="Be Vietnam Pro"/>
              <a:sym typeface="Be Vietnam Pro"/>
            </a:endParaRPr>
          </a:p>
        </p:txBody>
      </p:sp>
      <p:sp>
        <p:nvSpPr>
          <p:cNvPr id="769" name="Google Shape;769;p15"/>
          <p:cNvSpPr/>
          <p:nvPr/>
        </p:nvSpPr>
        <p:spPr>
          <a:xfrm>
            <a:off x="4621331" y="2613891"/>
            <a:ext cx="2949339" cy="2949339"/>
          </a:xfrm>
          <a:prstGeom prst="ellipse">
            <a:avLst/>
          </a:prstGeom>
          <a:solidFill>
            <a:schemeClr val="accent1">
              <a:alpha val="81176"/>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grpSp>
        <p:nvGrpSpPr>
          <p:cNvPr id="770" name="Google Shape;770;p15"/>
          <p:cNvGrpSpPr/>
          <p:nvPr/>
        </p:nvGrpSpPr>
        <p:grpSpPr>
          <a:xfrm>
            <a:off x="3901926" y="3962215"/>
            <a:ext cx="252359" cy="252359"/>
            <a:chOff x="7048421" y="3776393"/>
            <a:chExt cx="240878" cy="240878"/>
          </a:xfrm>
        </p:grpSpPr>
        <p:sp>
          <p:nvSpPr>
            <p:cNvPr id="771" name="Google Shape;771;p15"/>
            <p:cNvSpPr/>
            <p:nvPr/>
          </p:nvSpPr>
          <p:spPr>
            <a:xfrm>
              <a:off x="7048421" y="3776393"/>
              <a:ext cx="240878" cy="240878"/>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72" name="Google Shape;772;p15"/>
            <p:cNvSpPr/>
            <p:nvPr/>
          </p:nvSpPr>
          <p:spPr>
            <a:xfrm>
              <a:off x="7094077" y="3823463"/>
              <a:ext cx="149566" cy="149566"/>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grpSp>
      <p:grpSp>
        <p:nvGrpSpPr>
          <p:cNvPr id="773" name="Google Shape;773;p15"/>
          <p:cNvGrpSpPr/>
          <p:nvPr/>
        </p:nvGrpSpPr>
        <p:grpSpPr>
          <a:xfrm>
            <a:off x="4368972" y="2607225"/>
            <a:ext cx="252359" cy="252359"/>
            <a:chOff x="7048421" y="3776393"/>
            <a:chExt cx="240878" cy="240878"/>
          </a:xfrm>
        </p:grpSpPr>
        <p:sp>
          <p:nvSpPr>
            <p:cNvPr id="774" name="Google Shape;774;p15"/>
            <p:cNvSpPr/>
            <p:nvPr/>
          </p:nvSpPr>
          <p:spPr>
            <a:xfrm>
              <a:off x="7048421" y="3776393"/>
              <a:ext cx="240878" cy="240878"/>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75" name="Google Shape;775;p15"/>
            <p:cNvSpPr/>
            <p:nvPr/>
          </p:nvSpPr>
          <p:spPr>
            <a:xfrm>
              <a:off x="7094077" y="3823463"/>
              <a:ext cx="149566" cy="149566"/>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grpSp>
      <p:grpSp>
        <p:nvGrpSpPr>
          <p:cNvPr id="776" name="Google Shape;776;p15"/>
          <p:cNvGrpSpPr/>
          <p:nvPr/>
        </p:nvGrpSpPr>
        <p:grpSpPr>
          <a:xfrm>
            <a:off x="4414034" y="5242299"/>
            <a:ext cx="252359" cy="252359"/>
            <a:chOff x="7048421" y="3776393"/>
            <a:chExt cx="240878" cy="240878"/>
          </a:xfrm>
        </p:grpSpPr>
        <p:sp>
          <p:nvSpPr>
            <p:cNvPr id="777" name="Google Shape;777;p15"/>
            <p:cNvSpPr/>
            <p:nvPr/>
          </p:nvSpPr>
          <p:spPr>
            <a:xfrm>
              <a:off x="7048421" y="3776393"/>
              <a:ext cx="240878" cy="240878"/>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78" name="Google Shape;778;p15"/>
            <p:cNvSpPr/>
            <p:nvPr/>
          </p:nvSpPr>
          <p:spPr>
            <a:xfrm>
              <a:off x="7094077" y="3823463"/>
              <a:ext cx="149566" cy="149566"/>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grpSp>
      <p:sp>
        <p:nvSpPr>
          <p:cNvPr id="779" name="Google Shape;779;p15"/>
          <p:cNvSpPr/>
          <p:nvPr/>
        </p:nvSpPr>
        <p:spPr>
          <a:xfrm flipH="1">
            <a:off x="8037716" y="3937468"/>
            <a:ext cx="252359" cy="252359"/>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80" name="Google Shape;780;p15"/>
          <p:cNvSpPr/>
          <p:nvPr/>
        </p:nvSpPr>
        <p:spPr>
          <a:xfrm flipH="1">
            <a:off x="8088824" y="3962881"/>
            <a:ext cx="156695" cy="156695"/>
          </a:xfrm>
          <a:prstGeom prst="ellipse">
            <a:avLst/>
          </a:prstGeom>
          <a:solidFill>
            <a:srgbClr val="F08D7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sp>
        <p:nvSpPr>
          <p:cNvPr id="781" name="Google Shape;781;p15"/>
          <p:cNvSpPr/>
          <p:nvPr/>
        </p:nvSpPr>
        <p:spPr>
          <a:xfrm flipH="1">
            <a:off x="7548862" y="2567206"/>
            <a:ext cx="252359" cy="252359"/>
          </a:xfrm>
          <a:prstGeom prst="ellipse">
            <a:avLst/>
          </a:prstGeom>
          <a:solidFill>
            <a:srgbClr val="F08D76">
              <a:alpha val="34117"/>
            </a:srgbClr>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82" name="Google Shape;782;p15"/>
          <p:cNvSpPr/>
          <p:nvPr/>
        </p:nvSpPr>
        <p:spPr>
          <a:xfrm flipH="1">
            <a:off x="7596694" y="2616519"/>
            <a:ext cx="156695" cy="156695"/>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sp>
        <p:nvSpPr>
          <p:cNvPr id="783" name="Google Shape;783;p15"/>
          <p:cNvSpPr/>
          <p:nvPr/>
        </p:nvSpPr>
        <p:spPr>
          <a:xfrm flipH="1">
            <a:off x="7422681" y="5290130"/>
            <a:ext cx="252359" cy="252359"/>
          </a:xfrm>
          <a:prstGeom prst="ellipse">
            <a:avLst/>
          </a:prstGeom>
          <a:solidFill>
            <a:srgbClr val="F08D76">
              <a:alpha val="34117"/>
            </a:srgbClr>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1" i="0" sz="1800" u="none" cap="none" strike="noStrike">
              <a:solidFill>
                <a:srgbClr val="020202"/>
              </a:solidFill>
              <a:latin typeface="Be Vietnam Pro"/>
              <a:ea typeface="Be Vietnam Pro"/>
              <a:cs typeface="Be Vietnam Pro"/>
              <a:sym typeface="Be Vietnam Pro"/>
            </a:endParaRPr>
          </a:p>
        </p:txBody>
      </p:sp>
      <p:sp>
        <p:nvSpPr>
          <p:cNvPr id="784" name="Google Shape;784;p15"/>
          <p:cNvSpPr/>
          <p:nvPr/>
        </p:nvSpPr>
        <p:spPr>
          <a:xfrm flipH="1">
            <a:off x="7470514" y="5337963"/>
            <a:ext cx="156695" cy="156695"/>
          </a:xfrm>
          <a:prstGeom prst="ellipse">
            <a:avLst/>
          </a:prstGeom>
          <a:solidFill>
            <a:srgbClr val="F08D76"/>
          </a:solidFill>
          <a:ln cap="flat" cmpd="sng" w="12700">
            <a:solidFill>
              <a:srgbClr val="F08D7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800" u="none" cap="none" strike="noStrike">
              <a:solidFill>
                <a:srgbClr val="FFFFFF"/>
              </a:solidFill>
              <a:latin typeface="Be Vietnam Pro"/>
              <a:ea typeface="Be Vietnam Pro"/>
              <a:cs typeface="Be Vietnam Pro"/>
              <a:sym typeface="Be Vietnam Pro"/>
            </a:endParaRPr>
          </a:p>
        </p:txBody>
      </p:sp>
      <p:cxnSp>
        <p:nvCxnSpPr>
          <p:cNvPr id="785" name="Google Shape;785;p15"/>
          <p:cNvCxnSpPr/>
          <p:nvPr/>
        </p:nvCxnSpPr>
        <p:spPr>
          <a:xfrm>
            <a:off x="5694927" y="3829483"/>
            <a:ext cx="214239" cy="0"/>
          </a:xfrm>
          <a:prstGeom prst="straightConnector1">
            <a:avLst/>
          </a:prstGeom>
          <a:noFill/>
          <a:ln cap="rnd" cmpd="sng" w="19050">
            <a:solidFill>
              <a:schemeClr val="lt1"/>
            </a:solidFill>
            <a:prstDash val="solid"/>
            <a:round/>
            <a:headEnd len="sm" w="sm" type="none"/>
            <a:tailEnd len="sm" w="sm" type="none"/>
          </a:ln>
        </p:spPr>
      </p:cxnSp>
      <p:cxnSp>
        <p:nvCxnSpPr>
          <p:cNvPr id="786" name="Google Shape;786;p15"/>
          <p:cNvCxnSpPr/>
          <p:nvPr/>
        </p:nvCxnSpPr>
        <p:spPr>
          <a:xfrm>
            <a:off x="5694927" y="3968987"/>
            <a:ext cx="378652" cy="0"/>
          </a:xfrm>
          <a:prstGeom prst="straightConnector1">
            <a:avLst/>
          </a:prstGeom>
          <a:noFill/>
          <a:ln cap="rnd" cmpd="sng" w="19050">
            <a:solidFill>
              <a:schemeClr val="lt1"/>
            </a:solidFill>
            <a:prstDash val="solid"/>
            <a:round/>
            <a:headEnd len="sm" w="sm" type="none"/>
            <a:tailEnd len="sm" w="sm" type="none"/>
          </a:ln>
        </p:spPr>
      </p:cxnSp>
      <p:cxnSp>
        <p:nvCxnSpPr>
          <p:cNvPr id="787" name="Google Shape;787;p15"/>
          <p:cNvCxnSpPr/>
          <p:nvPr/>
        </p:nvCxnSpPr>
        <p:spPr>
          <a:xfrm>
            <a:off x="5694926" y="4113471"/>
            <a:ext cx="283991" cy="0"/>
          </a:xfrm>
          <a:prstGeom prst="straightConnector1">
            <a:avLst/>
          </a:prstGeom>
          <a:noFill/>
          <a:ln cap="rnd" cmpd="sng" w="19050">
            <a:solidFill>
              <a:schemeClr val="lt1"/>
            </a:solidFill>
            <a:prstDash val="solid"/>
            <a:round/>
            <a:headEnd len="sm" w="sm" type="none"/>
            <a:tailEnd len="sm" w="sm" type="none"/>
          </a:ln>
        </p:spPr>
      </p:cxnSp>
      <p:cxnSp>
        <p:nvCxnSpPr>
          <p:cNvPr id="788" name="Google Shape;788;p15"/>
          <p:cNvCxnSpPr/>
          <p:nvPr/>
        </p:nvCxnSpPr>
        <p:spPr>
          <a:xfrm>
            <a:off x="5694927" y="4252973"/>
            <a:ext cx="234168" cy="0"/>
          </a:xfrm>
          <a:prstGeom prst="straightConnector1">
            <a:avLst/>
          </a:prstGeom>
          <a:noFill/>
          <a:ln cap="rnd" cmpd="sng" w="19050">
            <a:solidFill>
              <a:schemeClr val="lt1"/>
            </a:solidFill>
            <a:prstDash val="solid"/>
            <a:round/>
            <a:headEnd len="sm" w="sm" type="none"/>
            <a:tailEnd len="sm" w="sm" type="none"/>
          </a:ln>
        </p:spPr>
      </p:cxnSp>
      <p:sp>
        <p:nvSpPr>
          <p:cNvPr id="789" name="Google Shape;789;p15"/>
          <p:cNvSpPr/>
          <p:nvPr/>
        </p:nvSpPr>
        <p:spPr>
          <a:xfrm>
            <a:off x="6073579" y="4063649"/>
            <a:ext cx="562997" cy="567977"/>
          </a:xfrm>
          <a:prstGeom prst="ellipse">
            <a:avLst/>
          </a:prstGeom>
          <a:no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Be Vietnam Pro"/>
              <a:ea typeface="Be Vietnam Pro"/>
              <a:cs typeface="Be Vietnam Pro"/>
              <a:sym typeface="Be Vietnam Pro"/>
            </a:endParaRPr>
          </a:p>
        </p:txBody>
      </p:sp>
      <p:sp>
        <p:nvSpPr>
          <p:cNvPr id="790" name="Google Shape;790;p15"/>
          <p:cNvSpPr/>
          <p:nvPr/>
        </p:nvSpPr>
        <p:spPr>
          <a:xfrm>
            <a:off x="6203118" y="4262937"/>
            <a:ext cx="303919" cy="204275"/>
          </a:xfrm>
          <a:custGeom>
            <a:rect b="b" l="l" r="r" t="t"/>
            <a:pathLst>
              <a:path extrusionOk="0" h="41" w="61">
                <a:moveTo>
                  <a:pt x="61" y="0"/>
                </a:moveTo>
                <a:lnTo>
                  <a:pt x="26" y="41"/>
                </a:lnTo>
                <a:lnTo>
                  <a:pt x="0" y="15"/>
                </a:lnTo>
              </a:path>
            </a:pathLst>
          </a:custGeom>
          <a:noFill/>
          <a:ln cap="rnd"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Be Vietnam Pro"/>
              <a:ea typeface="Be Vietnam Pro"/>
              <a:cs typeface="Be Vietnam Pro"/>
              <a:sym typeface="Be Vietnam Pro"/>
            </a:endParaRPr>
          </a:p>
        </p:txBody>
      </p:sp>
      <p:sp>
        <p:nvSpPr>
          <p:cNvPr id="791" name="Google Shape;791;p15"/>
          <p:cNvSpPr/>
          <p:nvPr/>
        </p:nvSpPr>
        <p:spPr>
          <a:xfrm>
            <a:off x="5555424" y="3545494"/>
            <a:ext cx="752323" cy="991471"/>
          </a:xfrm>
          <a:custGeom>
            <a:rect b="b" l="l" r="r" t="t"/>
            <a:pathLst>
              <a:path extrusionOk="0" h="199" w="151">
                <a:moveTo>
                  <a:pt x="99" y="199"/>
                </a:moveTo>
                <a:lnTo>
                  <a:pt x="0" y="199"/>
                </a:lnTo>
                <a:lnTo>
                  <a:pt x="0" y="0"/>
                </a:lnTo>
                <a:lnTo>
                  <a:pt x="104" y="0"/>
                </a:lnTo>
                <a:lnTo>
                  <a:pt x="151" y="47"/>
                </a:lnTo>
                <a:lnTo>
                  <a:pt x="151" y="90"/>
                </a:lnTo>
              </a:path>
            </a:pathLst>
          </a:custGeom>
          <a:noFill/>
          <a:ln cap="flat"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Be Vietnam Pro"/>
              <a:ea typeface="Be Vietnam Pro"/>
              <a:cs typeface="Be Vietnam Pro"/>
              <a:sym typeface="Be Vietnam Pro"/>
            </a:endParaRPr>
          </a:p>
        </p:txBody>
      </p:sp>
      <p:sp>
        <p:nvSpPr>
          <p:cNvPr id="792" name="Google Shape;792;p15"/>
          <p:cNvSpPr/>
          <p:nvPr/>
        </p:nvSpPr>
        <p:spPr>
          <a:xfrm>
            <a:off x="6073579" y="3545493"/>
            <a:ext cx="234168" cy="234168"/>
          </a:xfrm>
          <a:custGeom>
            <a:rect b="b" l="l" r="r" t="t"/>
            <a:pathLst>
              <a:path extrusionOk="0" h="47" w="47">
                <a:moveTo>
                  <a:pt x="0" y="0"/>
                </a:moveTo>
                <a:lnTo>
                  <a:pt x="0" y="47"/>
                </a:lnTo>
                <a:lnTo>
                  <a:pt x="47" y="47"/>
                </a:lnTo>
              </a:path>
            </a:pathLst>
          </a:custGeom>
          <a:noFill/>
          <a:ln cap="rnd" cmpd="sng" w="19050">
            <a:solidFill>
              <a:schemeClr val="lt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Be Vietnam Pro"/>
              <a:ea typeface="Be Vietnam Pro"/>
              <a:cs typeface="Be Vietnam Pro"/>
              <a:sym typeface="Be Vietnam Pro"/>
            </a:endParaRPr>
          </a:p>
        </p:txBody>
      </p:sp>
      <p:sp>
        <p:nvSpPr>
          <p:cNvPr id="793" name="Google Shape;793;p15"/>
          <p:cNvSpPr txBox="1"/>
          <p:nvPr/>
        </p:nvSpPr>
        <p:spPr>
          <a:xfrm>
            <a:off x="1552108" y="2359479"/>
            <a:ext cx="2261672"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Phân tích yêu cầu </a:t>
            </a:r>
            <a:endParaRPr b="0" i="0" sz="1800" u="none" cap="none" strike="noStrike">
              <a:solidFill>
                <a:srgbClr val="404040"/>
              </a:solidFill>
              <a:latin typeface="Be Vietnam Pro"/>
              <a:ea typeface="Be Vietnam Pro"/>
              <a:cs typeface="Be Vietnam Pro"/>
              <a:sym typeface="Be Vietnam Pro"/>
            </a:endParaRPr>
          </a:p>
        </p:txBody>
      </p:sp>
      <p:sp>
        <p:nvSpPr>
          <p:cNvPr id="794" name="Google Shape;794;p15"/>
          <p:cNvSpPr txBox="1"/>
          <p:nvPr/>
        </p:nvSpPr>
        <p:spPr>
          <a:xfrm>
            <a:off x="635314" y="3922193"/>
            <a:ext cx="2634678"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Lập kế hoạch kiểm thử</a:t>
            </a:r>
            <a:endParaRPr b="0" i="0" sz="1800" u="none" cap="none" strike="noStrike">
              <a:solidFill>
                <a:srgbClr val="404040"/>
              </a:solidFill>
              <a:latin typeface="Be Vietnam Pro"/>
              <a:ea typeface="Be Vietnam Pro"/>
              <a:cs typeface="Be Vietnam Pro"/>
              <a:sym typeface="Be Vietnam Pro"/>
            </a:endParaRPr>
          </a:p>
        </p:txBody>
      </p:sp>
      <p:sp>
        <p:nvSpPr>
          <p:cNvPr id="795" name="Google Shape;795;p15"/>
          <p:cNvSpPr txBox="1"/>
          <p:nvPr/>
        </p:nvSpPr>
        <p:spPr>
          <a:xfrm>
            <a:off x="1010979" y="5256255"/>
            <a:ext cx="2949339"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Thiết kế kịch bản kiểm thử</a:t>
            </a:r>
            <a:endParaRPr b="0" i="0" sz="1800" u="none" cap="none" strike="noStrike">
              <a:solidFill>
                <a:srgbClr val="404040"/>
              </a:solidFill>
              <a:latin typeface="Be Vietnam Pro"/>
              <a:ea typeface="Be Vietnam Pro"/>
              <a:cs typeface="Be Vietnam Pro"/>
              <a:sym typeface="Be Vietnam Pro"/>
            </a:endParaRPr>
          </a:p>
        </p:txBody>
      </p:sp>
      <p:sp>
        <p:nvSpPr>
          <p:cNvPr id="796" name="Google Shape;796;p15"/>
          <p:cNvSpPr txBox="1"/>
          <p:nvPr/>
        </p:nvSpPr>
        <p:spPr>
          <a:xfrm>
            <a:off x="8464487" y="2401006"/>
            <a:ext cx="3300416"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Thiết lập môi trường kiểm thử</a:t>
            </a:r>
            <a:endParaRPr b="0" i="0" sz="1800" u="none" cap="none" strike="noStrike">
              <a:solidFill>
                <a:srgbClr val="404040"/>
              </a:solidFill>
              <a:latin typeface="Be Vietnam Pro"/>
              <a:ea typeface="Be Vietnam Pro"/>
              <a:cs typeface="Be Vietnam Pro"/>
              <a:sym typeface="Be Vietnam Pro"/>
            </a:endParaRPr>
          </a:p>
        </p:txBody>
      </p:sp>
      <p:sp>
        <p:nvSpPr>
          <p:cNvPr id="797" name="Google Shape;797;p15"/>
          <p:cNvSpPr txBox="1"/>
          <p:nvPr/>
        </p:nvSpPr>
        <p:spPr>
          <a:xfrm>
            <a:off x="8930203" y="3922193"/>
            <a:ext cx="2261672"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Thưc hiện kiểm thử</a:t>
            </a:r>
            <a:endParaRPr b="0" i="0" sz="1800" u="none" cap="none" strike="noStrike">
              <a:solidFill>
                <a:srgbClr val="404040"/>
              </a:solidFill>
              <a:latin typeface="Be Vietnam Pro"/>
              <a:ea typeface="Be Vietnam Pro"/>
              <a:cs typeface="Be Vietnam Pro"/>
              <a:sym typeface="Be Vietnam Pro"/>
            </a:endParaRPr>
          </a:p>
        </p:txBody>
      </p:sp>
      <p:sp>
        <p:nvSpPr>
          <p:cNvPr id="798" name="Google Shape;798;p15"/>
          <p:cNvSpPr txBox="1"/>
          <p:nvPr/>
        </p:nvSpPr>
        <p:spPr>
          <a:xfrm>
            <a:off x="8367657" y="5256255"/>
            <a:ext cx="2870514" cy="332399"/>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000"/>
              <a:buFont typeface="Arial"/>
              <a:buNone/>
            </a:pPr>
            <a:r>
              <a:rPr b="0" i="0" lang="en-US" sz="1800" u="none" cap="none" strike="noStrike">
                <a:solidFill>
                  <a:srgbClr val="404040"/>
                </a:solidFill>
                <a:latin typeface="Be Vietnam Pro"/>
                <a:ea typeface="Be Vietnam Pro"/>
                <a:cs typeface="Be Vietnam Pro"/>
                <a:sym typeface="Be Vietnam Pro"/>
              </a:rPr>
              <a:t>Đóng chu trình kiểm thử</a:t>
            </a:r>
            <a:endParaRPr b="0" i="0" sz="1800" u="none" cap="none" strike="noStrike">
              <a:solidFill>
                <a:srgbClr val="404040"/>
              </a:solidFill>
              <a:latin typeface="Be Vietnam Pro"/>
              <a:ea typeface="Be Vietnam Pro"/>
              <a:cs typeface="Be Vietnam Pro"/>
              <a:sym typeface="Be Vietnam Pro"/>
            </a:endParaRPr>
          </a:p>
        </p:txBody>
      </p:sp>
      <p:grpSp>
        <p:nvGrpSpPr>
          <p:cNvPr id="799" name="Google Shape;799;p15"/>
          <p:cNvGrpSpPr/>
          <p:nvPr/>
        </p:nvGrpSpPr>
        <p:grpSpPr>
          <a:xfrm>
            <a:off x="5978917" y="171883"/>
            <a:ext cx="5958172" cy="710678"/>
            <a:chOff x="642754" y="5327442"/>
            <a:chExt cx="5557932" cy="1115169"/>
          </a:xfrm>
        </p:grpSpPr>
        <p:grpSp>
          <p:nvGrpSpPr>
            <p:cNvPr id="800" name="Google Shape;800;p15"/>
            <p:cNvGrpSpPr/>
            <p:nvPr/>
          </p:nvGrpSpPr>
          <p:grpSpPr>
            <a:xfrm>
              <a:off x="642754" y="5399059"/>
              <a:ext cx="5557932" cy="989041"/>
              <a:chOff x="508001" y="5399059"/>
              <a:chExt cx="5557932" cy="989041"/>
            </a:xfrm>
          </p:grpSpPr>
          <p:sp>
            <p:nvSpPr>
              <p:cNvPr id="801" name="Google Shape;801;p15"/>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02" name="Google Shape;802;p15"/>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803" name="Google Shape;803;p15"/>
            <p:cNvGrpSpPr/>
            <p:nvPr/>
          </p:nvGrpSpPr>
          <p:grpSpPr>
            <a:xfrm>
              <a:off x="842194" y="5327442"/>
              <a:ext cx="894759" cy="905639"/>
              <a:chOff x="707441" y="5327442"/>
              <a:chExt cx="894759" cy="905639"/>
            </a:xfrm>
          </p:grpSpPr>
          <p:sp>
            <p:nvSpPr>
              <p:cNvPr id="804" name="Google Shape;804;p15"/>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805" name="Google Shape;805;p15"/>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806" name="Google Shape;806;p15"/>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gtEl>
                                        <p:attrNameLst>
                                          <p:attrName>style.visibility</p:attrName>
                                        </p:attrNameLst>
                                      </p:cBhvr>
                                      <p:to>
                                        <p:strVal val="visible"/>
                                      </p:to>
                                    </p:set>
                                    <p:animEffect filter="fade" transition="in">
                                      <p:cBhvr>
                                        <p:cTn dur="500"/>
                                        <p:tgtEl>
                                          <p:spTgt spid="7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4"/>
                                        </p:tgtEl>
                                        <p:attrNameLst>
                                          <p:attrName>style.visibility</p:attrName>
                                        </p:attrNameLst>
                                      </p:cBhvr>
                                      <p:to>
                                        <p:strVal val="visible"/>
                                      </p:to>
                                    </p:set>
                                    <p:animEffect filter="fade" transition="in">
                                      <p:cBhvr>
                                        <p:cTn dur="500"/>
                                        <p:tgtEl>
                                          <p:spTgt spid="7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5"/>
                                        </p:tgtEl>
                                        <p:attrNameLst>
                                          <p:attrName>style.visibility</p:attrName>
                                        </p:attrNameLst>
                                      </p:cBhvr>
                                      <p:to>
                                        <p:strVal val="visible"/>
                                      </p:to>
                                    </p:set>
                                    <p:animEffect filter="fade" transition="in">
                                      <p:cBhvr>
                                        <p:cTn dur="500"/>
                                        <p:tgtEl>
                                          <p:spTgt spid="7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6"/>
                                        </p:tgtEl>
                                        <p:attrNameLst>
                                          <p:attrName>style.visibility</p:attrName>
                                        </p:attrNameLst>
                                      </p:cBhvr>
                                      <p:to>
                                        <p:strVal val="visible"/>
                                      </p:to>
                                    </p:set>
                                    <p:animEffect filter="fade" transition="in">
                                      <p:cBhvr>
                                        <p:cTn dur="500"/>
                                        <p:tgtEl>
                                          <p:spTgt spid="7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5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8"/>
                                        </p:tgtEl>
                                        <p:attrNameLst>
                                          <p:attrName>style.visibility</p:attrName>
                                        </p:attrNameLst>
                                      </p:cBhvr>
                                      <p:to>
                                        <p:strVal val="visible"/>
                                      </p:to>
                                    </p:set>
                                    <p:animEffect filter="fade" transition="in">
                                      <p:cBhvr>
                                        <p:cTn dur="500"/>
                                        <p:tgtEl>
                                          <p:spTgt spid="7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pic>
        <p:nvPicPr>
          <p:cNvPr id="811" name="Google Shape;811;p41"/>
          <p:cNvPicPr preferRelativeResize="0"/>
          <p:nvPr/>
        </p:nvPicPr>
        <p:blipFill rotWithShape="1">
          <a:blip r:embed="rId3">
            <a:alphaModFix/>
          </a:blip>
          <a:srcRect b="0" l="0" r="0" t="0"/>
          <a:stretch/>
        </p:blipFill>
        <p:spPr>
          <a:xfrm>
            <a:off x="6937525" y="1155850"/>
            <a:ext cx="5254475" cy="5254475"/>
          </a:xfrm>
          <a:prstGeom prst="rect">
            <a:avLst/>
          </a:prstGeom>
          <a:noFill/>
          <a:ln>
            <a:noFill/>
          </a:ln>
        </p:spPr>
      </p:pic>
      <p:sp>
        <p:nvSpPr>
          <p:cNvPr id="812" name="Google Shape;812;p41"/>
          <p:cNvSpPr txBox="1"/>
          <p:nvPr/>
        </p:nvSpPr>
        <p:spPr>
          <a:xfrm>
            <a:off x="635078" y="1895475"/>
            <a:ext cx="5613322" cy="484748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Ở giai đoạn STLC này, nhóm QA cần theo sát, nghiên cứu và phân tích từng yêu cầu trong các tài liệu đặc tả thiết kế dự án.</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Phân tích yêu cầu thường bao gồm các phiên động não, xác định các điểm mù hoặc các khu vực không rõ ràng trong các yêu cầu và ưu tiên các đánh giá nhất định.</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Khi nghi ngờ hoặc thiếu tài liệu yêu cầu, nhóm QA sẽ hỏi phía kỹ thuật hoặc bên kinh doanh để làm rõ và xác định chiến lược thử nghiệm.</a:t>
            </a:r>
            <a:endParaRPr/>
          </a:p>
          <a:p>
            <a:pPr indent="-285750" lvl="0" marL="285750" marR="0" rtl="0" algn="l">
              <a:lnSpc>
                <a:spcPct val="100000"/>
              </a:lnSpc>
              <a:spcBef>
                <a:spcPts val="60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Giai đoạn phân tích yêu cầu rất quan trọng trong quá trình kiểm thử bởi nó giúp ngăn chặn các bug sảy ra trong giai đoạn sớm, tiết kiệm thời gian và ngân sách.</a:t>
            </a:r>
            <a:endParaRPr b="0" i="0" sz="1800" u="none" cap="none" strike="noStrike">
              <a:solidFill>
                <a:srgbClr val="000000"/>
              </a:solidFill>
              <a:latin typeface="Be Vietnam Pro"/>
              <a:ea typeface="Be Vietnam Pro"/>
              <a:cs typeface="Be Vietnam Pro"/>
              <a:sym typeface="Be Vietnam Pro"/>
            </a:endParaRPr>
          </a:p>
          <a:p>
            <a:pPr indent="-171450" lvl="0" marL="285750" marR="0" rtl="0" algn="l">
              <a:lnSpc>
                <a:spcPct val="100000"/>
              </a:lnSpc>
              <a:spcBef>
                <a:spcPts val="600"/>
              </a:spcBef>
              <a:spcAft>
                <a:spcPts val="0"/>
              </a:spcAft>
              <a:buClr>
                <a:srgbClr val="000000"/>
              </a:buClr>
              <a:buSzPts val="1800"/>
              <a:buFont typeface="Noto Sans Symbols"/>
              <a:buNone/>
            </a:pPr>
            <a:r>
              <a:t/>
            </a:r>
            <a:endParaRPr b="0" i="0" sz="1800" u="none" cap="none" strike="noStrike">
              <a:solidFill>
                <a:srgbClr val="000000"/>
              </a:solidFill>
              <a:latin typeface="Be Vietnam Pro"/>
              <a:ea typeface="Be Vietnam Pro"/>
              <a:cs typeface="Be Vietnam Pro"/>
              <a:sym typeface="Be Vietnam Pro"/>
            </a:endParaRPr>
          </a:p>
          <a:p>
            <a:pPr indent="-196850" lvl="0" marL="285750" marR="0" rtl="0" algn="l">
              <a:lnSpc>
                <a:spcPct val="100000"/>
              </a:lnSpc>
              <a:spcBef>
                <a:spcPts val="600"/>
              </a:spcBef>
              <a:spcAft>
                <a:spcPts val="0"/>
              </a:spcAft>
              <a:buClr>
                <a:srgbClr val="000000"/>
              </a:buClr>
              <a:buSzPts val="1400"/>
              <a:buFont typeface="Noto Sans Symbols"/>
              <a:buNone/>
            </a:pPr>
            <a:r>
              <a:t/>
            </a:r>
            <a:endParaRPr b="0" i="0" sz="1400" u="none" cap="none" strike="noStrike">
              <a:solidFill>
                <a:srgbClr val="000000"/>
              </a:solidFill>
              <a:latin typeface="Be Vietnam Pro"/>
              <a:ea typeface="Be Vietnam Pro"/>
              <a:cs typeface="Be Vietnam Pro"/>
              <a:sym typeface="Be Vietnam Pro"/>
            </a:endParaRPr>
          </a:p>
        </p:txBody>
      </p:sp>
      <p:sp>
        <p:nvSpPr>
          <p:cNvPr id="813" name="Google Shape;813;p41"/>
          <p:cNvSpPr/>
          <p:nvPr/>
        </p:nvSpPr>
        <p:spPr>
          <a:xfrm>
            <a:off x="1117510" y="1252002"/>
            <a:ext cx="51308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Phân tích yêu cầu</a:t>
            </a:r>
            <a:endParaRPr b="0" i="0" sz="2400" u="none" cap="none" strike="noStrike">
              <a:solidFill>
                <a:srgbClr val="000000"/>
              </a:solidFill>
              <a:latin typeface="Be Vietnam Pro"/>
              <a:ea typeface="Be Vietnam Pro"/>
              <a:cs typeface="Be Vietnam Pro"/>
              <a:sym typeface="Be Vietnam Pro"/>
            </a:endParaRPr>
          </a:p>
        </p:txBody>
      </p:sp>
      <p:grpSp>
        <p:nvGrpSpPr>
          <p:cNvPr id="814" name="Google Shape;814;p41"/>
          <p:cNvGrpSpPr/>
          <p:nvPr/>
        </p:nvGrpSpPr>
        <p:grpSpPr>
          <a:xfrm>
            <a:off x="610978" y="1168931"/>
            <a:ext cx="843153" cy="486718"/>
            <a:chOff x="3103939" y="1690327"/>
            <a:chExt cx="706113" cy="614406"/>
          </a:xfrm>
        </p:grpSpPr>
        <p:grpSp>
          <p:nvGrpSpPr>
            <p:cNvPr id="815" name="Google Shape;815;p41"/>
            <p:cNvGrpSpPr/>
            <p:nvPr/>
          </p:nvGrpSpPr>
          <p:grpSpPr>
            <a:xfrm>
              <a:off x="3103939" y="1690327"/>
              <a:ext cx="706113" cy="614406"/>
              <a:chOff x="1240825" y="240075"/>
              <a:chExt cx="5918800" cy="5145775"/>
            </a:xfrm>
          </p:grpSpPr>
          <p:sp>
            <p:nvSpPr>
              <p:cNvPr id="816" name="Google Shape;816;p41"/>
              <p:cNvSpPr/>
              <p:nvPr/>
            </p:nvSpPr>
            <p:spPr>
              <a:xfrm>
                <a:off x="1410000" y="323650"/>
                <a:ext cx="5749625" cy="4943150"/>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Be Vietnam Pro"/>
                  <a:ea typeface="Be Vietnam Pro"/>
                  <a:cs typeface="Be Vietnam Pro"/>
                  <a:sym typeface="Be Vietnam Pro"/>
                </a:endParaRPr>
              </a:p>
            </p:txBody>
          </p:sp>
          <p:sp>
            <p:nvSpPr>
              <p:cNvPr id="817" name="Google Shape;817;p41"/>
              <p:cNvSpPr/>
              <p:nvPr/>
            </p:nvSpPr>
            <p:spPr>
              <a:xfrm>
                <a:off x="1240825" y="240075"/>
                <a:ext cx="5918800" cy="5145775"/>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Be Vietnam Pro"/>
                  <a:ea typeface="Be Vietnam Pro"/>
                  <a:cs typeface="Be Vietnam Pro"/>
                  <a:sym typeface="Be Vietnam Pro"/>
                </a:endParaRPr>
              </a:p>
            </p:txBody>
          </p:sp>
        </p:grpSp>
        <p:grpSp>
          <p:nvGrpSpPr>
            <p:cNvPr id="818" name="Google Shape;818;p41"/>
            <p:cNvGrpSpPr/>
            <p:nvPr/>
          </p:nvGrpSpPr>
          <p:grpSpPr>
            <a:xfrm>
              <a:off x="3314200" y="1843740"/>
              <a:ext cx="173042" cy="307531"/>
              <a:chOff x="938363" y="2111352"/>
              <a:chExt cx="359830" cy="639357"/>
            </a:xfrm>
          </p:grpSpPr>
          <p:sp>
            <p:nvSpPr>
              <p:cNvPr id="819" name="Google Shape;819;p41"/>
              <p:cNvSpPr/>
              <p:nvPr/>
            </p:nvSpPr>
            <p:spPr>
              <a:xfrm>
                <a:off x="952592" y="2125582"/>
                <a:ext cx="308073" cy="609408"/>
              </a:xfrm>
              <a:custGeom>
                <a:rect b="b" l="l" r="r" t="t"/>
                <a:pathLst>
                  <a:path extrusionOk="0" h="34734" w="17559">
                    <a:moveTo>
                      <a:pt x="14070" y="0"/>
                    </a:moveTo>
                    <a:cubicBezTo>
                      <a:pt x="11676" y="0"/>
                      <a:pt x="9552" y="1792"/>
                      <a:pt x="7599" y="3070"/>
                    </a:cubicBezTo>
                    <a:cubicBezTo>
                      <a:pt x="5681" y="4250"/>
                      <a:pt x="3800" y="5431"/>
                      <a:pt x="1919" y="6611"/>
                    </a:cubicBezTo>
                    <a:cubicBezTo>
                      <a:pt x="407" y="7570"/>
                      <a:pt x="1" y="9304"/>
                      <a:pt x="665" y="10927"/>
                    </a:cubicBezTo>
                    <a:cubicBezTo>
                      <a:pt x="886" y="11517"/>
                      <a:pt x="1181" y="12070"/>
                      <a:pt x="1513" y="12623"/>
                    </a:cubicBezTo>
                    <a:cubicBezTo>
                      <a:pt x="2177" y="13619"/>
                      <a:pt x="2472" y="14099"/>
                      <a:pt x="3763" y="14136"/>
                    </a:cubicBezTo>
                    <a:cubicBezTo>
                      <a:pt x="3889" y="14139"/>
                      <a:pt x="4000" y="14142"/>
                      <a:pt x="4100" y="14142"/>
                    </a:cubicBezTo>
                    <a:cubicBezTo>
                      <a:pt x="4937" y="14142"/>
                      <a:pt x="4948" y="13983"/>
                      <a:pt x="5607" y="13324"/>
                    </a:cubicBezTo>
                    <a:lnTo>
                      <a:pt x="6677" y="12254"/>
                    </a:lnTo>
                    <a:cubicBezTo>
                      <a:pt x="7452" y="11443"/>
                      <a:pt x="8263" y="10668"/>
                      <a:pt x="9075" y="9820"/>
                    </a:cubicBezTo>
                    <a:cubicBezTo>
                      <a:pt x="9124" y="9787"/>
                      <a:pt x="9189" y="9769"/>
                      <a:pt x="9255" y="9769"/>
                    </a:cubicBezTo>
                    <a:cubicBezTo>
                      <a:pt x="9336" y="9769"/>
                      <a:pt x="9419" y="9796"/>
                      <a:pt x="9480" y="9857"/>
                    </a:cubicBezTo>
                    <a:cubicBezTo>
                      <a:pt x="9562" y="9761"/>
                      <a:pt x="9680" y="9716"/>
                      <a:pt x="9797" y="9716"/>
                    </a:cubicBezTo>
                    <a:cubicBezTo>
                      <a:pt x="9996" y="9716"/>
                      <a:pt x="10195" y="9846"/>
                      <a:pt x="10218" y="10078"/>
                    </a:cubicBezTo>
                    <a:cubicBezTo>
                      <a:pt x="10587" y="15095"/>
                      <a:pt x="10993" y="20222"/>
                      <a:pt x="9665" y="25127"/>
                    </a:cubicBezTo>
                    <a:cubicBezTo>
                      <a:pt x="8927" y="27783"/>
                      <a:pt x="6198" y="31840"/>
                      <a:pt x="9222" y="33906"/>
                    </a:cubicBezTo>
                    <a:cubicBezTo>
                      <a:pt x="10159" y="34531"/>
                      <a:pt x="11207" y="34733"/>
                      <a:pt x="12274" y="34733"/>
                    </a:cubicBezTo>
                    <a:cubicBezTo>
                      <a:pt x="12719" y="34733"/>
                      <a:pt x="13167" y="34698"/>
                      <a:pt x="13611" y="34644"/>
                    </a:cubicBezTo>
                    <a:cubicBezTo>
                      <a:pt x="14349" y="34607"/>
                      <a:pt x="15124" y="34496"/>
                      <a:pt x="15861" y="34238"/>
                    </a:cubicBezTo>
                    <a:cubicBezTo>
                      <a:pt x="16710" y="33832"/>
                      <a:pt x="17521" y="32467"/>
                      <a:pt x="17521" y="31472"/>
                    </a:cubicBezTo>
                    <a:cubicBezTo>
                      <a:pt x="17558" y="30181"/>
                      <a:pt x="17005" y="28742"/>
                      <a:pt x="16820" y="27414"/>
                    </a:cubicBezTo>
                    <a:cubicBezTo>
                      <a:pt x="16636" y="26086"/>
                      <a:pt x="16489" y="24722"/>
                      <a:pt x="16378" y="23394"/>
                    </a:cubicBezTo>
                    <a:cubicBezTo>
                      <a:pt x="16120" y="20738"/>
                      <a:pt x="16083" y="18045"/>
                      <a:pt x="16193" y="15353"/>
                    </a:cubicBezTo>
                    <a:cubicBezTo>
                      <a:pt x="16341" y="12771"/>
                      <a:pt x="16710" y="10226"/>
                      <a:pt x="17005" y="7681"/>
                    </a:cubicBezTo>
                    <a:cubicBezTo>
                      <a:pt x="17337" y="4914"/>
                      <a:pt x="17079" y="1299"/>
                      <a:pt x="14349" y="9"/>
                    </a:cubicBezTo>
                    <a:cubicBezTo>
                      <a:pt x="14256" y="3"/>
                      <a:pt x="14163" y="0"/>
                      <a:pt x="14070" y="0"/>
                    </a:cubicBezTo>
                    <a:close/>
                  </a:path>
                </a:pathLst>
              </a:custGeom>
              <a:solidFill>
                <a:schemeClr val="accent1"/>
              </a:solidFill>
              <a:ln cap="flat" cmpd="sng" w="2857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Be Vietnam Pro"/>
                  <a:ea typeface="Be Vietnam Pro"/>
                  <a:cs typeface="Be Vietnam Pro"/>
                  <a:sym typeface="Be Vietnam Pro"/>
                </a:endParaRPr>
              </a:p>
            </p:txBody>
          </p:sp>
          <p:sp>
            <p:nvSpPr>
              <p:cNvPr id="820" name="Google Shape;820;p41"/>
              <p:cNvSpPr/>
              <p:nvPr/>
            </p:nvSpPr>
            <p:spPr>
              <a:xfrm>
                <a:off x="938363" y="2111352"/>
                <a:ext cx="359830" cy="639357"/>
              </a:xfrm>
              <a:custGeom>
                <a:rect b="b" l="l" r="r" t="t"/>
                <a:pathLst>
                  <a:path extrusionOk="0" h="36441" w="20509">
                    <a:moveTo>
                      <a:pt x="14881" y="811"/>
                    </a:moveTo>
                    <a:cubicBezTo>
                      <a:pt x="14974" y="811"/>
                      <a:pt x="15067" y="814"/>
                      <a:pt x="15160" y="820"/>
                    </a:cubicBezTo>
                    <a:cubicBezTo>
                      <a:pt x="17853" y="2110"/>
                      <a:pt x="18148" y="5725"/>
                      <a:pt x="17816" y="8492"/>
                    </a:cubicBezTo>
                    <a:cubicBezTo>
                      <a:pt x="17521" y="11037"/>
                      <a:pt x="17152" y="13582"/>
                      <a:pt x="17004" y="16127"/>
                    </a:cubicBezTo>
                    <a:cubicBezTo>
                      <a:pt x="16894" y="18819"/>
                      <a:pt x="16931" y="21512"/>
                      <a:pt x="17152" y="24205"/>
                    </a:cubicBezTo>
                    <a:cubicBezTo>
                      <a:pt x="17263" y="25533"/>
                      <a:pt x="17410" y="26897"/>
                      <a:pt x="17631" y="28188"/>
                    </a:cubicBezTo>
                    <a:cubicBezTo>
                      <a:pt x="17816" y="29516"/>
                      <a:pt x="18332" y="30955"/>
                      <a:pt x="18332" y="32283"/>
                    </a:cubicBezTo>
                    <a:cubicBezTo>
                      <a:pt x="18295" y="33278"/>
                      <a:pt x="17484" y="34643"/>
                      <a:pt x="16672" y="35049"/>
                    </a:cubicBezTo>
                    <a:cubicBezTo>
                      <a:pt x="15935" y="35270"/>
                      <a:pt x="15160" y="35418"/>
                      <a:pt x="14422" y="35455"/>
                    </a:cubicBezTo>
                    <a:cubicBezTo>
                      <a:pt x="13967" y="35521"/>
                      <a:pt x="13508" y="35561"/>
                      <a:pt x="13054" y="35561"/>
                    </a:cubicBezTo>
                    <a:cubicBezTo>
                      <a:pt x="12000" y="35561"/>
                      <a:pt x="10972" y="35347"/>
                      <a:pt x="10070" y="34754"/>
                    </a:cubicBezTo>
                    <a:cubicBezTo>
                      <a:pt x="7009" y="32688"/>
                      <a:pt x="9738" y="28631"/>
                      <a:pt x="10513" y="25975"/>
                    </a:cubicBezTo>
                    <a:cubicBezTo>
                      <a:pt x="11841" y="21069"/>
                      <a:pt x="11435" y="15906"/>
                      <a:pt x="11066" y="10926"/>
                    </a:cubicBezTo>
                    <a:cubicBezTo>
                      <a:pt x="11043" y="10693"/>
                      <a:pt x="10842" y="10548"/>
                      <a:pt x="10642" y="10548"/>
                    </a:cubicBezTo>
                    <a:cubicBezTo>
                      <a:pt x="10525" y="10548"/>
                      <a:pt x="10409" y="10596"/>
                      <a:pt x="10328" y="10705"/>
                    </a:cubicBezTo>
                    <a:cubicBezTo>
                      <a:pt x="10264" y="10640"/>
                      <a:pt x="10175" y="10601"/>
                      <a:pt x="10090" y="10601"/>
                    </a:cubicBezTo>
                    <a:cubicBezTo>
                      <a:pt x="10028" y="10601"/>
                      <a:pt x="9969" y="10622"/>
                      <a:pt x="9922" y="10668"/>
                    </a:cubicBezTo>
                    <a:cubicBezTo>
                      <a:pt x="9111" y="11442"/>
                      <a:pt x="8300" y="12254"/>
                      <a:pt x="7488" y="13065"/>
                    </a:cubicBezTo>
                    <a:lnTo>
                      <a:pt x="6381" y="14135"/>
                    </a:lnTo>
                    <a:cubicBezTo>
                      <a:pt x="5722" y="14794"/>
                      <a:pt x="5711" y="14953"/>
                      <a:pt x="4874" y="14953"/>
                    </a:cubicBezTo>
                    <a:cubicBezTo>
                      <a:pt x="4775" y="14953"/>
                      <a:pt x="4663" y="14950"/>
                      <a:pt x="4537" y="14947"/>
                    </a:cubicBezTo>
                    <a:cubicBezTo>
                      <a:pt x="3246" y="14910"/>
                      <a:pt x="2951" y="14430"/>
                      <a:pt x="2324" y="13434"/>
                    </a:cubicBezTo>
                    <a:cubicBezTo>
                      <a:pt x="1955" y="12881"/>
                      <a:pt x="1660" y="12328"/>
                      <a:pt x="1439" y="11738"/>
                    </a:cubicBezTo>
                    <a:cubicBezTo>
                      <a:pt x="775" y="10115"/>
                      <a:pt x="1181" y="8381"/>
                      <a:pt x="2693" y="7422"/>
                    </a:cubicBezTo>
                    <a:lnTo>
                      <a:pt x="8410" y="3881"/>
                    </a:lnTo>
                    <a:cubicBezTo>
                      <a:pt x="10363" y="2603"/>
                      <a:pt x="12487" y="811"/>
                      <a:pt x="14881" y="811"/>
                    </a:cubicBezTo>
                    <a:close/>
                    <a:moveTo>
                      <a:pt x="13996" y="1"/>
                    </a:moveTo>
                    <a:cubicBezTo>
                      <a:pt x="13878" y="1"/>
                      <a:pt x="13795" y="97"/>
                      <a:pt x="13795" y="192"/>
                    </a:cubicBezTo>
                    <a:cubicBezTo>
                      <a:pt x="11177" y="598"/>
                      <a:pt x="8742" y="2774"/>
                      <a:pt x="6640" y="4102"/>
                    </a:cubicBezTo>
                    <a:cubicBezTo>
                      <a:pt x="4869" y="5172"/>
                      <a:pt x="2914" y="6168"/>
                      <a:pt x="1291" y="7459"/>
                    </a:cubicBezTo>
                    <a:cubicBezTo>
                      <a:pt x="295" y="8233"/>
                      <a:pt x="0" y="8713"/>
                      <a:pt x="148" y="9967"/>
                    </a:cubicBezTo>
                    <a:cubicBezTo>
                      <a:pt x="332" y="11848"/>
                      <a:pt x="2029" y="15684"/>
                      <a:pt x="4095" y="16238"/>
                    </a:cubicBezTo>
                    <a:cubicBezTo>
                      <a:pt x="4253" y="16277"/>
                      <a:pt x="4400" y="16296"/>
                      <a:pt x="4538" y="16296"/>
                    </a:cubicBezTo>
                    <a:cubicBezTo>
                      <a:pt x="5168" y="16296"/>
                      <a:pt x="5609" y="15910"/>
                      <a:pt x="6123" y="15426"/>
                    </a:cubicBezTo>
                    <a:cubicBezTo>
                      <a:pt x="7599" y="14098"/>
                      <a:pt x="8927" y="12549"/>
                      <a:pt x="10218" y="11074"/>
                    </a:cubicBezTo>
                    <a:cubicBezTo>
                      <a:pt x="10513" y="14983"/>
                      <a:pt x="10808" y="18967"/>
                      <a:pt x="10254" y="22877"/>
                    </a:cubicBezTo>
                    <a:cubicBezTo>
                      <a:pt x="9959" y="24795"/>
                      <a:pt x="9443" y="26676"/>
                      <a:pt x="8742" y="28483"/>
                    </a:cubicBezTo>
                    <a:cubicBezTo>
                      <a:pt x="8300" y="29664"/>
                      <a:pt x="7746" y="30881"/>
                      <a:pt x="7746" y="32172"/>
                    </a:cubicBezTo>
                    <a:cubicBezTo>
                      <a:pt x="7820" y="34459"/>
                      <a:pt x="9627" y="35971"/>
                      <a:pt x="11804" y="36303"/>
                    </a:cubicBezTo>
                    <a:cubicBezTo>
                      <a:pt x="12281" y="36389"/>
                      <a:pt x="12891" y="36440"/>
                      <a:pt x="13552" y="36440"/>
                    </a:cubicBezTo>
                    <a:cubicBezTo>
                      <a:pt x="15443" y="36440"/>
                      <a:pt x="17762" y="36021"/>
                      <a:pt x="18664" y="34791"/>
                    </a:cubicBezTo>
                    <a:cubicBezTo>
                      <a:pt x="19291" y="33942"/>
                      <a:pt x="19254" y="32947"/>
                      <a:pt x="19107" y="31951"/>
                    </a:cubicBezTo>
                    <a:cubicBezTo>
                      <a:pt x="18849" y="30143"/>
                      <a:pt x="18443" y="28373"/>
                      <a:pt x="18222" y="26565"/>
                    </a:cubicBezTo>
                    <a:cubicBezTo>
                      <a:pt x="17742" y="22582"/>
                      <a:pt x="17631" y="18561"/>
                      <a:pt x="17927" y="14541"/>
                    </a:cubicBezTo>
                    <a:cubicBezTo>
                      <a:pt x="18222" y="10631"/>
                      <a:pt x="20509" y="2037"/>
                      <a:pt x="15381" y="303"/>
                    </a:cubicBezTo>
                    <a:cubicBezTo>
                      <a:pt x="15345" y="229"/>
                      <a:pt x="15308" y="156"/>
                      <a:pt x="15234" y="156"/>
                    </a:cubicBezTo>
                    <a:lnTo>
                      <a:pt x="14976" y="156"/>
                    </a:lnTo>
                    <a:cubicBezTo>
                      <a:pt x="14681" y="82"/>
                      <a:pt x="14349" y="45"/>
                      <a:pt x="14054" y="8"/>
                    </a:cubicBezTo>
                    <a:cubicBezTo>
                      <a:pt x="14034" y="3"/>
                      <a:pt x="14015" y="1"/>
                      <a:pt x="13996"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Be Vietnam Pro"/>
                  <a:ea typeface="Be Vietnam Pro"/>
                  <a:cs typeface="Be Vietnam Pro"/>
                  <a:sym typeface="Be Vietnam Pro"/>
                </a:endParaRPr>
              </a:p>
            </p:txBody>
          </p:sp>
        </p:grpSp>
      </p:grpSp>
      <p:grpSp>
        <p:nvGrpSpPr>
          <p:cNvPr id="821" name="Google Shape;821;p41"/>
          <p:cNvGrpSpPr/>
          <p:nvPr/>
        </p:nvGrpSpPr>
        <p:grpSpPr>
          <a:xfrm>
            <a:off x="5978917" y="171883"/>
            <a:ext cx="5958172" cy="710678"/>
            <a:chOff x="642754" y="5327442"/>
            <a:chExt cx="5557932" cy="1115169"/>
          </a:xfrm>
        </p:grpSpPr>
        <p:grpSp>
          <p:nvGrpSpPr>
            <p:cNvPr id="822" name="Google Shape;822;p41"/>
            <p:cNvGrpSpPr/>
            <p:nvPr/>
          </p:nvGrpSpPr>
          <p:grpSpPr>
            <a:xfrm>
              <a:off x="642754" y="5399059"/>
              <a:ext cx="5557932" cy="989041"/>
              <a:chOff x="508001" y="5399059"/>
              <a:chExt cx="5557932" cy="989041"/>
            </a:xfrm>
          </p:grpSpPr>
          <p:sp>
            <p:nvSpPr>
              <p:cNvPr id="823" name="Google Shape;823;p41"/>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24" name="Google Shape;824;p41"/>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825" name="Google Shape;825;p41"/>
            <p:cNvGrpSpPr/>
            <p:nvPr/>
          </p:nvGrpSpPr>
          <p:grpSpPr>
            <a:xfrm>
              <a:off x="842194" y="5327442"/>
              <a:ext cx="894759" cy="905639"/>
              <a:chOff x="707441" y="5327442"/>
              <a:chExt cx="894759" cy="905639"/>
            </a:xfrm>
          </p:grpSpPr>
          <p:sp>
            <p:nvSpPr>
              <p:cNvPr id="826" name="Google Shape;826;p41"/>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827" name="Google Shape;827;p41"/>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828" name="Google Shape;828;p41"/>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0" st="0"/>
                                            </p:txEl>
                                          </p:spTgt>
                                        </p:tgtEl>
                                        <p:attrNameLst>
                                          <p:attrName>style.visibility</p:attrName>
                                        </p:attrNameLst>
                                      </p:cBhvr>
                                      <p:to>
                                        <p:strVal val="visible"/>
                                      </p:to>
                                    </p:set>
                                    <p:animEffect filter="fade" transition="in">
                                      <p:cBhvr>
                                        <p:cTn dur="750"/>
                                        <p:tgtEl>
                                          <p:spTgt spid="8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1" st="1"/>
                                            </p:txEl>
                                          </p:spTgt>
                                        </p:tgtEl>
                                        <p:attrNameLst>
                                          <p:attrName>style.visibility</p:attrName>
                                        </p:attrNameLst>
                                      </p:cBhvr>
                                      <p:to>
                                        <p:strVal val="visible"/>
                                      </p:to>
                                    </p:set>
                                    <p:animEffect filter="fade" transition="in">
                                      <p:cBhvr>
                                        <p:cTn dur="750"/>
                                        <p:tgtEl>
                                          <p:spTgt spid="8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2" st="2"/>
                                            </p:txEl>
                                          </p:spTgt>
                                        </p:tgtEl>
                                        <p:attrNameLst>
                                          <p:attrName>style.visibility</p:attrName>
                                        </p:attrNameLst>
                                      </p:cBhvr>
                                      <p:to>
                                        <p:strVal val="visible"/>
                                      </p:to>
                                    </p:set>
                                    <p:animEffect filter="fade" transition="in">
                                      <p:cBhvr>
                                        <p:cTn dur="750"/>
                                        <p:tgtEl>
                                          <p:spTgt spid="8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3" st="3"/>
                                            </p:txEl>
                                          </p:spTgt>
                                        </p:tgtEl>
                                        <p:attrNameLst>
                                          <p:attrName>style.visibility</p:attrName>
                                        </p:attrNameLst>
                                      </p:cBhvr>
                                      <p:to>
                                        <p:strVal val="visible"/>
                                      </p:to>
                                    </p:set>
                                    <p:animEffect filter="fade" transition="in">
                                      <p:cBhvr>
                                        <p:cTn dur="750"/>
                                        <p:tgtEl>
                                          <p:spTgt spid="8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4" st="4"/>
                                            </p:txEl>
                                          </p:spTgt>
                                        </p:tgtEl>
                                        <p:attrNameLst>
                                          <p:attrName>style.visibility</p:attrName>
                                        </p:attrNameLst>
                                      </p:cBhvr>
                                      <p:to>
                                        <p:strVal val="visible"/>
                                      </p:to>
                                    </p:set>
                                    <p:animEffect filter="fade" transition="in">
                                      <p:cBhvr>
                                        <p:cTn dur="750"/>
                                        <p:tgtEl>
                                          <p:spTgt spid="8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2">
                                            <p:txEl>
                                              <p:pRg end="5" st="5"/>
                                            </p:txEl>
                                          </p:spTgt>
                                        </p:tgtEl>
                                        <p:attrNameLst>
                                          <p:attrName>style.visibility</p:attrName>
                                        </p:attrNameLst>
                                      </p:cBhvr>
                                      <p:to>
                                        <p:strVal val="visible"/>
                                      </p:to>
                                    </p:set>
                                    <p:animEffect filter="fade" transition="in">
                                      <p:cBhvr>
                                        <p:cTn dur="750"/>
                                        <p:tgtEl>
                                          <p:spTgt spid="812">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pic>
        <p:nvPicPr>
          <p:cNvPr id="833" name="Google Shape;833;p17"/>
          <p:cNvPicPr preferRelativeResize="0"/>
          <p:nvPr/>
        </p:nvPicPr>
        <p:blipFill rotWithShape="1">
          <a:blip r:embed="rId3">
            <a:alphaModFix/>
          </a:blip>
          <a:srcRect b="0" l="0" r="0" t="0"/>
          <a:stretch/>
        </p:blipFill>
        <p:spPr>
          <a:xfrm>
            <a:off x="0" y="1997381"/>
            <a:ext cx="6173693" cy="4115795"/>
          </a:xfrm>
          <a:prstGeom prst="rect">
            <a:avLst/>
          </a:prstGeom>
          <a:noFill/>
          <a:ln>
            <a:noFill/>
          </a:ln>
        </p:spPr>
      </p:pic>
      <p:sp>
        <p:nvSpPr>
          <p:cNvPr id="834" name="Google Shape;834;p17"/>
          <p:cNvSpPr/>
          <p:nvPr/>
        </p:nvSpPr>
        <p:spPr>
          <a:xfrm>
            <a:off x="1117510" y="1252002"/>
            <a:ext cx="49784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Lập kế hoạch kiểm thử</a:t>
            </a:r>
            <a:endParaRPr b="0" i="0" sz="2400" u="none" cap="none" strike="noStrike">
              <a:solidFill>
                <a:srgbClr val="000000"/>
              </a:solidFill>
              <a:latin typeface="Be Vietnam Pro"/>
              <a:ea typeface="Be Vietnam Pro"/>
              <a:cs typeface="Be Vietnam Pro"/>
              <a:sym typeface="Be Vietnam Pro"/>
            </a:endParaRPr>
          </a:p>
        </p:txBody>
      </p:sp>
      <p:grpSp>
        <p:nvGrpSpPr>
          <p:cNvPr id="835" name="Google Shape;835;p17"/>
          <p:cNvGrpSpPr/>
          <p:nvPr/>
        </p:nvGrpSpPr>
        <p:grpSpPr>
          <a:xfrm>
            <a:off x="622133" y="1102360"/>
            <a:ext cx="886627" cy="532079"/>
            <a:chOff x="5849350" y="1690730"/>
            <a:chExt cx="706113" cy="613891"/>
          </a:xfrm>
        </p:grpSpPr>
        <p:grpSp>
          <p:nvGrpSpPr>
            <p:cNvPr id="836" name="Google Shape;836;p17"/>
            <p:cNvGrpSpPr/>
            <p:nvPr/>
          </p:nvGrpSpPr>
          <p:grpSpPr>
            <a:xfrm>
              <a:off x="5849350" y="1690730"/>
              <a:ext cx="706113" cy="613891"/>
              <a:chOff x="1240825" y="240075"/>
              <a:chExt cx="5918800" cy="5145775"/>
            </a:xfrm>
          </p:grpSpPr>
          <p:sp>
            <p:nvSpPr>
              <p:cNvPr id="837" name="Google Shape;837;p17"/>
              <p:cNvSpPr/>
              <p:nvPr/>
            </p:nvSpPr>
            <p:spPr>
              <a:xfrm>
                <a:off x="1409958" y="323664"/>
                <a:ext cx="5749627" cy="4943148"/>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38" name="Google Shape;838;p17"/>
              <p:cNvSpPr/>
              <p:nvPr/>
            </p:nvSpPr>
            <p:spPr>
              <a:xfrm>
                <a:off x="1240825" y="240075"/>
                <a:ext cx="5918800" cy="5145775"/>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grpSp>
          <p:nvGrpSpPr>
            <p:cNvPr id="839" name="Google Shape;839;p17"/>
            <p:cNvGrpSpPr/>
            <p:nvPr/>
          </p:nvGrpSpPr>
          <p:grpSpPr>
            <a:xfrm>
              <a:off x="6038445" y="1845530"/>
              <a:ext cx="224021" cy="304400"/>
              <a:chOff x="2570551" y="2117230"/>
              <a:chExt cx="466030" cy="633111"/>
            </a:xfrm>
          </p:grpSpPr>
          <p:sp>
            <p:nvSpPr>
              <p:cNvPr id="840" name="Google Shape;840;p17"/>
              <p:cNvSpPr/>
              <p:nvPr/>
            </p:nvSpPr>
            <p:spPr>
              <a:xfrm>
                <a:off x="2617223" y="2131951"/>
                <a:ext cx="414185" cy="604618"/>
              </a:xfrm>
              <a:custGeom>
                <a:rect b="b" l="l" r="r" t="t"/>
                <a:pathLst>
                  <a:path extrusionOk="0" h="34461" w="23607">
                    <a:moveTo>
                      <a:pt x="11943" y="0"/>
                    </a:moveTo>
                    <a:cubicBezTo>
                      <a:pt x="7187" y="0"/>
                      <a:pt x="2026" y="1966"/>
                      <a:pt x="517" y="6580"/>
                    </a:cubicBezTo>
                    <a:cubicBezTo>
                      <a:pt x="74" y="7871"/>
                      <a:pt x="0" y="9273"/>
                      <a:pt x="332" y="10600"/>
                    </a:cubicBezTo>
                    <a:cubicBezTo>
                      <a:pt x="517" y="11338"/>
                      <a:pt x="1033" y="12482"/>
                      <a:pt x="1660" y="12961"/>
                    </a:cubicBezTo>
                    <a:lnTo>
                      <a:pt x="4168" y="13883"/>
                    </a:lnTo>
                    <a:cubicBezTo>
                      <a:pt x="4832" y="13662"/>
                      <a:pt x="5386" y="13219"/>
                      <a:pt x="5791" y="12666"/>
                    </a:cubicBezTo>
                    <a:cubicBezTo>
                      <a:pt x="7451" y="10895"/>
                      <a:pt x="8447" y="9383"/>
                      <a:pt x="10697" y="8350"/>
                    </a:cubicBezTo>
                    <a:cubicBezTo>
                      <a:pt x="10728" y="8330"/>
                      <a:pt x="10759" y="8321"/>
                      <a:pt x="10788" y="8321"/>
                    </a:cubicBezTo>
                    <a:cubicBezTo>
                      <a:pt x="10864" y="8321"/>
                      <a:pt x="10929" y="8381"/>
                      <a:pt x="10955" y="8461"/>
                    </a:cubicBezTo>
                    <a:cubicBezTo>
                      <a:pt x="11715" y="8192"/>
                      <a:pt x="12510" y="8018"/>
                      <a:pt x="13291" y="8018"/>
                    </a:cubicBezTo>
                    <a:cubicBezTo>
                      <a:pt x="14330" y="8018"/>
                      <a:pt x="15346" y="8325"/>
                      <a:pt x="16230" y="9125"/>
                    </a:cubicBezTo>
                    <a:cubicBezTo>
                      <a:pt x="17742" y="10490"/>
                      <a:pt x="17705" y="12555"/>
                      <a:pt x="16709" y="14252"/>
                    </a:cubicBezTo>
                    <a:cubicBezTo>
                      <a:pt x="15271" y="16760"/>
                      <a:pt x="12394" y="18273"/>
                      <a:pt x="9996" y="19711"/>
                    </a:cubicBezTo>
                    <a:cubicBezTo>
                      <a:pt x="7008" y="21518"/>
                      <a:pt x="3799" y="23363"/>
                      <a:pt x="2029" y="26498"/>
                    </a:cubicBezTo>
                    <a:cubicBezTo>
                      <a:pt x="922" y="28453"/>
                      <a:pt x="111" y="31736"/>
                      <a:pt x="2398" y="33211"/>
                    </a:cubicBezTo>
                    <a:cubicBezTo>
                      <a:pt x="3836" y="34133"/>
                      <a:pt x="5717" y="34096"/>
                      <a:pt x="7340" y="34133"/>
                    </a:cubicBezTo>
                    <a:cubicBezTo>
                      <a:pt x="10005" y="34219"/>
                      <a:pt x="12713" y="34461"/>
                      <a:pt x="15397" y="34461"/>
                    </a:cubicBezTo>
                    <a:cubicBezTo>
                      <a:pt x="16169" y="34461"/>
                      <a:pt x="16939" y="34441"/>
                      <a:pt x="17705" y="34391"/>
                    </a:cubicBezTo>
                    <a:cubicBezTo>
                      <a:pt x="20287" y="34244"/>
                      <a:pt x="22095" y="33027"/>
                      <a:pt x="22500" y="30297"/>
                    </a:cubicBezTo>
                    <a:cubicBezTo>
                      <a:pt x="22722" y="28637"/>
                      <a:pt x="23201" y="25207"/>
                      <a:pt x="20877" y="24801"/>
                    </a:cubicBezTo>
                    <a:cubicBezTo>
                      <a:pt x="20683" y="24763"/>
                      <a:pt x="20477" y="24746"/>
                      <a:pt x="20262" y="24746"/>
                    </a:cubicBezTo>
                    <a:cubicBezTo>
                      <a:pt x="18609" y="24746"/>
                      <a:pt x="16453" y="25770"/>
                      <a:pt x="15049" y="26129"/>
                    </a:cubicBezTo>
                    <a:cubicBezTo>
                      <a:pt x="13168" y="26609"/>
                      <a:pt x="11250" y="27088"/>
                      <a:pt x="9332" y="27494"/>
                    </a:cubicBezTo>
                    <a:cubicBezTo>
                      <a:pt x="9299" y="27507"/>
                      <a:pt x="9267" y="27513"/>
                      <a:pt x="9237" y="27513"/>
                    </a:cubicBezTo>
                    <a:cubicBezTo>
                      <a:pt x="9101" y="27513"/>
                      <a:pt x="9007" y="27387"/>
                      <a:pt x="9037" y="27236"/>
                    </a:cubicBezTo>
                    <a:cubicBezTo>
                      <a:pt x="8668" y="27125"/>
                      <a:pt x="8595" y="26645"/>
                      <a:pt x="8890" y="26461"/>
                    </a:cubicBezTo>
                    <a:cubicBezTo>
                      <a:pt x="13980" y="23400"/>
                      <a:pt x="19254" y="19932"/>
                      <a:pt x="21504" y="14178"/>
                    </a:cubicBezTo>
                    <a:cubicBezTo>
                      <a:pt x="23607" y="8867"/>
                      <a:pt x="21763" y="1822"/>
                      <a:pt x="15640" y="420"/>
                    </a:cubicBezTo>
                    <a:cubicBezTo>
                      <a:pt x="14491" y="145"/>
                      <a:pt x="13232" y="0"/>
                      <a:pt x="11943" y="0"/>
                    </a:cubicBezTo>
                    <a:close/>
                  </a:path>
                </a:pathLst>
              </a:custGeom>
              <a:solidFill>
                <a:schemeClr val="accent2"/>
              </a:solidFill>
              <a:ln cap="flat" cmpd="sng" w="2857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41" name="Google Shape;841;p17"/>
              <p:cNvSpPr/>
              <p:nvPr/>
            </p:nvSpPr>
            <p:spPr>
              <a:xfrm>
                <a:off x="2570551" y="2117230"/>
                <a:ext cx="466030" cy="633111"/>
              </a:xfrm>
              <a:custGeom>
                <a:rect b="b" l="l" r="r" t="t"/>
                <a:pathLst>
                  <a:path extrusionOk="0" h="36085" w="26562">
                    <a:moveTo>
                      <a:pt x="14673" y="822"/>
                    </a:moveTo>
                    <a:cubicBezTo>
                      <a:pt x="15938" y="822"/>
                      <a:pt x="17172" y="960"/>
                      <a:pt x="18300" y="1222"/>
                    </a:cubicBezTo>
                    <a:cubicBezTo>
                      <a:pt x="24423" y="2661"/>
                      <a:pt x="26267" y="9706"/>
                      <a:pt x="24201" y="15017"/>
                    </a:cubicBezTo>
                    <a:cubicBezTo>
                      <a:pt x="21914" y="20771"/>
                      <a:pt x="16640" y="24239"/>
                      <a:pt x="11550" y="27300"/>
                    </a:cubicBezTo>
                    <a:cubicBezTo>
                      <a:pt x="11255" y="27484"/>
                      <a:pt x="11328" y="27964"/>
                      <a:pt x="11660" y="28075"/>
                    </a:cubicBezTo>
                    <a:cubicBezTo>
                      <a:pt x="11627" y="28207"/>
                      <a:pt x="11771" y="28339"/>
                      <a:pt x="11934" y="28339"/>
                    </a:cubicBezTo>
                    <a:cubicBezTo>
                      <a:pt x="11953" y="28339"/>
                      <a:pt x="11973" y="28337"/>
                      <a:pt x="11992" y="28333"/>
                    </a:cubicBezTo>
                    <a:cubicBezTo>
                      <a:pt x="13910" y="27927"/>
                      <a:pt x="15791" y="27448"/>
                      <a:pt x="17709" y="26968"/>
                    </a:cubicBezTo>
                    <a:cubicBezTo>
                      <a:pt x="19113" y="26609"/>
                      <a:pt x="21269" y="25585"/>
                      <a:pt x="22922" y="25585"/>
                    </a:cubicBezTo>
                    <a:cubicBezTo>
                      <a:pt x="23137" y="25585"/>
                      <a:pt x="23343" y="25602"/>
                      <a:pt x="23537" y="25640"/>
                    </a:cubicBezTo>
                    <a:cubicBezTo>
                      <a:pt x="25824" y="26046"/>
                      <a:pt x="25418" y="29476"/>
                      <a:pt x="25160" y="31136"/>
                    </a:cubicBezTo>
                    <a:cubicBezTo>
                      <a:pt x="24755" y="33866"/>
                      <a:pt x="22947" y="35120"/>
                      <a:pt x="20328" y="35267"/>
                    </a:cubicBezTo>
                    <a:cubicBezTo>
                      <a:pt x="19608" y="35306"/>
                      <a:pt x="18884" y="35322"/>
                      <a:pt x="18158" y="35322"/>
                    </a:cubicBezTo>
                    <a:cubicBezTo>
                      <a:pt x="15429" y="35322"/>
                      <a:pt x="12673" y="35096"/>
                      <a:pt x="9964" y="35009"/>
                    </a:cubicBezTo>
                    <a:cubicBezTo>
                      <a:pt x="8377" y="34935"/>
                      <a:pt x="6459" y="35009"/>
                      <a:pt x="5058" y="34087"/>
                    </a:cubicBezTo>
                    <a:cubicBezTo>
                      <a:pt x="2771" y="32612"/>
                      <a:pt x="3546" y="29329"/>
                      <a:pt x="4652" y="27374"/>
                    </a:cubicBezTo>
                    <a:cubicBezTo>
                      <a:pt x="6459" y="24239"/>
                      <a:pt x="9632" y="22394"/>
                      <a:pt x="12656" y="20587"/>
                    </a:cubicBezTo>
                    <a:cubicBezTo>
                      <a:pt x="15054" y="19148"/>
                      <a:pt x="17931" y="17599"/>
                      <a:pt x="19369" y="15091"/>
                    </a:cubicBezTo>
                    <a:cubicBezTo>
                      <a:pt x="20365" y="13394"/>
                      <a:pt x="20365" y="11366"/>
                      <a:pt x="18853" y="9964"/>
                    </a:cubicBezTo>
                    <a:cubicBezTo>
                      <a:pt x="17981" y="9177"/>
                      <a:pt x="16961" y="8868"/>
                      <a:pt x="15908" y="8868"/>
                    </a:cubicBezTo>
                    <a:cubicBezTo>
                      <a:pt x="15135" y="8868"/>
                      <a:pt x="14343" y="9035"/>
                      <a:pt x="13578" y="9300"/>
                    </a:cubicBezTo>
                    <a:cubicBezTo>
                      <a:pt x="13578" y="9220"/>
                      <a:pt x="13502" y="9160"/>
                      <a:pt x="13431" y="9160"/>
                    </a:cubicBezTo>
                    <a:cubicBezTo>
                      <a:pt x="13404" y="9160"/>
                      <a:pt x="13378" y="9169"/>
                      <a:pt x="13357" y="9189"/>
                    </a:cubicBezTo>
                    <a:cubicBezTo>
                      <a:pt x="11070" y="10222"/>
                      <a:pt x="10074" y="11734"/>
                      <a:pt x="8451" y="13505"/>
                    </a:cubicBezTo>
                    <a:cubicBezTo>
                      <a:pt x="8046" y="14058"/>
                      <a:pt x="7492" y="14501"/>
                      <a:pt x="6865" y="14722"/>
                    </a:cubicBezTo>
                    <a:lnTo>
                      <a:pt x="4320" y="13800"/>
                    </a:lnTo>
                    <a:cubicBezTo>
                      <a:pt x="3693" y="13321"/>
                      <a:pt x="3214" y="12177"/>
                      <a:pt x="2992" y="11439"/>
                    </a:cubicBezTo>
                    <a:cubicBezTo>
                      <a:pt x="2697" y="10112"/>
                      <a:pt x="2734" y="8710"/>
                      <a:pt x="3177" y="7456"/>
                    </a:cubicBezTo>
                    <a:cubicBezTo>
                      <a:pt x="4693" y="2790"/>
                      <a:pt x="9898" y="822"/>
                      <a:pt x="14673" y="822"/>
                    </a:cubicBezTo>
                    <a:close/>
                    <a:moveTo>
                      <a:pt x="14768" y="0"/>
                    </a:moveTo>
                    <a:cubicBezTo>
                      <a:pt x="7731" y="0"/>
                      <a:pt x="1" y="4495"/>
                      <a:pt x="2291" y="11882"/>
                    </a:cubicBezTo>
                    <a:cubicBezTo>
                      <a:pt x="2843" y="13605"/>
                      <a:pt x="4360" y="15489"/>
                      <a:pt x="6271" y="15489"/>
                    </a:cubicBezTo>
                    <a:cubicBezTo>
                      <a:pt x="6406" y="15489"/>
                      <a:pt x="6542" y="15479"/>
                      <a:pt x="6681" y="15460"/>
                    </a:cubicBezTo>
                    <a:cubicBezTo>
                      <a:pt x="7714" y="15349"/>
                      <a:pt x="8414" y="14685"/>
                      <a:pt x="9041" y="13948"/>
                    </a:cubicBezTo>
                    <a:cubicBezTo>
                      <a:pt x="10148" y="12583"/>
                      <a:pt x="11107" y="11329"/>
                      <a:pt x="12398" y="10259"/>
                    </a:cubicBezTo>
                    <a:cubicBezTo>
                      <a:pt x="12468" y="10329"/>
                      <a:pt x="12538" y="10355"/>
                      <a:pt x="12618" y="10355"/>
                    </a:cubicBezTo>
                    <a:cubicBezTo>
                      <a:pt x="12664" y="10355"/>
                      <a:pt x="12713" y="10346"/>
                      <a:pt x="12767" y="10333"/>
                    </a:cubicBezTo>
                    <a:cubicBezTo>
                      <a:pt x="13636" y="9939"/>
                      <a:pt x="14730" y="9641"/>
                      <a:pt x="15779" y="9641"/>
                    </a:cubicBezTo>
                    <a:cubicBezTo>
                      <a:pt x="17090" y="9641"/>
                      <a:pt x="18328" y="10107"/>
                      <a:pt x="18964" y="11439"/>
                    </a:cubicBezTo>
                    <a:cubicBezTo>
                      <a:pt x="20181" y="13948"/>
                      <a:pt x="17562" y="16234"/>
                      <a:pt x="15828" y="17562"/>
                    </a:cubicBezTo>
                    <a:cubicBezTo>
                      <a:pt x="13357" y="19444"/>
                      <a:pt x="10443" y="20734"/>
                      <a:pt x="7972" y="22616"/>
                    </a:cubicBezTo>
                    <a:cubicBezTo>
                      <a:pt x="5058" y="24829"/>
                      <a:pt x="521" y="30325"/>
                      <a:pt x="3767" y="34050"/>
                    </a:cubicBezTo>
                    <a:cubicBezTo>
                      <a:pt x="5021" y="35489"/>
                      <a:pt x="7123" y="35673"/>
                      <a:pt x="8931" y="35784"/>
                    </a:cubicBezTo>
                    <a:cubicBezTo>
                      <a:pt x="12177" y="35931"/>
                      <a:pt x="15496" y="36042"/>
                      <a:pt x="18779" y="36079"/>
                    </a:cubicBezTo>
                    <a:cubicBezTo>
                      <a:pt x="18963" y="36082"/>
                      <a:pt x="19150" y="36084"/>
                      <a:pt x="19337" y="36084"/>
                    </a:cubicBezTo>
                    <a:cubicBezTo>
                      <a:pt x="21252" y="36084"/>
                      <a:pt x="23297" y="35863"/>
                      <a:pt x="24607" y="34419"/>
                    </a:cubicBezTo>
                    <a:cubicBezTo>
                      <a:pt x="26046" y="32833"/>
                      <a:pt x="26156" y="30435"/>
                      <a:pt x="26119" y="28407"/>
                    </a:cubicBezTo>
                    <a:cubicBezTo>
                      <a:pt x="26049" y="26460"/>
                      <a:pt x="25299" y="24820"/>
                      <a:pt x="23186" y="24820"/>
                    </a:cubicBezTo>
                    <a:cubicBezTo>
                      <a:pt x="23097" y="24820"/>
                      <a:pt x="23005" y="24823"/>
                      <a:pt x="22910" y="24829"/>
                    </a:cubicBezTo>
                    <a:cubicBezTo>
                      <a:pt x="21398" y="24903"/>
                      <a:pt x="19812" y="25530"/>
                      <a:pt x="18300" y="25935"/>
                    </a:cubicBezTo>
                    <a:cubicBezTo>
                      <a:pt x="16418" y="26452"/>
                      <a:pt x="14574" y="26968"/>
                      <a:pt x="12730" y="27521"/>
                    </a:cubicBezTo>
                    <a:cubicBezTo>
                      <a:pt x="17377" y="24755"/>
                      <a:pt x="21988" y="21472"/>
                      <a:pt x="24386" y="16493"/>
                    </a:cubicBezTo>
                    <a:cubicBezTo>
                      <a:pt x="26562" y="11993"/>
                      <a:pt x="26451" y="6275"/>
                      <a:pt x="22652" y="2661"/>
                    </a:cubicBezTo>
                    <a:cubicBezTo>
                      <a:pt x="20735" y="844"/>
                      <a:pt x="17816" y="0"/>
                      <a:pt x="14768" y="0"/>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grpSp>
      <p:sp>
        <p:nvSpPr>
          <p:cNvPr id="842" name="Google Shape;842;p17"/>
          <p:cNvSpPr txBox="1"/>
          <p:nvPr/>
        </p:nvSpPr>
        <p:spPr>
          <a:xfrm>
            <a:off x="5459506" y="1869197"/>
            <a:ext cx="6352867" cy="5046766"/>
          </a:xfrm>
          <a:prstGeom prst="rect">
            <a:avLst/>
          </a:prstGeom>
          <a:noFill/>
          <a:ln>
            <a:noFill/>
          </a:ln>
        </p:spPr>
        <p:txBody>
          <a:bodyPr anchorCtr="0" anchor="t" bIns="45700" lIns="91425" spcFirstLastPara="1" rIns="91425" wrap="square" tIns="45700">
            <a:spAutoFit/>
          </a:bodyPr>
          <a:lstStyle/>
          <a:p>
            <a:pPr indent="-285750" lvl="0" marL="514350" marR="0" rtl="0" algn="l">
              <a:lnSpc>
                <a:spcPct val="107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Thông thường, quản lý hoặc trưởng nhóm sẽ là người tạo kế hoạch kiểm thử.</a:t>
            </a:r>
            <a:endParaRPr b="0" i="0" sz="1800" u="none" cap="none" strike="noStrike">
              <a:solidFill>
                <a:srgbClr val="000000"/>
              </a:solidFill>
              <a:latin typeface="Calibri"/>
              <a:ea typeface="Calibri"/>
              <a:cs typeface="Calibri"/>
              <a:sym typeface="Calibri"/>
            </a:endParaRPr>
          </a:p>
          <a:p>
            <a:pPr indent="-285750" lvl="0" marL="5143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Lập kế hoạch thử nghiệm sử dụng những hiểu biết sâu sắc có được trong quá trình phân tích yêu cầu hoặc sản phẩm và biến chúng thành một chiến lược QA được lập thành văn bản.</a:t>
            </a:r>
            <a:endParaRPr/>
          </a:p>
          <a:p>
            <a:pPr indent="-285750" lvl="0" marL="5143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Mục tiêu của bước lập kế hoạch kiểm thử là xác định được các hoạt động, nguồn lực, phạm vi, tiêu chí chấp nhận của sản phẩm và các mốc thời gian bàn giao.</a:t>
            </a:r>
            <a:endParaRPr/>
          </a:p>
          <a:p>
            <a:pPr indent="-285750" lvl="0" marL="5143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Cuối cùng , nhóm kiểm thử có thể xác định những gì họ sẽ cung cấp khi hoàn thành các giai đoạn STLC.</a:t>
            </a:r>
            <a:endParaRPr/>
          </a:p>
          <a:p>
            <a:pPr indent="0" lvl="0" marL="228600" marR="0" rtl="0" algn="l">
              <a:lnSpc>
                <a:spcPct val="107000"/>
              </a:lnSpc>
              <a:spcBef>
                <a:spcPts val="800"/>
              </a:spcBef>
              <a:spcAft>
                <a:spcPts val="0"/>
              </a:spcAft>
              <a:buNone/>
            </a:pPr>
            <a:r>
              <a:t/>
            </a:r>
            <a:endParaRPr b="0" i="0" sz="1800" u="none" cap="none" strike="noStrike">
              <a:solidFill>
                <a:srgbClr val="000000"/>
              </a:solidFill>
              <a:latin typeface="Calibri"/>
              <a:ea typeface="Calibri"/>
              <a:cs typeface="Calibri"/>
              <a:sym typeface="Calibri"/>
            </a:endParaRPr>
          </a:p>
          <a:p>
            <a:pPr indent="-196850" lvl="0" marL="285750" marR="0" rtl="0" algn="l">
              <a:lnSpc>
                <a:spcPct val="100000"/>
              </a:lnSpc>
              <a:spcBef>
                <a:spcPts val="1400"/>
              </a:spcBef>
              <a:spcAft>
                <a:spcPts val="0"/>
              </a:spcAft>
              <a:buClr>
                <a:srgbClr val="000000"/>
              </a:buClr>
              <a:buSzPts val="1400"/>
              <a:buFont typeface="Noto Sans Symbols"/>
              <a:buNone/>
            </a:pPr>
            <a:r>
              <a:t/>
            </a:r>
            <a:endParaRPr b="0" i="0" sz="1400" u="none" cap="none" strike="noStrike">
              <a:solidFill>
                <a:srgbClr val="000000"/>
              </a:solidFill>
              <a:latin typeface="Be Vietnam Pro"/>
              <a:ea typeface="Be Vietnam Pro"/>
              <a:cs typeface="Be Vietnam Pro"/>
              <a:sym typeface="Be Vietnam Pro"/>
            </a:endParaRPr>
          </a:p>
        </p:txBody>
      </p:sp>
      <p:grpSp>
        <p:nvGrpSpPr>
          <p:cNvPr id="843" name="Google Shape;843;p17"/>
          <p:cNvGrpSpPr/>
          <p:nvPr/>
        </p:nvGrpSpPr>
        <p:grpSpPr>
          <a:xfrm>
            <a:off x="5978917" y="171883"/>
            <a:ext cx="5958172" cy="710678"/>
            <a:chOff x="642754" y="5327442"/>
            <a:chExt cx="5557932" cy="1115169"/>
          </a:xfrm>
        </p:grpSpPr>
        <p:grpSp>
          <p:nvGrpSpPr>
            <p:cNvPr id="844" name="Google Shape;844;p17"/>
            <p:cNvGrpSpPr/>
            <p:nvPr/>
          </p:nvGrpSpPr>
          <p:grpSpPr>
            <a:xfrm>
              <a:off x="642754" y="5399059"/>
              <a:ext cx="5557932" cy="989041"/>
              <a:chOff x="508001" y="5399059"/>
              <a:chExt cx="5557932" cy="989041"/>
            </a:xfrm>
          </p:grpSpPr>
          <p:sp>
            <p:nvSpPr>
              <p:cNvPr id="845" name="Google Shape;845;p17"/>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46" name="Google Shape;846;p17"/>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847" name="Google Shape;847;p17"/>
            <p:cNvGrpSpPr/>
            <p:nvPr/>
          </p:nvGrpSpPr>
          <p:grpSpPr>
            <a:xfrm>
              <a:off x="842194" y="5327442"/>
              <a:ext cx="894759" cy="905639"/>
              <a:chOff x="707441" y="5327442"/>
              <a:chExt cx="894759" cy="905639"/>
            </a:xfrm>
          </p:grpSpPr>
          <p:sp>
            <p:nvSpPr>
              <p:cNvPr id="848" name="Google Shape;848;p17"/>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849" name="Google Shape;849;p17"/>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850" name="Google Shape;850;p17"/>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Google Shape;855;p18"/>
          <p:cNvSpPr/>
          <p:nvPr/>
        </p:nvSpPr>
        <p:spPr>
          <a:xfrm>
            <a:off x="1117510" y="1252002"/>
            <a:ext cx="49784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Thiết kế kịch bản kiểm thử</a:t>
            </a:r>
            <a:endParaRPr b="0" i="0" sz="2400" u="none" cap="none" strike="noStrike">
              <a:solidFill>
                <a:srgbClr val="000000"/>
              </a:solidFill>
              <a:latin typeface="Be Vietnam Pro"/>
              <a:ea typeface="Be Vietnam Pro"/>
              <a:cs typeface="Be Vietnam Pro"/>
              <a:sym typeface="Be Vietnam Pro"/>
            </a:endParaRPr>
          </a:p>
        </p:txBody>
      </p:sp>
      <p:grpSp>
        <p:nvGrpSpPr>
          <p:cNvPr id="856" name="Google Shape;856;p18"/>
          <p:cNvGrpSpPr/>
          <p:nvPr/>
        </p:nvGrpSpPr>
        <p:grpSpPr>
          <a:xfrm>
            <a:off x="674638" y="1133475"/>
            <a:ext cx="706487" cy="557505"/>
            <a:chOff x="1240825" y="240075"/>
            <a:chExt cx="5918800" cy="5145775"/>
          </a:xfrm>
        </p:grpSpPr>
        <p:sp>
          <p:nvSpPr>
            <p:cNvPr id="857" name="Google Shape;857;p18"/>
            <p:cNvSpPr/>
            <p:nvPr/>
          </p:nvSpPr>
          <p:spPr>
            <a:xfrm>
              <a:off x="1410000" y="323650"/>
              <a:ext cx="5749625" cy="4943150"/>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58" name="Google Shape;858;p18"/>
            <p:cNvSpPr/>
            <p:nvPr/>
          </p:nvSpPr>
          <p:spPr>
            <a:xfrm>
              <a:off x="1240825" y="240075"/>
              <a:ext cx="5918800" cy="5145775"/>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sp>
        <p:nvSpPr>
          <p:cNvPr id="859" name="Google Shape;859;p18"/>
          <p:cNvSpPr/>
          <p:nvPr/>
        </p:nvSpPr>
        <p:spPr>
          <a:xfrm>
            <a:off x="857250" y="1240504"/>
            <a:ext cx="278260" cy="321595"/>
          </a:xfrm>
          <a:custGeom>
            <a:rect b="b" l="l" r="r" t="t"/>
            <a:pathLst>
              <a:path extrusionOk="0" h="35649" w="28255">
                <a:moveTo>
                  <a:pt x="15285" y="1"/>
                </a:moveTo>
                <a:cubicBezTo>
                  <a:pt x="12303" y="1"/>
                  <a:pt x="9447" y="1102"/>
                  <a:pt x="7230" y="3143"/>
                </a:cubicBezTo>
                <a:cubicBezTo>
                  <a:pt x="4574" y="5615"/>
                  <a:pt x="3836" y="9119"/>
                  <a:pt x="7414" y="11258"/>
                </a:cubicBezTo>
                <a:cubicBezTo>
                  <a:pt x="7488" y="11332"/>
                  <a:pt x="7562" y="11406"/>
                  <a:pt x="7562" y="11516"/>
                </a:cubicBezTo>
                <a:cubicBezTo>
                  <a:pt x="10712" y="11516"/>
                  <a:pt x="12194" y="7521"/>
                  <a:pt x="15279" y="7521"/>
                </a:cubicBezTo>
                <a:cubicBezTo>
                  <a:pt x="15373" y="7521"/>
                  <a:pt x="15469" y="7525"/>
                  <a:pt x="15566" y="7533"/>
                </a:cubicBezTo>
                <a:cubicBezTo>
                  <a:pt x="17115" y="7680"/>
                  <a:pt x="18369" y="8787"/>
                  <a:pt x="18148" y="10373"/>
                </a:cubicBezTo>
                <a:cubicBezTo>
                  <a:pt x="18116" y="10501"/>
                  <a:pt x="18000" y="10601"/>
                  <a:pt x="17874" y="10601"/>
                </a:cubicBezTo>
                <a:cubicBezTo>
                  <a:pt x="17854" y="10601"/>
                  <a:pt x="17835" y="10599"/>
                  <a:pt x="17816" y="10594"/>
                </a:cubicBezTo>
                <a:cubicBezTo>
                  <a:pt x="17668" y="12143"/>
                  <a:pt x="15750" y="13029"/>
                  <a:pt x="14312" y="13250"/>
                </a:cubicBezTo>
                <a:cubicBezTo>
                  <a:pt x="12652" y="13471"/>
                  <a:pt x="10660" y="13066"/>
                  <a:pt x="9295" y="14246"/>
                </a:cubicBezTo>
                <a:cubicBezTo>
                  <a:pt x="8078" y="15242"/>
                  <a:pt x="8004" y="16828"/>
                  <a:pt x="8594" y="18156"/>
                </a:cubicBezTo>
                <a:cubicBezTo>
                  <a:pt x="8631" y="18156"/>
                  <a:pt x="8668" y="18156"/>
                  <a:pt x="8705" y="18193"/>
                </a:cubicBezTo>
                <a:cubicBezTo>
                  <a:pt x="9496" y="19140"/>
                  <a:pt x="10502" y="19444"/>
                  <a:pt x="11616" y="19444"/>
                </a:cubicBezTo>
                <a:cubicBezTo>
                  <a:pt x="13619" y="19444"/>
                  <a:pt x="15970" y="18460"/>
                  <a:pt x="18043" y="18460"/>
                </a:cubicBezTo>
                <a:cubicBezTo>
                  <a:pt x="18634" y="18460"/>
                  <a:pt x="19202" y="18540"/>
                  <a:pt x="19734" y="18746"/>
                </a:cubicBezTo>
                <a:cubicBezTo>
                  <a:pt x="21910" y="19594"/>
                  <a:pt x="22758" y="21770"/>
                  <a:pt x="21578" y="23799"/>
                </a:cubicBezTo>
                <a:cubicBezTo>
                  <a:pt x="20204" y="26230"/>
                  <a:pt x="16945" y="27719"/>
                  <a:pt x="14181" y="27719"/>
                </a:cubicBezTo>
                <a:cubicBezTo>
                  <a:pt x="14051" y="27719"/>
                  <a:pt x="13922" y="27716"/>
                  <a:pt x="13795" y="27709"/>
                </a:cubicBezTo>
                <a:cubicBezTo>
                  <a:pt x="10512" y="27561"/>
                  <a:pt x="8373" y="24906"/>
                  <a:pt x="6086" y="22914"/>
                </a:cubicBezTo>
                <a:cubicBezTo>
                  <a:pt x="6012" y="22877"/>
                  <a:pt x="5975" y="22803"/>
                  <a:pt x="5975" y="22729"/>
                </a:cubicBezTo>
                <a:lnTo>
                  <a:pt x="5902" y="22729"/>
                </a:lnTo>
                <a:cubicBezTo>
                  <a:pt x="5902" y="22840"/>
                  <a:pt x="5828" y="22914"/>
                  <a:pt x="5717" y="22951"/>
                </a:cubicBezTo>
                <a:cubicBezTo>
                  <a:pt x="3652" y="23725"/>
                  <a:pt x="1697" y="26344"/>
                  <a:pt x="1033" y="28484"/>
                </a:cubicBezTo>
                <a:cubicBezTo>
                  <a:pt x="0" y="31693"/>
                  <a:pt x="2951" y="33647"/>
                  <a:pt x="5607" y="34643"/>
                </a:cubicBezTo>
                <a:cubicBezTo>
                  <a:pt x="7570" y="35315"/>
                  <a:pt x="9630" y="35649"/>
                  <a:pt x="11692" y="35649"/>
                </a:cubicBezTo>
                <a:cubicBezTo>
                  <a:pt x="14047" y="35649"/>
                  <a:pt x="16405" y="35213"/>
                  <a:pt x="18627" y="34348"/>
                </a:cubicBezTo>
                <a:cubicBezTo>
                  <a:pt x="23090" y="32652"/>
                  <a:pt x="26853" y="29074"/>
                  <a:pt x="27590" y="24168"/>
                </a:cubicBezTo>
                <a:cubicBezTo>
                  <a:pt x="28254" y="19705"/>
                  <a:pt x="25709" y="15279"/>
                  <a:pt x="21246" y="14098"/>
                </a:cubicBezTo>
                <a:cubicBezTo>
                  <a:pt x="20800" y="13961"/>
                  <a:pt x="20897" y="13312"/>
                  <a:pt x="21328" y="13312"/>
                </a:cubicBezTo>
                <a:cubicBezTo>
                  <a:pt x="21361" y="13312"/>
                  <a:pt x="21395" y="13316"/>
                  <a:pt x="21430" y="13324"/>
                </a:cubicBezTo>
                <a:cubicBezTo>
                  <a:pt x="23754" y="11479"/>
                  <a:pt x="25008" y="7828"/>
                  <a:pt x="24123" y="4951"/>
                </a:cubicBezTo>
                <a:cubicBezTo>
                  <a:pt x="23127" y="1631"/>
                  <a:pt x="18848" y="156"/>
                  <a:pt x="15713" y="8"/>
                </a:cubicBezTo>
                <a:cubicBezTo>
                  <a:pt x="15570" y="3"/>
                  <a:pt x="15427" y="1"/>
                  <a:pt x="15285" y="1"/>
                </a:cubicBezTo>
                <a:close/>
              </a:path>
            </a:pathLst>
          </a:custGeom>
          <a:solidFill>
            <a:schemeClr val="accent3"/>
          </a:solidFill>
          <a:ln cap="flat" cmpd="sng" w="2857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60" name="Google Shape;860;p18"/>
          <p:cNvSpPr txBox="1"/>
          <p:nvPr/>
        </p:nvSpPr>
        <p:spPr>
          <a:xfrm>
            <a:off x="242047" y="1895475"/>
            <a:ext cx="6589059" cy="3942682"/>
          </a:xfrm>
          <a:prstGeom prst="rect">
            <a:avLst/>
          </a:prstGeom>
          <a:noFill/>
          <a:ln>
            <a:noFill/>
          </a:ln>
        </p:spPr>
        <p:txBody>
          <a:bodyPr anchorCtr="0" anchor="t" bIns="45700" lIns="91425" spcFirstLastPara="1" rIns="91425" wrap="square" tIns="45700">
            <a:spAutoFit/>
          </a:bodyPr>
          <a:lstStyle/>
          <a:p>
            <a:pPr indent="-285750" lvl="0" marL="742950" marR="0" rtl="0" algn="l">
              <a:lnSpc>
                <a:spcPct val="107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Trong giai đoạn này, người kiểm thử viên bắt tay vào việc viết ra các test case.</a:t>
            </a:r>
            <a:endParaRPr b="0" i="0" sz="1800" u="none" cap="none" strike="noStrike">
              <a:solidFill>
                <a:srgbClr val="000000"/>
              </a:solidFill>
              <a:latin typeface="Calibri"/>
              <a:ea typeface="Calibri"/>
              <a:cs typeface="Calibri"/>
              <a:sym typeface="Calibri"/>
            </a:endParaRPr>
          </a:p>
          <a:p>
            <a:pPr indent="-285750" lvl="0" marL="7429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Test case được chia nhỏ ra theo các điều kiện miêu tả trong tài liệu đặc tả dự án nhằm mục đích bao phủ được tất cả các trường hợp kiểm thử có thể sảy ra. </a:t>
            </a:r>
            <a:endParaRPr b="0" i="0" sz="1800" u="none" cap="none" strike="noStrike">
              <a:solidFill>
                <a:srgbClr val="000000"/>
              </a:solidFill>
              <a:latin typeface="Calibri"/>
              <a:ea typeface="Calibri"/>
              <a:cs typeface="Calibri"/>
              <a:sym typeface="Calibri"/>
            </a:endParaRPr>
          </a:p>
          <a:p>
            <a:pPr indent="-285750" lvl="0" marL="7429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Cùng với việc tạo ra các test case chi tiết, đội kiểm thử cũng cần chuẩn bị trước các dữ liệu kiểm thử cho các trường hợp cần thiết. </a:t>
            </a:r>
            <a:endParaRPr b="0" i="0" sz="1800" u="none" cap="none" strike="noStrike">
              <a:solidFill>
                <a:srgbClr val="000000"/>
              </a:solidFill>
              <a:latin typeface="Calibri"/>
              <a:ea typeface="Calibri"/>
              <a:cs typeface="Calibri"/>
              <a:sym typeface="Calibri"/>
            </a:endParaRPr>
          </a:p>
          <a:p>
            <a:pPr indent="-285750" lvl="0" marL="742950" marR="0" rtl="0" algn="l">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Sau khi hoàn thành, test case cần được kiểm tra lại bởi thành viên khác trong đội kiểm thử nhằm tránh những sai sót trong tập hợp test case.</a:t>
            </a:r>
            <a:endParaRPr b="0" i="0" sz="1800" u="none" cap="none" strike="noStrike">
              <a:solidFill>
                <a:srgbClr val="000000"/>
              </a:solidFill>
              <a:latin typeface="Calibri"/>
              <a:ea typeface="Calibri"/>
              <a:cs typeface="Calibri"/>
              <a:sym typeface="Calibri"/>
            </a:endParaRPr>
          </a:p>
        </p:txBody>
      </p:sp>
      <p:pic>
        <p:nvPicPr>
          <p:cNvPr descr="Connecting teams by Freepik Stories #svg #png #illustration#teamwork #work  #connection #connection #collab… | Flat illustration, Illustration,  Building illustration" id="861" name="Google Shape;861;p18"/>
          <p:cNvPicPr preferRelativeResize="0"/>
          <p:nvPr/>
        </p:nvPicPr>
        <p:blipFill rotWithShape="1">
          <a:blip r:embed="rId3">
            <a:alphaModFix/>
          </a:blip>
          <a:srcRect b="0" l="0" r="0" t="0"/>
          <a:stretch/>
        </p:blipFill>
        <p:spPr>
          <a:xfrm>
            <a:off x="7218123" y="1343026"/>
            <a:ext cx="4838071" cy="5048250"/>
          </a:xfrm>
          <a:prstGeom prst="rect">
            <a:avLst/>
          </a:prstGeom>
          <a:noFill/>
          <a:ln>
            <a:noFill/>
          </a:ln>
        </p:spPr>
      </p:pic>
      <p:grpSp>
        <p:nvGrpSpPr>
          <p:cNvPr id="862" name="Google Shape;862;p18"/>
          <p:cNvGrpSpPr/>
          <p:nvPr/>
        </p:nvGrpSpPr>
        <p:grpSpPr>
          <a:xfrm>
            <a:off x="5978917" y="171883"/>
            <a:ext cx="5958172" cy="710678"/>
            <a:chOff x="642754" y="5327442"/>
            <a:chExt cx="5557932" cy="1115169"/>
          </a:xfrm>
        </p:grpSpPr>
        <p:grpSp>
          <p:nvGrpSpPr>
            <p:cNvPr id="863" name="Google Shape;863;p18"/>
            <p:cNvGrpSpPr/>
            <p:nvPr/>
          </p:nvGrpSpPr>
          <p:grpSpPr>
            <a:xfrm>
              <a:off x="642754" y="5399059"/>
              <a:ext cx="5557932" cy="989041"/>
              <a:chOff x="508001" y="5399059"/>
              <a:chExt cx="5557932" cy="989041"/>
            </a:xfrm>
          </p:grpSpPr>
          <p:sp>
            <p:nvSpPr>
              <p:cNvPr id="864" name="Google Shape;864;p18"/>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65" name="Google Shape;865;p18"/>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866" name="Google Shape;866;p18"/>
            <p:cNvGrpSpPr/>
            <p:nvPr/>
          </p:nvGrpSpPr>
          <p:grpSpPr>
            <a:xfrm>
              <a:off x="842194" y="5327442"/>
              <a:ext cx="894759" cy="905639"/>
              <a:chOff x="707441" y="5327442"/>
              <a:chExt cx="894759" cy="905639"/>
            </a:xfrm>
          </p:grpSpPr>
          <p:sp>
            <p:nvSpPr>
              <p:cNvPr id="867" name="Google Shape;867;p18"/>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868" name="Google Shape;868;p18"/>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869" name="Google Shape;869;p18"/>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19"/>
          <p:cNvSpPr/>
          <p:nvPr/>
        </p:nvSpPr>
        <p:spPr>
          <a:xfrm>
            <a:off x="1117510" y="1252002"/>
            <a:ext cx="49784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Thiết lập môi trường kiểm thử</a:t>
            </a:r>
            <a:endParaRPr b="0" i="0" sz="2400" u="none" cap="none" strike="noStrike">
              <a:solidFill>
                <a:srgbClr val="000000"/>
              </a:solidFill>
              <a:latin typeface="Be Vietnam Pro"/>
              <a:ea typeface="Be Vietnam Pro"/>
              <a:cs typeface="Be Vietnam Pro"/>
              <a:sym typeface="Be Vietnam Pro"/>
            </a:endParaRPr>
          </a:p>
        </p:txBody>
      </p:sp>
      <p:sp>
        <p:nvSpPr>
          <p:cNvPr id="875" name="Google Shape;875;p19"/>
          <p:cNvSpPr/>
          <p:nvPr/>
        </p:nvSpPr>
        <p:spPr>
          <a:xfrm>
            <a:off x="791723" y="1112520"/>
            <a:ext cx="651573" cy="535553"/>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76" name="Google Shape;876;p19"/>
          <p:cNvSpPr/>
          <p:nvPr/>
        </p:nvSpPr>
        <p:spPr>
          <a:xfrm>
            <a:off x="726440" y="1112520"/>
            <a:ext cx="695960" cy="578460"/>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77" name="Google Shape;877;p19"/>
          <p:cNvSpPr/>
          <p:nvPr/>
        </p:nvSpPr>
        <p:spPr>
          <a:xfrm>
            <a:off x="905026" y="1211467"/>
            <a:ext cx="212484" cy="312533"/>
          </a:xfrm>
          <a:custGeom>
            <a:rect b="b" l="l" r="r" t="t"/>
            <a:pathLst>
              <a:path extrusionOk="0" h="36567" w="25857">
                <a:moveTo>
                  <a:pt x="15755" y="9240"/>
                </a:moveTo>
                <a:cubicBezTo>
                  <a:pt x="16011" y="9240"/>
                  <a:pt x="16235" y="9474"/>
                  <a:pt x="16156" y="9765"/>
                </a:cubicBezTo>
                <a:cubicBezTo>
                  <a:pt x="15639" y="11573"/>
                  <a:pt x="15123" y="13380"/>
                  <a:pt x="14607" y="15188"/>
                </a:cubicBezTo>
                <a:cubicBezTo>
                  <a:pt x="14312" y="16294"/>
                  <a:pt x="14164" y="17843"/>
                  <a:pt x="13463" y="18765"/>
                </a:cubicBezTo>
                <a:cubicBezTo>
                  <a:pt x="12859" y="19570"/>
                  <a:pt x="11632" y="19833"/>
                  <a:pt x="10382" y="19833"/>
                </a:cubicBezTo>
                <a:cubicBezTo>
                  <a:pt x="9569" y="19833"/>
                  <a:pt x="8746" y="19722"/>
                  <a:pt x="8078" y="19577"/>
                </a:cubicBezTo>
                <a:cubicBezTo>
                  <a:pt x="7992" y="19677"/>
                  <a:pt x="7884" y="19722"/>
                  <a:pt x="7778" y="19722"/>
                </a:cubicBezTo>
                <a:cubicBezTo>
                  <a:pt x="7609" y="19722"/>
                  <a:pt x="7445" y="19610"/>
                  <a:pt x="7377" y="19429"/>
                </a:cubicBezTo>
                <a:lnTo>
                  <a:pt x="7340" y="19429"/>
                </a:lnTo>
                <a:cubicBezTo>
                  <a:pt x="7193" y="19356"/>
                  <a:pt x="7193" y="19171"/>
                  <a:pt x="7340" y="19097"/>
                </a:cubicBezTo>
                <a:lnTo>
                  <a:pt x="7451" y="19097"/>
                </a:lnTo>
                <a:cubicBezTo>
                  <a:pt x="9775" y="15593"/>
                  <a:pt x="12430" y="12311"/>
                  <a:pt x="15455" y="9360"/>
                </a:cubicBezTo>
                <a:cubicBezTo>
                  <a:pt x="15549" y="9276"/>
                  <a:pt x="15654" y="9240"/>
                  <a:pt x="15755" y="9240"/>
                </a:cubicBezTo>
                <a:close/>
                <a:moveTo>
                  <a:pt x="18955" y="1"/>
                </a:moveTo>
                <a:cubicBezTo>
                  <a:pt x="17343" y="1"/>
                  <a:pt x="16151" y="1075"/>
                  <a:pt x="14865" y="2056"/>
                </a:cubicBezTo>
                <a:cubicBezTo>
                  <a:pt x="13057" y="3532"/>
                  <a:pt x="11361" y="5192"/>
                  <a:pt x="9848" y="6962"/>
                </a:cubicBezTo>
                <a:cubicBezTo>
                  <a:pt x="8115" y="8991"/>
                  <a:pt x="6455" y="11093"/>
                  <a:pt x="4943" y="13306"/>
                </a:cubicBezTo>
                <a:cubicBezTo>
                  <a:pt x="3615" y="15151"/>
                  <a:pt x="1660" y="17290"/>
                  <a:pt x="959" y="19540"/>
                </a:cubicBezTo>
                <a:cubicBezTo>
                  <a:pt x="0" y="22712"/>
                  <a:pt x="2582" y="24888"/>
                  <a:pt x="5422" y="25515"/>
                </a:cubicBezTo>
                <a:cubicBezTo>
                  <a:pt x="6481" y="25730"/>
                  <a:pt x="7557" y="25778"/>
                  <a:pt x="8638" y="25778"/>
                </a:cubicBezTo>
                <a:cubicBezTo>
                  <a:pt x="9516" y="25778"/>
                  <a:pt x="10398" y="25747"/>
                  <a:pt x="11278" y="25747"/>
                </a:cubicBezTo>
                <a:cubicBezTo>
                  <a:pt x="12108" y="25747"/>
                  <a:pt x="12936" y="25775"/>
                  <a:pt x="13758" y="25884"/>
                </a:cubicBezTo>
                <a:cubicBezTo>
                  <a:pt x="14188" y="25956"/>
                  <a:pt x="14201" y="26550"/>
                  <a:pt x="13795" y="26550"/>
                </a:cubicBezTo>
                <a:cubicBezTo>
                  <a:pt x="13783" y="26550"/>
                  <a:pt x="13771" y="26549"/>
                  <a:pt x="13758" y="26548"/>
                </a:cubicBezTo>
                <a:lnTo>
                  <a:pt x="13721" y="26548"/>
                </a:lnTo>
                <a:cubicBezTo>
                  <a:pt x="13832" y="26548"/>
                  <a:pt x="13906" y="26622"/>
                  <a:pt x="13906" y="26733"/>
                </a:cubicBezTo>
                <a:cubicBezTo>
                  <a:pt x="13832" y="28761"/>
                  <a:pt x="13500" y="30753"/>
                  <a:pt x="13279" y="32745"/>
                </a:cubicBezTo>
                <a:cubicBezTo>
                  <a:pt x="13205" y="33630"/>
                  <a:pt x="13021" y="34847"/>
                  <a:pt x="13537" y="35622"/>
                </a:cubicBezTo>
                <a:cubicBezTo>
                  <a:pt x="14069" y="36435"/>
                  <a:pt x="15241" y="36566"/>
                  <a:pt x="16258" y="36566"/>
                </a:cubicBezTo>
                <a:cubicBezTo>
                  <a:pt x="16580" y="36566"/>
                  <a:pt x="16886" y="36553"/>
                  <a:pt x="17152" y="36544"/>
                </a:cubicBezTo>
                <a:cubicBezTo>
                  <a:pt x="19660" y="36433"/>
                  <a:pt x="22168" y="36065"/>
                  <a:pt x="22021" y="33003"/>
                </a:cubicBezTo>
                <a:cubicBezTo>
                  <a:pt x="21910" y="30901"/>
                  <a:pt x="21430" y="28872"/>
                  <a:pt x="20656" y="26954"/>
                </a:cubicBezTo>
                <a:cubicBezTo>
                  <a:pt x="20582" y="26806"/>
                  <a:pt x="20619" y="26659"/>
                  <a:pt x="20766" y="26548"/>
                </a:cubicBezTo>
                <a:cubicBezTo>
                  <a:pt x="20766" y="26401"/>
                  <a:pt x="20914" y="26253"/>
                  <a:pt x="21098" y="26253"/>
                </a:cubicBezTo>
                <a:cubicBezTo>
                  <a:pt x="21129" y="26252"/>
                  <a:pt x="21160" y="26251"/>
                  <a:pt x="21190" y="26251"/>
                </a:cubicBezTo>
                <a:cubicBezTo>
                  <a:pt x="22107" y="26251"/>
                  <a:pt x="22862" y="26774"/>
                  <a:pt x="23754" y="26917"/>
                </a:cubicBezTo>
                <a:cubicBezTo>
                  <a:pt x="23893" y="26941"/>
                  <a:pt x="24021" y="26952"/>
                  <a:pt x="24139" y="26952"/>
                </a:cubicBezTo>
                <a:cubicBezTo>
                  <a:pt x="25856" y="26952"/>
                  <a:pt x="25596" y="24576"/>
                  <a:pt x="25562" y="23265"/>
                </a:cubicBezTo>
                <a:cubicBezTo>
                  <a:pt x="25562" y="22602"/>
                  <a:pt x="25525" y="21938"/>
                  <a:pt x="25377" y="21274"/>
                </a:cubicBezTo>
                <a:cubicBezTo>
                  <a:pt x="25077" y="20404"/>
                  <a:pt x="24485" y="20217"/>
                  <a:pt x="23759" y="20217"/>
                </a:cubicBezTo>
                <a:cubicBezTo>
                  <a:pt x="23592" y="20217"/>
                  <a:pt x="23417" y="20227"/>
                  <a:pt x="23238" y="20241"/>
                </a:cubicBezTo>
                <a:cubicBezTo>
                  <a:pt x="21725" y="20388"/>
                  <a:pt x="20287" y="20794"/>
                  <a:pt x="18922" y="21384"/>
                </a:cubicBezTo>
                <a:cubicBezTo>
                  <a:pt x="18836" y="21460"/>
                  <a:pt x="18728" y="21494"/>
                  <a:pt x="18621" y="21494"/>
                </a:cubicBezTo>
                <a:cubicBezTo>
                  <a:pt x="18364" y="21494"/>
                  <a:pt x="18117" y="21292"/>
                  <a:pt x="18221" y="20979"/>
                </a:cubicBezTo>
                <a:cubicBezTo>
                  <a:pt x="20103" y="15852"/>
                  <a:pt x="21910" y="10134"/>
                  <a:pt x="22168" y="4638"/>
                </a:cubicBezTo>
                <a:cubicBezTo>
                  <a:pt x="22279" y="2573"/>
                  <a:pt x="21689" y="323"/>
                  <a:pt x="19402" y="28"/>
                </a:cubicBezTo>
                <a:cubicBezTo>
                  <a:pt x="19249" y="10"/>
                  <a:pt x="19101" y="1"/>
                  <a:pt x="18955" y="1"/>
                </a:cubicBezTo>
                <a:close/>
              </a:path>
            </a:pathLst>
          </a:custGeom>
          <a:solidFill>
            <a:schemeClr val="accent4"/>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78" name="Google Shape;878;p19"/>
          <p:cNvSpPr/>
          <p:nvPr/>
        </p:nvSpPr>
        <p:spPr>
          <a:xfrm>
            <a:off x="902123" y="1230864"/>
            <a:ext cx="200967" cy="289229"/>
          </a:xfrm>
          <a:custGeom>
            <a:rect b="b" l="l" r="r" t="t"/>
            <a:pathLst>
              <a:path extrusionOk="0" h="38374" w="27148">
                <a:moveTo>
                  <a:pt x="19225" y="958"/>
                </a:moveTo>
                <a:cubicBezTo>
                  <a:pt x="19390" y="958"/>
                  <a:pt x="19560" y="970"/>
                  <a:pt x="19734" y="994"/>
                </a:cubicBezTo>
                <a:cubicBezTo>
                  <a:pt x="22021" y="1289"/>
                  <a:pt x="22611" y="3539"/>
                  <a:pt x="22500" y="5605"/>
                </a:cubicBezTo>
                <a:cubicBezTo>
                  <a:pt x="22242" y="11100"/>
                  <a:pt x="20435" y="16818"/>
                  <a:pt x="18553" y="21945"/>
                </a:cubicBezTo>
                <a:cubicBezTo>
                  <a:pt x="18449" y="22258"/>
                  <a:pt x="18696" y="22460"/>
                  <a:pt x="18953" y="22460"/>
                </a:cubicBezTo>
                <a:cubicBezTo>
                  <a:pt x="19060" y="22460"/>
                  <a:pt x="19168" y="22426"/>
                  <a:pt x="19254" y="22350"/>
                </a:cubicBezTo>
                <a:cubicBezTo>
                  <a:pt x="20619" y="21723"/>
                  <a:pt x="22057" y="21355"/>
                  <a:pt x="23570" y="21207"/>
                </a:cubicBezTo>
                <a:cubicBezTo>
                  <a:pt x="23768" y="21184"/>
                  <a:pt x="23959" y="21169"/>
                  <a:pt x="24142" y="21169"/>
                </a:cubicBezTo>
                <a:cubicBezTo>
                  <a:pt x="24845" y="21169"/>
                  <a:pt x="25416" y="21391"/>
                  <a:pt x="25709" y="22240"/>
                </a:cubicBezTo>
                <a:cubicBezTo>
                  <a:pt x="25857" y="22904"/>
                  <a:pt x="25894" y="23568"/>
                  <a:pt x="25857" y="24232"/>
                </a:cubicBezTo>
                <a:cubicBezTo>
                  <a:pt x="25891" y="25543"/>
                  <a:pt x="26184" y="27918"/>
                  <a:pt x="24471" y="27918"/>
                </a:cubicBezTo>
                <a:cubicBezTo>
                  <a:pt x="24353" y="27918"/>
                  <a:pt x="24225" y="27907"/>
                  <a:pt x="24086" y="27883"/>
                </a:cubicBezTo>
                <a:cubicBezTo>
                  <a:pt x="23158" y="27740"/>
                  <a:pt x="22437" y="27218"/>
                  <a:pt x="21489" y="27218"/>
                </a:cubicBezTo>
                <a:cubicBezTo>
                  <a:pt x="21457" y="27218"/>
                  <a:pt x="21426" y="27218"/>
                  <a:pt x="21394" y="27219"/>
                </a:cubicBezTo>
                <a:cubicBezTo>
                  <a:pt x="21209" y="27256"/>
                  <a:pt x="21098" y="27367"/>
                  <a:pt x="21062" y="27514"/>
                </a:cubicBezTo>
                <a:cubicBezTo>
                  <a:pt x="20914" y="27625"/>
                  <a:pt x="20877" y="27773"/>
                  <a:pt x="20951" y="27920"/>
                </a:cubicBezTo>
                <a:cubicBezTo>
                  <a:pt x="21762" y="29838"/>
                  <a:pt x="22205" y="31904"/>
                  <a:pt x="22353" y="33969"/>
                </a:cubicBezTo>
                <a:cubicBezTo>
                  <a:pt x="22463" y="37031"/>
                  <a:pt x="19955" y="37436"/>
                  <a:pt x="17447" y="37510"/>
                </a:cubicBezTo>
                <a:cubicBezTo>
                  <a:pt x="17144" y="37530"/>
                  <a:pt x="16789" y="37553"/>
                  <a:pt x="16418" y="37553"/>
                </a:cubicBezTo>
                <a:cubicBezTo>
                  <a:pt x="15434" y="37553"/>
                  <a:pt x="14341" y="37392"/>
                  <a:pt x="13832" y="36588"/>
                </a:cubicBezTo>
                <a:cubicBezTo>
                  <a:pt x="13316" y="35814"/>
                  <a:pt x="13500" y="34596"/>
                  <a:pt x="13611" y="33711"/>
                </a:cubicBezTo>
                <a:cubicBezTo>
                  <a:pt x="13795" y="31719"/>
                  <a:pt x="14127" y="29727"/>
                  <a:pt x="14238" y="27736"/>
                </a:cubicBezTo>
                <a:cubicBezTo>
                  <a:pt x="14238" y="27665"/>
                  <a:pt x="14193" y="27594"/>
                  <a:pt x="14131" y="27553"/>
                </a:cubicBezTo>
                <a:lnTo>
                  <a:pt x="14131" y="27553"/>
                </a:lnTo>
                <a:cubicBezTo>
                  <a:pt x="14495" y="27542"/>
                  <a:pt x="14482" y="26923"/>
                  <a:pt x="14090" y="26887"/>
                </a:cubicBezTo>
                <a:cubicBezTo>
                  <a:pt x="13244" y="26763"/>
                  <a:pt x="12387" y="26732"/>
                  <a:pt x="11527" y="26732"/>
                </a:cubicBezTo>
                <a:cubicBezTo>
                  <a:pt x="10675" y="26732"/>
                  <a:pt x="9820" y="26763"/>
                  <a:pt x="8969" y="26763"/>
                </a:cubicBezTo>
                <a:cubicBezTo>
                  <a:pt x="7873" y="26763"/>
                  <a:pt x="6784" y="26712"/>
                  <a:pt x="5717" y="26482"/>
                </a:cubicBezTo>
                <a:cubicBezTo>
                  <a:pt x="2877" y="25891"/>
                  <a:pt x="295" y="23715"/>
                  <a:pt x="1291" y="20506"/>
                </a:cubicBezTo>
                <a:cubicBezTo>
                  <a:pt x="1955" y="18293"/>
                  <a:pt x="3947" y="16154"/>
                  <a:pt x="5275" y="14309"/>
                </a:cubicBezTo>
                <a:cubicBezTo>
                  <a:pt x="6787" y="12059"/>
                  <a:pt x="8447" y="9957"/>
                  <a:pt x="10180" y="7891"/>
                </a:cubicBezTo>
                <a:cubicBezTo>
                  <a:pt x="11693" y="6121"/>
                  <a:pt x="13389" y="4498"/>
                  <a:pt x="15197" y="3023"/>
                </a:cubicBezTo>
                <a:cubicBezTo>
                  <a:pt x="16466" y="2021"/>
                  <a:pt x="17645" y="958"/>
                  <a:pt x="19225" y="958"/>
                </a:cubicBezTo>
                <a:close/>
                <a:moveTo>
                  <a:pt x="19591" y="1"/>
                </a:moveTo>
                <a:cubicBezTo>
                  <a:pt x="16141" y="1"/>
                  <a:pt x="11844" y="4881"/>
                  <a:pt x="10070" y="6822"/>
                </a:cubicBezTo>
                <a:cubicBezTo>
                  <a:pt x="7930" y="9256"/>
                  <a:pt x="5975" y="11801"/>
                  <a:pt x="4131" y="14457"/>
                </a:cubicBezTo>
                <a:cubicBezTo>
                  <a:pt x="2619" y="16633"/>
                  <a:pt x="0" y="19400"/>
                  <a:pt x="185" y="22277"/>
                </a:cubicBezTo>
                <a:cubicBezTo>
                  <a:pt x="515" y="27174"/>
                  <a:pt x="5769" y="27495"/>
                  <a:pt x="10118" y="27495"/>
                </a:cubicBezTo>
                <a:cubicBezTo>
                  <a:pt x="10774" y="27495"/>
                  <a:pt x="11410" y="27487"/>
                  <a:pt x="12005" y="27487"/>
                </a:cubicBezTo>
                <a:cubicBezTo>
                  <a:pt x="12717" y="27487"/>
                  <a:pt x="13371" y="27498"/>
                  <a:pt x="13932" y="27544"/>
                </a:cubicBezTo>
                <a:lnTo>
                  <a:pt x="13932" y="27544"/>
                </a:lnTo>
                <a:cubicBezTo>
                  <a:pt x="13891" y="27572"/>
                  <a:pt x="13854" y="27617"/>
                  <a:pt x="13832" y="27662"/>
                </a:cubicBezTo>
                <a:cubicBezTo>
                  <a:pt x="13316" y="30096"/>
                  <a:pt x="12357" y="33490"/>
                  <a:pt x="12836" y="35961"/>
                </a:cubicBezTo>
                <a:cubicBezTo>
                  <a:pt x="13226" y="38039"/>
                  <a:pt x="14930" y="38374"/>
                  <a:pt x="16716" y="38374"/>
                </a:cubicBezTo>
                <a:cubicBezTo>
                  <a:pt x="16959" y="38374"/>
                  <a:pt x="17204" y="38367"/>
                  <a:pt x="17447" y="38359"/>
                </a:cubicBezTo>
                <a:cubicBezTo>
                  <a:pt x="19070" y="38285"/>
                  <a:pt x="22168" y="38248"/>
                  <a:pt x="22943" y="36441"/>
                </a:cubicBezTo>
                <a:cubicBezTo>
                  <a:pt x="23939" y="34227"/>
                  <a:pt x="22758" y="30355"/>
                  <a:pt x="21873" y="28105"/>
                </a:cubicBezTo>
                <a:lnTo>
                  <a:pt x="21873" y="28105"/>
                </a:lnTo>
                <a:cubicBezTo>
                  <a:pt x="22737" y="28359"/>
                  <a:pt x="23706" y="28805"/>
                  <a:pt x="24599" y="28805"/>
                </a:cubicBezTo>
                <a:cubicBezTo>
                  <a:pt x="25003" y="28805"/>
                  <a:pt x="25390" y="28714"/>
                  <a:pt x="25746" y="28473"/>
                </a:cubicBezTo>
                <a:cubicBezTo>
                  <a:pt x="27148" y="27551"/>
                  <a:pt x="26705" y="24859"/>
                  <a:pt x="26631" y="23531"/>
                </a:cubicBezTo>
                <a:cubicBezTo>
                  <a:pt x="26557" y="22166"/>
                  <a:pt x="26594" y="20654"/>
                  <a:pt x="24971" y="20432"/>
                </a:cubicBezTo>
                <a:cubicBezTo>
                  <a:pt x="24712" y="20394"/>
                  <a:pt x="24445" y="20376"/>
                  <a:pt x="24174" y="20376"/>
                </a:cubicBezTo>
                <a:cubicBezTo>
                  <a:pt x="22639" y="20376"/>
                  <a:pt x="20966" y="20954"/>
                  <a:pt x="19586" y="21613"/>
                </a:cubicBezTo>
                <a:cubicBezTo>
                  <a:pt x="20877" y="18072"/>
                  <a:pt x="21873" y="14383"/>
                  <a:pt x="22611" y="10695"/>
                </a:cubicBezTo>
                <a:cubicBezTo>
                  <a:pt x="23127" y="8002"/>
                  <a:pt x="24160" y="4424"/>
                  <a:pt x="22611" y="1879"/>
                </a:cubicBezTo>
                <a:cubicBezTo>
                  <a:pt x="21777" y="533"/>
                  <a:pt x="20730" y="1"/>
                  <a:pt x="19591" y="1"/>
                </a:cubicBezTo>
                <a:close/>
              </a:path>
            </a:pathLst>
          </a:custGeom>
          <a:solidFill>
            <a:schemeClr val="dk1"/>
          </a:solidFill>
          <a:ln cap="flat" cmpd="sng" w="1905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79" name="Google Shape;879;p19"/>
          <p:cNvSpPr/>
          <p:nvPr/>
        </p:nvSpPr>
        <p:spPr>
          <a:xfrm>
            <a:off x="967918" y="1288729"/>
            <a:ext cx="66951" cy="70597"/>
          </a:xfrm>
          <a:custGeom>
            <a:rect b="b" l="l" r="r" t="t"/>
            <a:pathLst>
              <a:path extrusionOk="0" h="10615" w="9044">
                <a:moveTo>
                  <a:pt x="7747" y="1816"/>
                </a:moveTo>
                <a:cubicBezTo>
                  <a:pt x="7230" y="3624"/>
                  <a:pt x="6714" y="5394"/>
                  <a:pt x="6234" y="7202"/>
                </a:cubicBezTo>
                <a:cubicBezTo>
                  <a:pt x="5755" y="8862"/>
                  <a:pt x="4611" y="9673"/>
                  <a:pt x="2878" y="9747"/>
                </a:cubicBezTo>
                <a:cubicBezTo>
                  <a:pt x="2361" y="9747"/>
                  <a:pt x="1808" y="9747"/>
                  <a:pt x="1292" y="9784"/>
                </a:cubicBezTo>
                <a:cubicBezTo>
                  <a:pt x="3210" y="6944"/>
                  <a:pt x="5349" y="4288"/>
                  <a:pt x="7747" y="1816"/>
                </a:cubicBezTo>
                <a:close/>
                <a:moveTo>
                  <a:pt x="8563" y="0"/>
                </a:moveTo>
                <a:cubicBezTo>
                  <a:pt x="8462" y="0"/>
                  <a:pt x="8357" y="36"/>
                  <a:pt x="8263" y="120"/>
                </a:cubicBezTo>
                <a:cubicBezTo>
                  <a:pt x="5238" y="3071"/>
                  <a:pt x="2583" y="6353"/>
                  <a:pt x="259" y="9894"/>
                </a:cubicBezTo>
                <a:lnTo>
                  <a:pt x="148" y="9894"/>
                </a:lnTo>
                <a:cubicBezTo>
                  <a:pt x="1" y="9931"/>
                  <a:pt x="1" y="10153"/>
                  <a:pt x="148" y="10226"/>
                </a:cubicBezTo>
                <a:lnTo>
                  <a:pt x="185" y="10226"/>
                </a:lnTo>
                <a:cubicBezTo>
                  <a:pt x="230" y="10405"/>
                  <a:pt x="396" y="10503"/>
                  <a:pt x="570" y="10503"/>
                </a:cubicBezTo>
                <a:cubicBezTo>
                  <a:pt x="683" y="10503"/>
                  <a:pt x="799" y="10461"/>
                  <a:pt x="886" y="10374"/>
                </a:cubicBezTo>
                <a:cubicBezTo>
                  <a:pt x="1559" y="10506"/>
                  <a:pt x="2389" y="10614"/>
                  <a:pt x="3208" y="10614"/>
                </a:cubicBezTo>
                <a:cubicBezTo>
                  <a:pt x="4452" y="10614"/>
                  <a:pt x="5670" y="10363"/>
                  <a:pt x="6271" y="9562"/>
                </a:cubicBezTo>
                <a:cubicBezTo>
                  <a:pt x="6935" y="8603"/>
                  <a:pt x="7083" y="7054"/>
                  <a:pt x="7415" y="5948"/>
                </a:cubicBezTo>
                <a:cubicBezTo>
                  <a:pt x="7931" y="4140"/>
                  <a:pt x="8447" y="2333"/>
                  <a:pt x="8964" y="525"/>
                </a:cubicBezTo>
                <a:cubicBezTo>
                  <a:pt x="9043" y="234"/>
                  <a:pt x="8819" y="0"/>
                  <a:pt x="8563" y="0"/>
                </a:cubicBezTo>
                <a:close/>
              </a:path>
            </a:pathLst>
          </a:custGeom>
          <a:solidFill>
            <a:schemeClr val="dk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80" name="Google Shape;880;p19"/>
          <p:cNvSpPr txBox="1"/>
          <p:nvPr/>
        </p:nvSpPr>
        <p:spPr>
          <a:xfrm>
            <a:off x="1249680" y="2245360"/>
            <a:ext cx="9834880" cy="2341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1" name="Google Shape;881;p19"/>
          <p:cNvSpPr txBox="1"/>
          <p:nvPr/>
        </p:nvSpPr>
        <p:spPr>
          <a:xfrm>
            <a:off x="791724" y="2019300"/>
            <a:ext cx="6761602" cy="430297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6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Chuẩn bị môi trường test, device test. Khi tham gia vào một dự án chúng ta cần biết mình cần phải test sản phẩm trên môi trường nào, điều này có thể confirm với phía khách hàng, PO của dự án.</a:t>
            </a:r>
            <a:endParaRPr/>
          </a:p>
          <a:p>
            <a:pPr indent="-285750" lvl="0" marL="285750" marR="0" rtl="0" algn="l">
              <a:lnSpc>
                <a:spcPct val="106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Về cơ bản, môi trường kiểm thử được quyết định dựa trên những điều kiện kiểm thử phần mềm. (Ví dụ server, client, network...). </a:t>
            </a:r>
            <a:endParaRPr/>
          </a:p>
          <a:p>
            <a:pPr indent="-285750" lvl="0" marL="285750" marR="0" rtl="0" algn="l">
              <a:lnSpc>
                <a:spcPct val="106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Đây là hoạt động độc lập và có thể được bắt đầu song song với giai đoạn thiết kế kịch bản kiểm thử. </a:t>
            </a:r>
            <a:endParaRPr/>
          </a:p>
          <a:p>
            <a:pPr indent="-285750" lvl="0" marL="285750" marR="0" rtl="0" algn="l">
              <a:lnSpc>
                <a:spcPct val="106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Kiểm thử viên cần chuẩn bị một vài test case để kiểm tra xem môi trường cài đặt đã sẵn sàng cho việc kiểm thử hay chưa.</a:t>
            </a:r>
            <a:endParaRPr/>
          </a:p>
          <a:p>
            <a:pPr indent="-171450" lvl="0" marL="285750" marR="0" rtl="0" algn="l">
              <a:lnSpc>
                <a:spcPct val="100000"/>
              </a:lnSpc>
              <a:spcBef>
                <a:spcPts val="800"/>
              </a:spcBef>
              <a:spcAft>
                <a:spcPts val="0"/>
              </a:spcAft>
              <a:buClr>
                <a:srgbClr val="000000"/>
              </a:buClr>
              <a:buSzPts val="1800"/>
              <a:buFont typeface="Noto Sans Symbols"/>
              <a:buNone/>
            </a:pPr>
            <a:r>
              <a:t/>
            </a:r>
            <a:endParaRPr b="0" i="0" sz="1800" u="none" cap="none" strike="noStrike">
              <a:solidFill>
                <a:srgbClr val="000000"/>
              </a:solidFill>
              <a:latin typeface="Be Vietnam Pro"/>
              <a:ea typeface="Be Vietnam Pro"/>
              <a:cs typeface="Be Vietnam Pro"/>
              <a:sym typeface="Be Vietnam Pro"/>
            </a:endParaRPr>
          </a:p>
        </p:txBody>
      </p:sp>
      <p:pic>
        <p:nvPicPr>
          <p:cNvPr descr="About - Team Celick" id="882" name="Google Shape;882;p19"/>
          <p:cNvPicPr preferRelativeResize="0"/>
          <p:nvPr/>
        </p:nvPicPr>
        <p:blipFill rotWithShape="1">
          <a:blip r:embed="rId3">
            <a:alphaModFix/>
          </a:blip>
          <a:srcRect b="0" l="0" r="0" t="0"/>
          <a:stretch/>
        </p:blipFill>
        <p:spPr>
          <a:xfrm>
            <a:off x="7007837" y="626001"/>
            <a:ext cx="5552485" cy="5605998"/>
          </a:xfrm>
          <a:prstGeom prst="rect">
            <a:avLst/>
          </a:prstGeom>
          <a:noFill/>
          <a:ln>
            <a:noFill/>
          </a:ln>
        </p:spPr>
      </p:pic>
      <p:grpSp>
        <p:nvGrpSpPr>
          <p:cNvPr id="883" name="Google Shape;883;p19"/>
          <p:cNvGrpSpPr/>
          <p:nvPr/>
        </p:nvGrpSpPr>
        <p:grpSpPr>
          <a:xfrm>
            <a:off x="5978917" y="171883"/>
            <a:ext cx="5958172" cy="710678"/>
            <a:chOff x="642754" y="5327442"/>
            <a:chExt cx="5557932" cy="1115169"/>
          </a:xfrm>
        </p:grpSpPr>
        <p:grpSp>
          <p:nvGrpSpPr>
            <p:cNvPr id="884" name="Google Shape;884;p19"/>
            <p:cNvGrpSpPr/>
            <p:nvPr/>
          </p:nvGrpSpPr>
          <p:grpSpPr>
            <a:xfrm>
              <a:off x="642754" y="5399059"/>
              <a:ext cx="5557932" cy="989041"/>
              <a:chOff x="508001" y="5399059"/>
              <a:chExt cx="5557932" cy="989041"/>
            </a:xfrm>
          </p:grpSpPr>
          <p:sp>
            <p:nvSpPr>
              <p:cNvPr id="885" name="Google Shape;885;p19"/>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886" name="Google Shape;886;p19"/>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887" name="Google Shape;887;p19"/>
            <p:cNvGrpSpPr/>
            <p:nvPr/>
          </p:nvGrpSpPr>
          <p:grpSpPr>
            <a:xfrm>
              <a:off x="842194" y="5327442"/>
              <a:ext cx="894759" cy="905639"/>
              <a:chOff x="707441" y="5327442"/>
              <a:chExt cx="894759" cy="905639"/>
            </a:xfrm>
          </p:grpSpPr>
          <p:sp>
            <p:nvSpPr>
              <p:cNvPr id="888" name="Google Shape;888;p19"/>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889" name="Google Shape;889;p19"/>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890" name="Google Shape;890;p19"/>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20"/>
          <p:cNvSpPr/>
          <p:nvPr/>
        </p:nvSpPr>
        <p:spPr>
          <a:xfrm>
            <a:off x="1117510" y="1252002"/>
            <a:ext cx="49784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Thực hiện kiểm thử</a:t>
            </a:r>
            <a:endParaRPr b="0" i="0" sz="2400" u="none" cap="none" strike="noStrike">
              <a:solidFill>
                <a:srgbClr val="000000"/>
              </a:solidFill>
              <a:latin typeface="Be Vietnam Pro"/>
              <a:ea typeface="Be Vietnam Pro"/>
              <a:cs typeface="Be Vietnam Pro"/>
              <a:sym typeface="Be Vietnam Pro"/>
            </a:endParaRPr>
          </a:p>
        </p:txBody>
      </p:sp>
      <p:grpSp>
        <p:nvGrpSpPr>
          <p:cNvPr id="896" name="Google Shape;896;p20"/>
          <p:cNvGrpSpPr/>
          <p:nvPr/>
        </p:nvGrpSpPr>
        <p:grpSpPr>
          <a:xfrm>
            <a:off x="792480" y="1103376"/>
            <a:ext cx="682752" cy="546801"/>
            <a:chOff x="1240825" y="240075"/>
            <a:chExt cx="5918800" cy="5145775"/>
          </a:xfrm>
        </p:grpSpPr>
        <p:sp>
          <p:nvSpPr>
            <p:cNvPr id="897" name="Google Shape;897;p20"/>
            <p:cNvSpPr/>
            <p:nvPr/>
          </p:nvSpPr>
          <p:spPr>
            <a:xfrm>
              <a:off x="1410000" y="323650"/>
              <a:ext cx="5749625" cy="4943150"/>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898" name="Google Shape;898;p20"/>
            <p:cNvSpPr/>
            <p:nvPr/>
          </p:nvSpPr>
          <p:spPr>
            <a:xfrm>
              <a:off x="1240825" y="240075"/>
              <a:ext cx="5918800" cy="5145775"/>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grpSp>
        <p:nvGrpSpPr>
          <p:cNvPr id="899" name="Google Shape;899;p20"/>
          <p:cNvGrpSpPr/>
          <p:nvPr/>
        </p:nvGrpSpPr>
        <p:grpSpPr>
          <a:xfrm>
            <a:off x="986557" y="1280996"/>
            <a:ext cx="237522" cy="233776"/>
            <a:chOff x="4307635" y="2126055"/>
            <a:chExt cx="494436" cy="624584"/>
          </a:xfrm>
        </p:grpSpPr>
        <p:sp>
          <p:nvSpPr>
            <p:cNvPr id="900" name="Google Shape;900;p20"/>
            <p:cNvSpPr/>
            <p:nvPr/>
          </p:nvSpPr>
          <p:spPr>
            <a:xfrm>
              <a:off x="4323813" y="2138829"/>
              <a:ext cx="447854" cy="594933"/>
            </a:xfrm>
            <a:custGeom>
              <a:rect b="b" l="l" r="r" t="t"/>
              <a:pathLst>
                <a:path extrusionOk="0" h="33909" w="25526">
                  <a:moveTo>
                    <a:pt x="18322" y="1"/>
                  </a:moveTo>
                  <a:cubicBezTo>
                    <a:pt x="16653" y="1"/>
                    <a:pt x="14862" y="259"/>
                    <a:pt x="13279" y="286"/>
                  </a:cubicBezTo>
                  <a:lnTo>
                    <a:pt x="6234" y="508"/>
                  </a:lnTo>
                  <a:cubicBezTo>
                    <a:pt x="6142" y="511"/>
                    <a:pt x="6046" y="512"/>
                    <a:pt x="5947" y="512"/>
                  </a:cubicBezTo>
                  <a:cubicBezTo>
                    <a:pt x="5710" y="512"/>
                    <a:pt x="5457" y="506"/>
                    <a:pt x="5198" y="506"/>
                  </a:cubicBezTo>
                  <a:cubicBezTo>
                    <a:pt x="4231" y="506"/>
                    <a:pt x="3192" y="590"/>
                    <a:pt x="2656" y="1393"/>
                  </a:cubicBezTo>
                  <a:cubicBezTo>
                    <a:pt x="2029" y="2315"/>
                    <a:pt x="2214" y="3938"/>
                    <a:pt x="2214" y="4971"/>
                  </a:cubicBezTo>
                  <a:cubicBezTo>
                    <a:pt x="2103" y="9213"/>
                    <a:pt x="2288" y="13417"/>
                    <a:pt x="2767" y="17585"/>
                  </a:cubicBezTo>
                  <a:cubicBezTo>
                    <a:pt x="4862" y="16614"/>
                    <a:pt x="8432" y="15466"/>
                    <a:pt x="11518" y="15466"/>
                  </a:cubicBezTo>
                  <a:cubicBezTo>
                    <a:pt x="14407" y="15466"/>
                    <a:pt x="16872" y="16473"/>
                    <a:pt x="17300" y="19577"/>
                  </a:cubicBezTo>
                  <a:cubicBezTo>
                    <a:pt x="17817" y="23367"/>
                    <a:pt x="14490" y="25905"/>
                    <a:pt x="11112" y="25905"/>
                  </a:cubicBezTo>
                  <a:cubicBezTo>
                    <a:pt x="10149" y="25905"/>
                    <a:pt x="9183" y="25699"/>
                    <a:pt x="8300" y="25258"/>
                  </a:cubicBezTo>
                  <a:cubicBezTo>
                    <a:pt x="6791" y="24519"/>
                    <a:pt x="5539" y="22442"/>
                    <a:pt x="3772" y="22442"/>
                  </a:cubicBezTo>
                  <a:cubicBezTo>
                    <a:pt x="3422" y="22442"/>
                    <a:pt x="3052" y="22524"/>
                    <a:pt x="2656" y="22712"/>
                  </a:cubicBezTo>
                  <a:cubicBezTo>
                    <a:pt x="849" y="23598"/>
                    <a:pt x="1" y="25848"/>
                    <a:pt x="370" y="27766"/>
                  </a:cubicBezTo>
                  <a:cubicBezTo>
                    <a:pt x="1292" y="32192"/>
                    <a:pt x="6234" y="33631"/>
                    <a:pt x="10144" y="33852"/>
                  </a:cubicBezTo>
                  <a:cubicBezTo>
                    <a:pt x="10772" y="33887"/>
                    <a:pt x="11414" y="33909"/>
                    <a:pt x="12062" y="33909"/>
                  </a:cubicBezTo>
                  <a:cubicBezTo>
                    <a:pt x="14796" y="33909"/>
                    <a:pt x="17629" y="33520"/>
                    <a:pt x="19956" y="32118"/>
                  </a:cubicBezTo>
                  <a:cubicBezTo>
                    <a:pt x="23533" y="30016"/>
                    <a:pt x="24898" y="25626"/>
                    <a:pt x="25193" y="21717"/>
                  </a:cubicBezTo>
                  <a:cubicBezTo>
                    <a:pt x="25525" y="17401"/>
                    <a:pt x="23792" y="13602"/>
                    <a:pt x="19734" y="11758"/>
                  </a:cubicBezTo>
                  <a:cubicBezTo>
                    <a:pt x="17542" y="10737"/>
                    <a:pt x="15171" y="10445"/>
                    <a:pt x="12786" y="10445"/>
                  </a:cubicBezTo>
                  <a:cubicBezTo>
                    <a:pt x="11119" y="10445"/>
                    <a:pt x="9445" y="10588"/>
                    <a:pt x="7820" y="10725"/>
                  </a:cubicBezTo>
                  <a:cubicBezTo>
                    <a:pt x="7562" y="10725"/>
                    <a:pt x="7378" y="10540"/>
                    <a:pt x="7378" y="10282"/>
                  </a:cubicBezTo>
                  <a:cubicBezTo>
                    <a:pt x="7488" y="9028"/>
                    <a:pt x="7636" y="7774"/>
                    <a:pt x="7747" y="6520"/>
                  </a:cubicBezTo>
                  <a:cubicBezTo>
                    <a:pt x="7780" y="6318"/>
                    <a:pt x="7968" y="6146"/>
                    <a:pt x="8197" y="6146"/>
                  </a:cubicBezTo>
                  <a:cubicBezTo>
                    <a:pt x="8219" y="6146"/>
                    <a:pt x="8241" y="6148"/>
                    <a:pt x="8263" y="6151"/>
                  </a:cubicBezTo>
                  <a:cubicBezTo>
                    <a:pt x="8281" y="6133"/>
                    <a:pt x="8300" y="6123"/>
                    <a:pt x="8318" y="6123"/>
                  </a:cubicBezTo>
                  <a:cubicBezTo>
                    <a:pt x="8337" y="6123"/>
                    <a:pt x="8355" y="6133"/>
                    <a:pt x="8374" y="6151"/>
                  </a:cubicBezTo>
                  <a:cubicBezTo>
                    <a:pt x="10771" y="6594"/>
                    <a:pt x="13169" y="6926"/>
                    <a:pt x="15566" y="7110"/>
                  </a:cubicBezTo>
                  <a:cubicBezTo>
                    <a:pt x="16357" y="7177"/>
                    <a:pt x="17307" y="7302"/>
                    <a:pt x="18233" y="7302"/>
                  </a:cubicBezTo>
                  <a:cubicBezTo>
                    <a:pt x="19857" y="7302"/>
                    <a:pt x="21404" y="6917"/>
                    <a:pt x="21874" y="5155"/>
                  </a:cubicBezTo>
                  <a:cubicBezTo>
                    <a:pt x="22058" y="4344"/>
                    <a:pt x="22095" y="3495"/>
                    <a:pt x="21984" y="2684"/>
                  </a:cubicBezTo>
                  <a:cubicBezTo>
                    <a:pt x="21874" y="1172"/>
                    <a:pt x="21542" y="397"/>
                    <a:pt x="19919" y="102"/>
                  </a:cubicBezTo>
                  <a:cubicBezTo>
                    <a:pt x="19408" y="29"/>
                    <a:pt x="18872" y="1"/>
                    <a:pt x="18322" y="1"/>
                  </a:cubicBezTo>
                  <a:close/>
                </a:path>
              </a:pathLst>
            </a:custGeom>
            <a:solidFill>
              <a:schemeClr val="accent5"/>
            </a:solidFill>
            <a:ln cap="flat" cmpd="sng" w="1905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901" name="Google Shape;901;p20"/>
            <p:cNvSpPr/>
            <p:nvPr/>
          </p:nvSpPr>
          <p:spPr>
            <a:xfrm>
              <a:off x="4307635" y="2126055"/>
              <a:ext cx="494436" cy="624584"/>
            </a:xfrm>
            <a:custGeom>
              <a:rect b="b" l="l" r="r" t="t"/>
              <a:pathLst>
                <a:path extrusionOk="0" h="35599" w="28181">
                  <a:moveTo>
                    <a:pt x="19095" y="745"/>
                  </a:moveTo>
                  <a:cubicBezTo>
                    <a:pt x="19687" y="745"/>
                    <a:pt x="20262" y="778"/>
                    <a:pt x="20804" y="867"/>
                  </a:cubicBezTo>
                  <a:cubicBezTo>
                    <a:pt x="22464" y="1125"/>
                    <a:pt x="22796" y="1900"/>
                    <a:pt x="22906" y="3412"/>
                  </a:cubicBezTo>
                  <a:cubicBezTo>
                    <a:pt x="23017" y="4223"/>
                    <a:pt x="22980" y="5072"/>
                    <a:pt x="22796" y="5883"/>
                  </a:cubicBezTo>
                  <a:cubicBezTo>
                    <a:pt x="22326" y="7645"/>
                    <a:pt x="20779" y="8030"/>
                    <a:pt x="19146" y="8030"/>
                  </a:cubicBezTo>
                  <a:cubicBezTo>
                    <a:pt x="18214" y="8030"/>
                    <a:pt x="17255" y="7905"/>
                    <a:pt x="16451" y="7838"/>
                  </a:cubicBezTo>
                  <a:cubicBezTo>
                    <a:pt x="14054" y="7654"/>
                    <a:pt x="11693" y="7322"/>
                    <a:pt x="9296" y="6879"/>
                  </a:cubicBezTo>
                  <a:lnTo>
                    <a:pt x="9185" y="6879"/>
                  </a:lnTo>
                  <a:cubicBezTo>
                    <a:pt x="9163" y="6876"/>
                    <a:pt x="9141" y="6874"/>
                    <a:pt x="9119" y="6874"/>
                  </a:cubicBezTo>
                  <a:cubicBezTo>
                    <a:pt x="8890" y="6874"/>
                    <a:pt x="8702" y="7046"/>
                    <a:pt x="8669" y="7248"/>
                  </a:cubicBezTo>
                  <a:cubicBezTo>
                    <a:pt x="8558" y="8539"/>
                    <a:pt x="8410" y="9793"/>
                    <a:pt x="8300" y="11047"/>
                  </a:cubicBezTo>
                  <a:cubicBezTo>
                    <a:pt x="8300" y="11268"/>
                    <a:pt x="8484" y="11453"/>
                    <a:pt x="8742" y="11453"/>
                  </a:cubicBezTo>
                  <a:cubicBezTo>
                    <a:pt x="10367" y="11316"/>
                    <a:pt x="12041" y="11173"/>
                    <a:pt x="13708" y="11173"/>
                  </a:cubicBezTo>
                  <a:cubicBezTo>
                    <a:pt x="16093" y="11173"/>
                    <a:pt x="18464" y="11465"/>
                    <a:pt x="20656" y="12486"/>
                  </a:cubicBezTo>
                  <a:cubicBezTo>
                    <a:pt x="24714" y="14330"/>
                    <a:pt x="26447" y="18092"/>
                    <a:pt x="26115" y="22445"/>
                  </a:cubicBezTo>
                  <a:cubicBezTo>
                    <a:pt x="25820" y="26354"/>
                    <a:pt x="24455" y="30707"/>
                    <a:pt x="20878" y="32846"/>
                  </a:cubicBezTo>
                  <a:cubicBezTo>
                    <a:pt x="18551" y="34248"/>
                    <a:pt x="15718" y="34637"/>
                    <a:pt x="12984" y="34637"/>
                  </a:cubicBezTo>
                  <a:cubicBezTo>
                    <a:pt x="12336" y="34637"/>
                    <a:pt x="11694" y="34615"/>
                    <a:pt x="11066" y="34580"/>
                  </a:cubicBezTo>
                  <a:cubicBezTo>
                    <a:pt x="7156" y="34359"/>
                    <a:pt x="2251" y="32920"/>
                    <a:pt x="1328" y="28457"/>
                  </a:cubicBezTo>
                  <a:cubicBezTo>
                    <a:pt x="923" y="26539"/>
                    <a:pt x="1734" y="24289"/>
                    <a:pt x="3578" y="23440"/>
                  </a:cubicBezTo>
                  <a:cubicBezTo>
                    <a:pt x="3974" y="23252"/>
                    <a:pt x="4344" y="23170"/>
                    <a:pt x="4694" y="23170"/>
                  </a:cubicBezTo>
                  <a:cubicBezTo>
                    <a:pt x="6461" y="23170"/>
                    <a:pt x="7713" y="25247"/>
                    <a:pt x="9222" y="25986"/>
                  </a:cubicBezTo>
                  <a:cubicBezTo>
                    <a:pt x="10100" y="26417"/>
                    <a:pt x="11061" y="26618"/>
                    <a:pt x="12019" y="26618"/>
                  </a:cubicBezTo>
                  <a:cubicBezTo>
                    <a:pt x="15402" y="26618"/>
                    <a:pt x="18739" y="24100"/>
                    <a:pt x="18222" y="20305"/>
                  </a:cubicBezTo>
                  <a:cubicBezTo>
                    <a:pt x="17795" y="17208"/>
                    <a:pt x="15340" y="16198"/>
                    <a:pt x="12457" y="16198"/>
                  </a:cubicBezTo>
                  <a:cubicBezTo>
                    <a:pt x="9368" y="16198"/>
                    <a:pt x="5788" y="17358"/>
                    <a:pt x="3689" y="18350"/>
                  </a:cubicBezTo>
                  <a:cubicBezTo>
                    <a:pt x="3210" y="14145"/>
                    <a:pt x="3025" y="9941"/>
                    <a:pt x="3099" y="5736"/>
                  </a:cubicBezTo>
                  <a:cubicBezTo>
                    <a:pt x="3136" y="4666"/>
                    <a:pt x="2951" y="3043"/>
                    <a:pt x="3578" y="2121"/>
                  </a:cubicBezTo>
                  <a:cubicBezTo>
                    <a:pt x="4114" y="1318"/>
                    <a:pt x="5153" y="1234"/>
                    <a:pt x="6120" y="1234"/>
                  </a:cubicBezTo>
                  <a:cubicBezTo>
                    <a:pt x="6379" y="1234"/>
                    <a:pt x="6632" y="1240"/>
                    <a:pt x="6869" y="1240"/>
                  </a:cubicBezTo>
                  <a:cubicBezTo>
                    <a:pt x="6968" y="1240"/>
                    <a:pt x="7064" y="1239"/>
                    <a:pt x="7156" y="1236"/>
                  </a:cubicBezTo>
                  <a:lnTo>
                    <a:pt x="14201" y="1051"/>
                  </a:lnTo>
                  <a:cubicBezTo>
                    <a:pt x="15716" y="997"/>
                    <a:pt x="17468" y="745"/>
                    <a:pt x="19095" y="745"/>
                  </a:cubicBezTo>
                  <a:close/>
                  <a:moveTo>
                    <a:pt x="20675" y="0"/>
                  </a:moveTo>
                  <a:cubicBezTo>
                    <a:pt x="20331" y="0"/>
                    <a:pt x="19956" y="12"/>
                    <a:pt x="19550" y="18"/>
                  </a:cubicBezTo>
                  <a:lnTo>
                    <a:pt x="9628" y="313"/>
                  </a:lnTo>
                  <a:cubicBezTo>
                    <a:pt x="9573" y="315"/>
                    <a:pt x="9516" y="315"/>
                    <a:pt x="9458" y="315"/>
                  </a:cubicBezTo>
                  <a:cubicBezTo>
                    <a:pt x="8731" y="315"/>
                    <a:pt x="7762" y="230"/>
                    <a:pt x="6780" y="230"/>
                  </a:cubicBezTo>
                  <a:cubicBezTo>
                    <a:pt x="5361" y="230"/>
                    <a:pt x="3917" y="407"/>
                    <a:pt x="3136" y="1272"/>
                  </a:cubicBezTo>
                  <a:cubicBezTo>
                    <a:pt x="1734" y="2859"/>
                    <a:pt x="2251" y="6252"/>
                    <a:pt x="2251" y="8170"/>
                  </a:cubicBezTo>
                  <a:cubicBezTo>
                    <a:pt x="2251" y="11785"/>
                    <a:pt x="2472" y="15363"/>
                    <a:pt x="2914" y="18941"/>
                  </a:cubicBezTo>
                  <a:cubicBezTo>
                    <a:pt x="2914" y="19164"/>
                    <a:pt x="3127" y="19324"/>
                    <a:pt x="3342" y="19324"/>
                  </a:cubicBezTo>
                  <a:cubicBezTo>
                    <a:pt x="3410" y="19324"/>
                    <a:pt x="3479" y="19308"/>
                    <a:pt x="3542" y="19272"/>
                  </a:cubicBezTo>
                  <a:cubicBezTo>
                    <a:pt x="5422" y="18311"/>
                    <a:pt x="9128" y="16908"/>
                    <a:pt x="12259" y="16908"/>
                  </a:cubicBezTo>
                  <a:cubicBezTo>
                    <a:pt x="14410" y="16908"/>
                    <a:pt x="16289" y="17571"/>
                    <a:pt x="17115" y="19494"/>
                  </a:cubicBezTo>
                  <a:cubicBezTo>
                    <a:pt x="18148" y="21854"/>
                    <a:pt x="16525" y="24584"/>
                    <a:pt x="14201" y="25469"/>
                  </a:cubicBezTo>
                  <a:cubicBezTo>
                    <a:pt x="13540" y="25721"/>
                    <a:pt x="12878" y="25839"/>
                    <a:pt x="12230" y="25839"/>
                  </a:cubicBezTo>
                  <a:cubicBezTo>
                    <a:pt x="10602" y="25839"/>
                    <a:pt x="9060" y="25097"/>
                    <a:pt x="7820" y="23883"/>
                  </a:cubicBezTo>
                  <a:cubicBezTo>
                    <a:pt x="6812" y="22912"/>
                    <a:pt x="5680" y="22348"/>
                    <a:pt x="4570" y="22348"/>
                  </a:cubicBezTo>
                  <a:cubicBezTo>
                    <a:pt x="3487" y="22348"/>
                    <a:pt x="2423" y="22884"/>
                    <a:pt x="1513" y="24104"/>
                  </a:cubicBezTo>
                  <a:cubicBezTo>
                    <a:pt x="74" y="26096"/>
                    <a:pt x="1" y="28789"/>
                    <a:pt x="1365" y="30854"/>
                  </a:cubicBezTo>
                  <a:cubicBezTo>
                    <a:pt x="3520" y="34298"/>
                    <a:pt x="8011" y="35599"/>
                    <a:pt x="12371" y="35599"/>
                  </a:cubicBezTo>
                  <a:cubicBezTo>
                    <a:pt x="14877" y="35599"/>
                    <a:pt x="17340" y="35169"/>
                    <a:pt x="19292" y="34469"/>
                  </a:cubicBezTo>
                  <a:cubicBezTo>
                    <a:pt x="25525" y="32256"/>
                    <a:pt x="28181" y="24289"/>
                    <a:pt x="26669" y="18203"/>
                  </a:cubicBezTo>
                  <a:cubicBezTo>
                    <a:pt x="25783" y="14736"/>
                    <a:pt x="23054" y="12338"/>
                    <a:pt x="19734" y="11231"/>
                  </a:cubicBezTo>
                  <a:cubicBezTo>
                    <a:pt x="17842" y="10634"/>
                    <a:pt x="15890" y="10335"/>
                    <a:pt x="13905" y="10335"/>
                  </a:cubicBezTo>
                  <a:cubicBezTo>
                    <a:pt x="13685" y="10335"/>
                    <a:pt x="13464" y="10339"/>
                    <a:pt x="13242" y="10346"/>
                  </a:cubicBezTo>
                  <a:cubicBezTo>
                    <a:pt x="12812" y="10346"/>
                    <a:pt x="10976" y="10659"/>
                    <a:pt x="10025" y="10659"/>
                  </a:cubicBezTo>
                  <a:cubicBezTo>
                    <a:pt x="9753" y="10659"/>
                    <a:pt x="9554" y="10633"/>
                    <a:pt x="9480" y="10568"/>
                  </a:cubicBezTo>
                  <a:cubicBezTo>
                    <a:pt x="8927" y="10088"/>
                    <a:pt x="9332" y="8318"/>
                    <a:pt x="9443" y="7469"/>
                  </a:cubicBezTo>
                  <a:lnTo>
                    <a:pt x="9443" y="7469"/>
                  </a:lnTo>
                  <a:cubicBezTo>
                    <a:pt x="12357" y="8170"/>
                    <a:pt x="15382" y="8613"/>
                    <a:pt x="18369" y="8760"/>
                  </a:cubicBezTo>
                  <a:cubicBezTo>
                    <a:pt x="18785" y="8786"/>
                    <a:pt x="19206" y="8810"/>
                    <a:pt x="19622" y="8810"/>
                  </a:cubicBezTo>
                  <a:cubicBezTo>
                    <a:pt x="20978" y="8810"/>
                    <a:pt x="22272" y="8555"/>
                    <a:pt x="23091" y="7285"/>
                  </a:cubicBezTo>
                  <a:cubicBezTo>
                    <a:pt x="24050" y="5883"/>
                    <a:pt x="23902" y="3818"/>
                    <a:pt x="23570" y="2232"/>
                  </a:cubicBezTo>
                  <a:cubicBezTo>
                    <a:pt x="23177" y="237"/>
                    <a:pt x="22239" y="0"/>
                    <a:pt x="20675" y="0"/>
                  </a:cubicBezTo>
                  <a:close/>
                </a:path>
              </a:pathLst>
            </a:custGeom>
            <a:solidFill>
              <a:srgbClr val="1C1C1B"/>
            </a:solidFill>
            <a:ln cap="flat" cmpd="sng" w="19050">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sp>
        <p:nvSpPr>
          <p:cNvPr id="902" name="Google Shape;902;p20"/>
          <p:cNvSpPr txBox="1"/>
          <p:nvPr/>
        </p:nvSpPr>
        <p:spPr>
          <a:xfrm>
            <a:off x="564776" y="1981200"/>
            <a:ext cx="10140144" cy="2455288"/>
          </a:xfrm>
          <a:prstGeom prst="rect">
            <a:avLst/>
          </a:prstGeom>
          <a:noFill/>
          <a:ln>
            <a:noFill/>
          </a:ln>
        </p:spPr>
        <p:txBody>
          <a:bodyPr anchorCtr="0" anchor="t" bIns="45700" lIns="91425" spcFirstLastPara="1" rIns="91425" wrap="square" tIns="45700">
            <a:spAutoFit/>
          </a:bodyPr>
          <a:lstStyle/>
          <a:p>
            <a:pPr indent="-285750" lvl="0" marL="514350" marR="0" rtl="0" algn="just">
              <a:lnSpc>
                <a:spcPct val="107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Giai đoạn thực hiện kiểm thử diễn ra sau khi đã hoàn thành giai đoạn viết test case và môi trường kiểm thử đã sẵn sàng.</a:t>
            </a:r>
            <a:endParaRPr/>
          </a:p>
          <a:p>
            <a:pPr indent="-285750" lvl="0" marL="514350" marR="0" rtl="0" algn="just">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Trong giai đoạn này, người kiểm thử viên thực hiện kiểm thử phần mềm, đánh giá kết quả test, báo cáo các lỗi của phần mềm. </a:t>
            </a:r>
            <a:endParaRPr/>
          </a:p>
          <a:p>
            <a:pPr indent="-285750" lvl="0" marL="514350" marR="0" rtl="0" algn="just">
              <a:lnSpc>
                <a:spcPct val="107000"/>
              </a:lnSpc>
              <a:spcBef>
                <a:spcPts val="800"/>
              </a:spcBef>
              <a:spcAft>
                <a:spcPts val="0"/>
              </a:spcAft>
              <a:buClr>
                <a:srgbClr val="000000"/>
              </a:buClr>
              <a:buSzPts val="1800"/>
              <a:buFont typeface="Noto Sans Symbols"/>
              <a:buChar char="❑"/>
            </a:pPr>
            <a:r>
              <a:rPr b="0" i="0" lang="en-US" sz="1800" u="none" cap="none" strike="noStrike">
                <a:solidFill>
                  <a:srgbClr val="000000"/>
                </a:solidFill>
                <a:latin typeface="Be Vietnam Pro"/>
                <a:ea typeface="Be Vietnam Pro"/>
                <a:cs typeface="Be Vietnam Pro"/>
                <a:sym typeface="Be Vietnam Pro"/>
              </a:rPr>
              <a:t>Sau khi lập trình viên sửa lỗi xong, kiểm thử viên thực hiện test lại các trường hợp lỗi và theo dõi trạng thái của lỗi đến khi được sửa thành công.</a:t>
            </a:r>
            <a:endParaRPr/>
          </a:p>
          <a:p>
            <a:pPr indent="-171450" lvl="0" marL="285750" marR="0" rtl="0" algn="l">
              <a:lnSpc>
                <a:spcPct val="100000"/>
              </a:lnSpc>
              <a:spcBef>
                <a:spcPts val="800"/>
              </a:spcBef>
              <a:spcAft>
                <a:spcPts val="0"/>
              </a:spcAft>
              <a:buClr>
                <a:srgbClr val="000000"/>
              </a:buClr>
              <a:buSzPts val="1800"/>
              <a:buFont typeface="Noto Sans Symbols"/>
              <a:buNone/>
            </a:pPr>
            <a:r>
              <a:t/>
            </a:r>
            <a:endParaRPr b="0" i="0" sz="1800" u="none" cap="none" strike="noStrike">
              <a:solidFill>
                <a:srgbClr val="000000"/>
              </a:solidFill>
              <a:latin typeface="Be Vietnam Pro"/>
              <a:ea typeface="Be Vietnam Pro"/>
              <a:cs typeface="Be Vietnam Pro"/>
              <a:sym typeface="Be Vietnam Pro"/>
            </a:endParaRPr>
          </a:p>
        </p:txBody>
      </p:sp>
      <p:pic>
        <p:nvPicPr>
          <p:cNvPr id="903" name="Google Shape;903;p20"/>
          <p:cNvPicPr preferRelativeResize="0"/>
          <p:nvPr/>
        </p:nvPicPr>
        <p:blipFill rotWithShape="1">
          <a:blip r:embed="rId3">
            <a:alphaModFix/>
          </a:blip>
          <a:srcRect b="0" l="0" r="0" t="0"/>
          <a:stretch/>
        </p:blipFill>
        <p:spPr>
          <a:xfrm>
            <a:off x="2833066" y="4231667"/>
            <a:ext cx="6525867" cy="2112661"/>
          </a:xfrm>
          <a:prstGeom prst="rect">
            <a:avLst/>
          </a:prstGeom>
          <a:noFill/>
          <a:ln>
            <a:noFill/>
          </a:ln>
        </p:spPr>
      </p:pic>
      <p:grpSp>
        <p:nvGrpSpPr>
          <p:cNvPr id="904" name="Google Shape;904;p20"/>
          <p:cNvGrpSpPr/>
          <p:nvPr/>
        </p:nvGrpSpPr>
        <p:grpSpPr>
          <a:xfrm>
            <a:off x="5978917" y="171883"/>
            <a:ext cx="5958172" cy="710678"/>
            <a:chOff x="642754" y="5327442"/>
            <a:chExt cx="5557932" cy="1115169"/>
          </a:xfrm>
        </p:grpSpPr>
        <p:grpSp>
          <p:nvGrpSpPr>
            <p:cNvPr id="905" name="Google Shape;905;p20"/>
            <p:cNvGrpSpPr/>
            <p:nvPr/>
          </p:nvGrpSpPr>
          <p:grpSpPr>
            <a:xfrm>
              <a:off x="642754" y="5399059"/>
              <a:ext cx="5557932" cy="989041"/>
              <a:chOff x="508001" y="5399059"/>
              <a:chExt cx="5557932" cy="989041"/>
            </a:xfrm>
          </p:grpSpPr>
          <p:sp>
            <p:nvSpPr>
              <p:cNvPr id="906" name="Google Shape;906;p20"/>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907" name="Google Shape;907;p20"/>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908" name="Google Shape;908;p20"/>
            <p:cNvGrpSpPr/>
            <p:nvPr/>
          </p:nvGrpSpPr>
          <p:grpSpPr>
            <a:xfrm>
              <a:off x="842194" y="5327442"/>
              <a:ext cx="894759" cy="905639"/>
              <a:chOff x="707441" y="5327442"/>
              <a:chExt cx="894759" cy="905639"/>
            </a:xfrm>
          </p:grpSpPr>
          <p:sp>
            <p:nvSpPr>
              <p:cNvPr id="909" name="Google Shape;909;p20"/>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910" name="Google Shape;910;p20"/>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911" name="Google Shape;911;p20"/>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sp>
        <p:nvSpPr>
          <p:cNvPr id="916" name="Google Shape;916;p34"/>
          <p:cNvSpPr/>
          <p:nvPr/>
        </p:nvSpPr>
        <p:spPr>
          <a:xfrm>
            <a:off x="1117510" y="1252002"/>
            <a:ext cx="4978490" cy="467553"/>
          </a:xfrm>
          <a:prstGeom prst="roundRect">
            <a:avLst>
              <a:gd fmla="val 16667" name="adj"/>
            </a:avLst>
          </a:prstGeom>
          <a:solidFill>
            <a:srgbClr val="FFFFFF"/>
          </a:solidFill>
          <a:ln cap="flat" cmpd="sng" w="19050">
            <a:solidFill>
              <a:srgbClr val="000000"/>
            </a:solidFill>
            <a:prstDash val="solid"/>
            <a:round/>
            <a:headEnd len="sm" w="sm" type="none"/>
            <a:tailEnd len="sm" w="sm" type="none"/>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1867"/>
              <a:buFont typeface="Arial"/>
              <a:buNone/>
            </a:pPr>
            <a:r>
              <a:rPr b="0" i="0" lang="en-US" sz="2400" u="none" cap="none" strike="noStrike">
                <a:solidFill>
                  <a:srgbClr val="000000"/>
                </a:solidFill>
                <a:latin typeface="Be Vietnam Pro"/>
                <a:ea typeface="Be Vietnam Pro"/>
                <a:cs typeface="Be Vietnam Pro"/>
                <a:sym typeface="Be Vietnam Pro"/>
              </a:rPr>
              <a:t>Đóng chu trình kiểm thử</a:t>
            </a:r>
            <a:endParaRPr b="0" i="0" sz="2400" u="none" cap="none" strike="noStrike">
              <a:solidFill>
                <a:srgbClr val="000000"/>
              </a:solidFill>
              <a:latin typeface="Be Vietnam Pro"/>
              <a:ea typeface="Be Vietnam Pro"/>
              <a:cs typeface="Be Vietnam Pro"/>
              <a:sym typeface="Be Vietnam Pro"/>
            </a:endParaRPr>
          </a:p>
        </p:txBody>
      </p:sp>
      <p:grpSp>
        <p:nvGrpSpPr>
          <p:cNvPr id="917" name="Google Shape;917;p34"/>
          <p:cNvGrpSpPr/>
          <p:nvPr/>
        </p:nvGrpSpPr>
        <p:grpSpPr>
          <a:xfrm>
            <a:off x="792480" y="1103376"/>
            <a:ext cx="682752" cy="546801"/>
            <a:chOff x="1240825" y="240075"/>
            <a:chExt cx="5918800" cy="5145775"/>
          </a:xfrm>
        </p:grpSpPr>
        <p:sp>
          <p:nvSpPr>
            <p:cNvPr id="918" name="Google Shape;918;p34"/>
            <p:cNvSpPr/>
            <p:nvPr/>
          </p:nvSpPr>
          <p:spPr>
            <a:xfrm>
              <a:off x="1410000" y="323650"/>
              <a:ext cx="5749625" cy="4943150"/>
            </a:xfrm>
            <a:custGeom>
              <a:rect b="b" l="l" r="r" t="t"/>
              <a:pathLst>
                <a:path extrusionOk="0" h="197726" w="229985">
                  <a:moveTo>
                    <a:pt x="90693" y="0"/>
                  </a:moveTo>
                  <a:cubicBezTo>
                    <a:pt x="87728" y="0"/>
                    <a:pt x="84703" y="126"/>
                    <a:pt x="81621" y="385"/>
                  </a:cubicBezTo>
                  <a:cubicBezTo>
                    <a:pt x="82044" y="1654"/>
                    <a:pt x="81198" y="3134"/>
                    <a:pt x="79295" y="3134"/>
                  </a:cubicBezTo>
                  <a:cubicBezTo>
                    <a:pt x="78882" y="3128"/>
                    <a:pt x="78471" y="3125"/>
                    <a:pt x="78060" y="3125"/>
                  </a:cubicBezTo>
                  <a:cubicBezTo>
                    <a:pt x="49848" y="3125"/>
                    <a:pt x="26253" y="17393"/>
                    <a:pt x="13956" y="38235"/>
                  </a:cubicBezTo>
                  <a:cubicBezTo>
                    <a:pt x="0" y="61284"/>
                    <a:pt x="1480" y="88561"/>
                    <a:pt x="4652" y="113513"/>
                  </a:cubicBezTo>
                  <a:cubicBezTo>
                    <a:pt x="7612" y="136349"/>
                    <a:pt x="13110" y="161724"/>
                    <a:pt x="33410" y="178852"/>
                  </a:cubicBezTo>
                  <a:cubicBezTo>
                    <a:pt x="48634" y="191399"/>
                    <a:pt x="70213" y="197726"/>
                    <a:pt x="91652" y="197726"/>
                  </a:cubicBezTo>
                  <a:cubicBezTo>
                    <a:pt x="97309" y="197726"/>
                    <a:pt x="102957" y="197285"/>
                    <a:pt x="108475" y="196402"/>
                  </a:cubicBezTo>
                  <a:cubicBezTo>
                    <a:pt x="229985" y="176631"/>
                    <a:pt x="201655" y="0"/>
                    <a:pt x="90693" y="0"/>
                  </a:cubicBezTo>
                  <a:close/>
                </a:path>
              </a:pathLst>
            </a:custGeom>
            <a:solidFill>
              <a:srgbClr val="FFFFF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sp>
          <p:nvSpPr>
            <p:cNvPr id="919" name="Google Shape;919;p34"/>
            <p:cNvSpPr/>
            <p:nvPr/>
          </p:nvSpPr>
          <p:spPr>
            <a:xfrm>
              <a:off x="1240825" y="240075"/>
              <a:ext cx="5918800" cy="5145775"/>
            </a:xfrm>
            <a:custGeom>
              <a:rect b="b" l="l" r="r" t="t"/>
              <a:pathLst>
                <a:path extrusionOk="0" h="205831" w="236752">
                  <a:moveTo>
                    <a:pt x="97460" y="3343"/>
                  </a:moveTo>
                  <a:cubicBezTo>
                    <a:pt x="208422" y="3343"/>
                    <a:pt x="236752" y="179974"/>
                    <a:pt x="115242" y="199745"/>
                  </a:cubicBezTo>
                  <a:cubicBezTo>
                    <a:pt x="109644" y="200641"/>
                    <a:pt x="103912" y="201091"/>
                    <a:pt x="98173" y="201091"/>
                  </a:cubicBezTo>
                  <a:cubicBezTo>
                    <a:pt x="76815" y="201091"/>
                    <a:pt x="55343" y="194861"/>
                    <a:pt x="40177" y="182195"/>
                  </a:cubicBezTo>
                  <a:cubicBezTo>
                    <a:pt x="19877" y="165067"/>
                    <a:pt x="14379" y="139692"/>
                    <a:pt x="11419" y="116856"/>
                  </a:cubicBezTo>
                  <a:cubicBezTo>
                    <a:pt x="8247" y="91904"/>
                    <a:pt x="6767" y="64627"/>
                    <a:pt x="20723" y="41578"/>
                  </a:cubicBezTo>
                  <a:cubicBezTo>
                    <a:pt x="33020" y="20736"/>
                    <a:pt x="56615" y="6468"/>
                    <a:pt x="84827" y="6468"/>
                  </a:cubicBezTo>
                  <a:cubicBezTo>
                    <a:pt x="85238" y="6468"/>
                    <a:pt x="85649" y="6471"/>
                    <a:pt x="86062" y="6477"/>
                  </a:cubicBezTo>
                  <a:cubicBezTo>
                    <a:pt x="87965" y="6477"/>
                    <a:pt x="88811" y="4997"/>
                    <a:pt x="88388" y="3728"/>
                  </a:cubicBezTo>
                  <a:cubicBezTo>
                    <a:pt x="91470" y="3469"/>
                    <a:pt x="94495" y="3343"/>
                    <a:pt x="97460" y="3343"/>
                  </a:cubicBezTo>
                  <a:close/>
                  <a:moveTo>
                    <a:pt x="98040" y="1"/>
                  </a:moveTo>
                  <a:cubicBezTo>
                    <a:pt x="91791" y="1"/>
                    <a:pt x="85324" y="586"/>
                    <a:pt x="78661" y="1825"/>
                  </a:cubicBezTo>
                  <a:cubicBezTo>
                    <a:pt x="33833" y="2248"/>
                    <a:pt x="7824" y="42001"/>
                    <a:pt x="4230" y="75199"/>
                  </a:cubicBezTo>
                  <a:cubicBezTo>
                    <a:pt x="1" y="111992"/>
                    <a:pt x="4864" y="165913"/>
                    <a:pt x="43137" y="190864"/>
                  </a:cubicBezTo>
                  <a:cubicBezTo>
                    <a:pt x="58926" y="201081"/>
                    <a:pt x="77776" y="205831"/>
                    <a:pt x="96710" y="205831"/>
                  </a:cubicBezTo>
                  <a:cubicBezTo>
                    <a:pt x="120882" y="205831"/>
                    <a:pt x="145193" y="198089"/>
                    <a:pt x="163453" y="184098"/>
                  </a:cubicBezTo>
                  <a:cubicBezTo>
                    <a:pt x="201303" y="155340"/>
                    <a:pt x="208916" y="110301"/>
                    <a:pt x="194114" y="70970"/>
                  </a:cubicBezTo>
                  <a:cubicBezTo>
                    <a:pt x="179926" y="33261"/>
                    <a:pt x="145137" y="1"/>
                    <a:pt x="98040" y="1"/>
                  </a:cubicBezTo>
                  <a:close/>
                </a:path>
              </a:pathLst>
            </a:cu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867"/>
                <a:buFont typeface="Arial"/>
                <a:buNone/>
              </a:pPr>
              <a:r>
                <a:t/>
              </a:r>
              <a:endParaRPr b="0" i="0" sz="1867" u="none" cap="none" strike="noStrike">
                <a:solidFill>
                  <a:srgbClr val="000000"/>
                </a:solidFill>
                <a:latin typeface="Arial"/>
                <a:ea typeface="Arial"/>
                <a:cs typeface="Arial"/>
                <a:sym typeface="Arial"/>
              </a:endParaRPr>
            </a:p>
          </p:txBody>
        </p:sp>
      </p:grpSp>
      <p:sp>
        <p:nvSpPr>
          <p:cNvPr id="920" name="Google Shape;920;p34"/>
          <p:cNvSpPr txBox="1"/>
          <p:nvPr/>
        </p:nvSpPr>
        <p:spPr>
          <a:xfrm>
            <a:off x="792480" y="1915386"/>
            <a:ext cx="6359432" cy="4524315"/>
          </a:xfrm>
          <a:prstGeom prst="rect">
            <a:avLst/>
          </a:prstGeom>
          <a:noFill/>
          <a:ln>
            <a:noFill/>
          </a:ln>
        </p:spPr>
        <p:txBody>
          <a:bodyPr anchorCtr="0" anchor="t" bIns="45700" lIns="91425" spcFirstLastPara="1" rIns="91425" wrap="square" tIns="45700">
            <a:spAutoFit/>
          </a:bodyPr>
          <a:lstStyle/>
          <a:p>
            <a:pPr indent="-252000" lvl="0" marL="25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Ở giai đoạn này, đội kiểm thử viên họp bàn nhằm thực hiện tổng kết, báo cáo kết quả và đánh giá các tiêu chí hoàn thành như phạm vi kiểm tra, chất lượng, chi phí, thời gian, mục tiêu kinh doanh quan trọng. </a:t>
            </a:r>
            <a:endParaRPr b="0" i="0" sz="1800" u="none" cap="none" strike="noStrike">
              <a:solidFill>
                <a:srgbClr val="1B1B1B"/>
              </a:solidFill>
              <a:latin typeface="Be Vietnam Pro"/>
              <a:ea typeface="Be Vietnam Pro"/>
              <a:cs typeface="Be Vietnam Pro"/>
              <a:sym typeface="Be Vietnam Pro"/>
            </a:endParaRPr>
          </a:p>
          <a:p>
            <a:pPr indent="-137700" lvl="0" marL="252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1B1B1B"/>
              </a:solidFill>
              <a:latin typeface="Be Vietnam Pro"/>
              <a:ea typeface="Be Vietnam Pro"/>
              <a:cs typeface="Be Vietnam Pro"/>
              <a:sym typeface="Be Vietnam Pro"/>
            </a:endParaRPr>
          </a:p>
          <a:p>
            <a:pPr indent="-252000" lvl="0" marL="25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Ngoài ra, test cycle closure cũng bao gồm hoạt động thảo luận tất cả những điểm tốt, điểm chưa tốt và rút ra bài học kinh nghiệm cho những dự án sau, giúp cải thiện quy trình kiểm thử. </a:t>
            </a:r>
            <a:endParaRPr b="0" i="0" sz="1800" u="none" cap="none" strike="noStrike">
              <a:solidFill>
                <a:srgbClr val="1B1B1B"/>
              </a:solidFill>
              <a:latin typeface="Be Vietnam Pro"/>
              <a:ea typeface="Be Vietnam Pro"/>
              <a:cs typeface="Be Vietnam Pro"/>
              <a:sym typeface="Be Vietnam Pro"/>
            </a:endParaRPr>
          </a:p>
          <a:p>
            <a:pPr indent="-137700" lvl="0" marL="252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1B1B1B"/>
              </a:solidFill>
              <a:latin typeface="Be Vietnam Pro"/>
              <a:ea typeface="Be Vietnam Pro"/>
              <a:cs typeface="Be Vietnam Pro"/>
              <a:sym typeface="Be Vietnam Pro"/>
            </a:endParaRPr>
          </a:p>
          <a:p>
            <a:pPr indent="-252000" lvl="0" marL="25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Cùng với đó, kịch bản kiểm thử và lỗi sẽ được phân loại và đánh giá mức độ nghiêm trọng. </a:t>
            </a:r>
            <a:endParaRPr b="0" i="0" sz="1800" u="none" cap="none" strike="noStrike">
              <a:solidFill>
                <a:srgbClr val="1B1B1B"/>
              </a:solidFill>
              <a:latin typeface="Be Vietnam Pro"/>
              <a:ea typeface="Be Vietnam Pro"/>
              <a:cs typeface="Be Vietnam Pro"/>
              <a:sym typeface="Be Vietnam Pro"/>
            </a:endParaRPr>
          </a:p>
          <a:p>
            <a:pPr indent="-137700" lvl="0" marL="252000" marR="0" rtl="0" algn="l">
              <a:lnSpc>
                <a:spcPct val="100000"/>
              </a:lnSpc>
              <a:spcBef>
                <a:spcPts val="0"/>
              </a:spcBef>
              <a:spcAft>
                <a:spcPts val="0"/>
              </a:spcAft>
              <a:buClr>
                <a:srgbClr val="000000"/>
              </a:buClr>
              <a:buSzPts val="1800"/>
              <a:buFont typeface="Noto Sans Symbols"/>
              <a:buNone/>
            </a:pPr>
            <a:r>
              <a:t/>
            </a:r>
            <a:endParaRPr b="0" i="0" sz="1800" u="none" cap="none" strike="noStrike">
              <a:solidFill>
                <a:srgbClr val="1B1B1B"/>
              </a:solidFill>
              <a:latin typeface="Be Vietnam Pro"/>
              <a:ea typeface="Be Vietnam Pro"/>
              <a:cs typeface="Be Vietnam Pro"/>
              <a:sym typeface="Be Vietnam Pro"/>
            </a:endParaRPr>
          </a:p>
          <a:p>
            <a:pPr indent="-252000" lvl="0" marL="252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1B1B1B"/>
                </a:solidFill>
                <a:latin typeface="Be Vietnam Pro"/>
                <a:ea typeface="Be Vietnam Pro"/>
                <a:cs typeface="Be Vietnam Pro"/>
                <a:sym typeface="Be Vietnam Pro"/>
              </a:rPr>
              <a:t>Sau khi hoàn thành những hoạt động trên, báo cáo đóng quy trình kiểm thử và các số liệu kiểm thử sẽ được chuẩn bị dựa trên các thông số trên.</a:t>
            </a:r>
            <a:endParaRPr b="0" i="0" sz="1800" u="none" cap="none" strike="noStrike">
              <a:solidFill>
                <a:srgbClr val="000000"/>
              </a:solidFill>
              <a:latin typeface="Be Vietnam Pro"/>
              <a:ea typeface="Be Vietnam Pro"/>
              <a:cs typeface="Be Vietnam Pro"/>
              <a:sym typeface="Be Vietnam Pro"/>
            </a:endParaRPr>
          </a:p>
        </p:txBody>
      </p:sp>
      <p:pic>
        <p:nvPicPr>
          <p:cNvPr descr="Team spirit Customizable Flat Illustrations | Rafiki Style" id="921" name="Google Shape;921;p34"/>
          <p:cNvPicPr preferRelativeResize="0"/>
          <p:nvPr/>
        </p:nvPicPr>
        <p:blipFill rotWithShape="1">
          <a:blip r:embed="rId3">
            <a:alphaModFix/>
          </a:blip>
          <a:srcRect b="0" l="0" r="0" t="0"/>
          <a:stretch/>
        </p:blipFill>
        <p:spPr>
          <a:xfrm>
            <a:off x="6401515" y="972296"/>
            <a:ext cx="5715000" cy="5715000"/>
          </a:xfrm>
          <a:prstGeom prst="rect">
            <a:avLst/>
          </a:prstGeom>
          <a:noFill/>
          <a:ln>
            <a:noFill/>
          </a:ln>
        </p:spPr>
      </p:pic>
      <p:grpSp>
        <p:nvGrpSpPr>
          <p:cNvPr id="922" name="Google Shape;922;p34"/>
          <p:cNvGrpSpPr/>
          <p:nvPr/>
        </p:nvGrpSpPr>
        <p:grpSpPr>
          <a:xfrm>
            <a:off x="5978917" y="171883"/>
            <a:ext cx="5958172" cy="710678"/>
            <a:chOff x="642754" y="5327442"/>
            <a:chExt cx="5557932" cy="1115169"/>
          </a:xfrm>
        </p:grpSpPr>
        <p:grpSp>
          <p:nvGrpSpPr>
            <p:cNvPr id="923" name="Google Shape;923;p34"/>
            <p:cNvGrpSpPr/>
            <p:nvPr/>
          </p:nvGrpSpPr>
          <p:grpSpPr>
            <a:xfrm>
              <a:off x="642754" y="5399059"/>
              <a:ext cx="5557932" cy="989041"/>
              <a:chOff x="508001" y="5399059"/>
              <a:chExt cx="5557932" cy="989041"/>
            </a:xfrm>
          </p:grpSpPr>
          <p:sp>
            <p:nvSpPr>
              <p:cNvPr id="924" name="Google Shape;924;p34"/>
              <p:cNvSpPr/>
              <p:nvPr/>
            </p:nvSpPr>
            <p:spPr>
              <a:xfrm>
                <a:off x="508001" y="5399059"/>
                <a:ext cx="5426483" cy="989041"/>
              </a:xfrm>
              <a:custGeom>
                <a:rect b="b" l="l" r="r" t="t"/>
                <a:pathLst>
                  <a:path extrusionOk="0" h="459" w="2262">
                    <a:moveTo>
                      <a:pt x="31" y="0"/>
                    </a:moveTo>
                    <a:cubicBezTo>
                      <a:pt x="14" y="0"/>
                      <a:pt x="0" y="14"/>
                      <a:pt x="0" y="31"/>
                    </a:cubicBezTo>
                    <a:cubicBezTo>
                      <a:pt x="0" y="428"/>
                      <a:pt x="0" y="428"/>
                      <a:pt x="0" y="428"/>
                    </a:cubicBezTo>
                    <a:cubicBezTo>
                      <a:pt x="0" y="445"/>
                      <a:pt x="14" y="459"/>
                      <a:pt x="31" y="459"/>
                    </a:cubicBezTo>
                    <a:cubicBezTo>
                      <a:pt x="2262" y="459"/>
                      <a:pt x="2262" y="459"/>
                      <a:pt x="2262" y="459"/>
                    </a:cubicBezTo>
                    <a:cubicBezTo>
                      <a:pt x="2262" y="0"/>
                      <a:pt x="2262" y="0"/>
                      <a:pt x="2262" y="0"/>
                    </a:cubicBezTo>
                    <a:lnTo>
                      <a:pt x="31" y="0"/>
                    </a:lnTo>
                    <a:close/>
                  </a:path>
                </a:pathLst>
              </a:custGeom>
              <a:solidFill>
                <a:srgbClr val="DDEAF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925" name="Google Shape;925;p34"/>
              <p:cNvSpPr/>
              <p:nvPr/>
            </p:nvSpPr>
            <p:spPr>
              <a:xfrm>
                <a:off x="5934484" y="5399059"/>
                <a:ext cx="131449" cy="989041"/>
              </a:xfrm>
              <a:custGeom>
                <a:rect b="b" l="l" r="r" t="t"/>
                <a:pathLst>
                  <a:path extrusionOk="0" h="459" w="61">
                    <a:moveTo>
                      <a:pt x="30" y="0"/>
                    </a:moveTo>
                    <a:cubicBezTo>
                      <a:pt x="0" y="0"/>
                      <a:pt x="0" y="0"/>
                      <a:pt x="0" y="0"/>
                    </a:cubicBezTo>
                    <a:cubicBezTo>
                      <a:pt x="0" y="459"/>
                      <a:pt x="0" y="459"/>
                      <a:pt x="0" y="459"/>
                    </a:cubicBezTo>
                    <a:cubicBezTo>
                      <a:pt x="30" y="459"/>
                      <a:pt x="30" y="459"/>
                      <a:pt x="30" y="459"/>
                    </a:cubicBezTo>
                    <a:cubicBezTo>
                      <a:pt x="47" y="459"/>
                      <a:pt x="61" y="445"/>
                      <a:pt x="61" y="428"/>
                    </a:cubicBezTo>
                    <a:cubicBezTo>
                      <a:pt x="61" y="31"/>
                      <a:pt x="61" y="31"/>
                      <a:pt x="61" y="31"/>
                    </a:cubicBezTo>
                    <a:cubicBezTo>
                      <a:pt x="61" y="14"/>
                      <a:pt x="47" y="0"/>
                      <a:pt x="30" y="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200"/>
                  <a:buFont typeface="Arial"/>
                  <a:buNone/>
                </a:pPr>
                <a:r>
                  <a:t/>
                </a:r>
                <a:endParaRPr b="1" i="0" sz="3200" u="none" cap="none" strike="noStrike">
                  <a:solidFill>
                    <a:schemeClr val="dk1"/>
                  </a:solidFill>
                  <a:latin typeface="Arial"/>
                  <a:ea typeface="Arial"/>
                  <a:cs typeface="Arial"/>
                  <a:sym typeface="Arial"/>
                </a:endParaRPr>
              </a:p>
            </p:txBody>
          </p:sp>
        </p:grpSp>
        <p:grpSp>
          <p:nvGrpSpPr>
            <p:cNvPr id="926" name="Google Shape;926;p34"/>
            <p:cNvGrpSpPr/>
            <p:nvPr/>
          </p:nvGrpSpPr>
          <p:grpSpPr>
            <a:xfrm>
              <a:off x="842194" y="5327442"/>
              <a:ext cx="894759" cy="905639"/>
              <a:chOff x="707441" y="5327442"/>
              <a:chExt cx="894759" cy="905639"/>
            </a:xfrm>
          </p:grpSpPr>
          <p:sp>
            <p:nvSpPr>
              <p:cNvPr id="927" name="Google Shape;927;p34"/>
              <p:cNvSpPr/>
              <p:nvPr/>
            </p:nvSpPr>
            <p:spPr>
              <a:xfrm>
                <a:off x="778151" y="5327442"/>
                <a:ext cx="824049" cy="905639"/>
              </a:xfrm>
              <a:custGeom>
                <a:rect b="b" l="l" r="r" t="t"/>
                <a:pathLst>
                  <a:path extrusionOk="0" h="420" w="384">
                    <a:moveTo>
                      <a:pt x="351" y="0"/>
                    </a:moveTo>
                    <a:cubicBezTo>
                      <a:pt x="33" y="0"/>
                      <a:pt x="33" y="0"/>
                      <a:pt x="33" y="0"/>
                    </a:cubicBezTo>
                    <a:cubicBezTo>
                      <a:pt x="0" y="0"/>
                      <a:pt x="0" y="0"/>
                      <a:pt x="0" y="0"/>
                    </a:cubicBezTo>
                    <a:cubicBezTo>
                      <a:pt x="18" y="0"/>
                      <a:pt x="33" y="14"/>
                      <a:pt x="33" y="33"/>
                    </a:cubicBezTo>
                    <a:cubicBezTo>
                      <a:pt x="33" y="400"/>
                      <a:pt x="33" y="400"/>
                      <a:pt x="33" y="400"/>
                    </a:cubicBezTo>
                    <a:cubicBezTo>
                      <a:pt x="33" y="411"/>
                      <a:pt x="42" y="420"/>
                      <a:pt x="53" y="420"/>
                    </a:cubicBezTo>
                    <a:cubicBezTo>
                      <a:pt x="364" y="420"/>
                      <a:pt x="364" y="420"/>
                      <a:pt x="364" y="420"/>
                    </a:cubicBezTo>
                    <a:cubicBezTo>
                      <a:pt x="375" y="420"/>
                      <a:pt x="384" y="411"/>
                      <a:pt x="384" y="400"/>
                    </a:cubicBezTo>
                    <a:cubicBezTo>
                      <a:pt x="384" y="33"/>
                      <a:pt x="384" y="33"/>
                      <a:pt x="384" y="33"/>
                    </a:cubicBezTo>
                    <a:cubicBezTo>
                      <a:pt x="384" y="14"/>
                      <a:pt x="369" y="0"/>
                      <a:pt x="351"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Arial"/>
                    <a:ea typeface="Arial"/>
                    <a:cs typeface="Arial"/>
                    <a:sym typeface="Arial"/>
                  </a:rPr>
                  <a:t>IV</a:t>
                </a:r>
                <a:endParaRPr b="1" i="0" sz="3200" u="none" cap="none" strike="noStrike">
                  <a:solidFill>
                    <a:schemeClr val="dk1"/>
                  </a:solidFill>
                  <a:latin typeface="Calibri"/>
                  <a:ea typeface="Calibri"/>
                  <a:cs typeface="Calibri"/>
                  <a:sym typeface="Calibri"/>
                </a:endParaRPr>
              </a:p>
            </p:txBody>
          </p:sp>
          <p:sp>
            <p:nvSpPr>
              <p:cNvPr id="928" name="Google Shape;928;p34"/>
              <p:cNvSpPr/>
              <p:nvPr/>
            </p:nvSpPr>
            <p:spPr>
              <a:xfrm>
                <a:off x="707441" y="5327442"/>
                <a:ext cx="142327" cy="71617"/>
              </a:xfrm>
              <a:custGeom>
                <a:rect b="b" l="l" r="r" t="t"/>
                <a:pathLst>
                  <a:path extrusionOk="0" h="33" w="66">
                    <a:moveTo>
                      <a:pt x="33" y="0"/>
                    </a:moveTo>
                    <a:cubicBezTo>
                      <a:pt x="14" y="0"/>
                      <a:pt x="0" y="14"/>
                      <a:pt x="0" y="33"/>
                    </a:cubicBezTo>
                    <a:cubicBezTo>
                      <a:pt x="66" y="33"/>
                      <a:pt x="66" y="33"/>
                      <a:pt x="66" y="33"/>
                    </a:cubicBezTo>
                    <a:cubicBezTo>
                      <a:pt x="66" y="14"/>
                      <a:pt x="51" y="0"/>
                      <a:pt x="33" y="0"/>
                    </a:cubicBezTo>
                    <a:close/>
                  </a:path>
                </a:pathLst>
              </a:custGeom>
              <a:solidFill>
                <a:srgbClr val="36363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000"/>
                  <a:buFont typeface="Arial"/>
                  <a:buNone/>
                </a:pPr>
                <a:r>
                  <a:t/>
                </a:r>
                <a:endParaRPr b="1" i="0" sz="4000" u="none" cap="none" strike="noStrike">
                  <a:solidFill>
                    <a:schemeClr val="lt1"/>
                  </a:solidFill>
                  <a:latin typeface="Arial"/>
                  <a:ea typeface="Arial"/>
                  <a:cs typeface="Arial"/>
                  <a:sym typeface="Arial"/>
                </a:endParaRPr>
              </a:p>
            </p:txBody>
          </p:sp>
        </p:grpSp>
        <p:sp>
          <p:nvSpPr>
            <p:cNvPr id="929" name="Google Shape;929;p34"/>
            <p:cNvSpPr txBox="1"/>
            <p:nvPr/>
          </p:nvSpPr>
          <p:spPr>
            <a:xfrm>
              <a:off x="1729543" y="5344548"/>
              <a:ext cx="4405418" cy="1098063"/>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400"/>
                <a:buFont typeface="Arial"/>
                <a:buNone/>
              </a:pPr>
              <a:r>
                <a:rPr b="1" i="0" lang="en-US" sz="2400" u="none" cap="none" strike="noStrike">
                  <a:solidFill>
                    <a:srgbClr val="2F5496"/>
                  </a:solidFill>
                  <a:latin typeface="Be Vietnam Pro"/>
                  <a:ea typeface="Be Vietnam Pro"/>
                  <a:cs typeface="Be Vietnam Pro"/>
                  <a:sym typeface="Be Vietnam Pro"/>
                </a:rPr>
                <a:t>QUY TRÌNH KIỂM THỬ</a:t>
              </a:r>
              <a:endParaRPr b="1" i="0" sz="2400" u="none" cap="none" strike="noStrike">
                <a:solidFill>
                  <a:srgbClr val="2F5496"/>
                </a:solidFill>
                <a:latin typeface="Be Vietnam Pro"/>
                <a:ea typeface="Be Vietnam Pro"/>
                <a:cs typeface="Be Vietnam Pro"/>
                <a:sym typeface="Be Vietnam Pro"/>
              </a:endParaRPr>
            </a:p>
          </p:txBody>
        </p:sp>
      </p:grpSp>
      <p:pic>
        <p:nvPicPr>
          <p:cNvPr id="930" name="Google Shape;930;p34"/>
          <p:cNvPicPr preferRelativeResize="0"/>
          <p:nvPr/>
        </p:nvPicPr>
        <p:blipFill rotWithShape="1">
          <a:blip r:embed="rId4">
            <a:alphaModFix/>
          </a:blip>
          <a:srcRect b="0" l="0" r="0" t="0"/>
          <a:stretch/>
        </p:blipFill>
        <p:spPr>
          <a:xfrm>
            <a:off x="940960" y="1217693"/>
            <a:ext cx="279948" cy="32782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2021-10-20T15:49:52Z</dcterms:created>
  <dc:creator>Đức</dc:creator>
</cp:coreProperties>
</file>